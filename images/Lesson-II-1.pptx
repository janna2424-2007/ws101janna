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3"/>
    <p:sldId id="258" r:id="rId4"/>
    <p:sldId id="267" r:id="rId5"/>
    <p:sldId id="268" r:id="rId6"/>
    <p:sldId id="269" r:id="rId7"/>
    <p:sldId id="270" r:id="rId8"/>
    <p:sldId id="259" r:id="rId9"/>
    <p:sldId id="271" r:id="rId10"/>
    <p:sldId id="260" r:id="rId11"/>
    <p:sldId id="261" r:id="rId12"/>
    <p:sldId id="272" r:id="rId13"/>
    <p:sldId id="273" r:id="rId14"/>
    <p:sldId id="262" r:id="rId15"/>
    <p:sldId id="274" r:id="rId16"/>
    <p:sldId id="263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2" r:id="rId34"/>
    <p:sldId id="291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2" r:id="rId73"/>
    <p:sldId id="331" r:id="rId74"/>
    <p:sldId id="333" r:id="rId75"/>
    <p:sldId id="334" r:id="rId76"/>
    <p:sldId id="335" r:id="rId77"/>
    <p:sldId id="336" r:id="rId78"/>
    <p:sldId id="337" r:id="rId79"/>
    <p:sldId id="265" r:id="rId80"/>
  </p:sldIdLst>
  <p:sldSz cx="18288000" cy="10287000"/>
  <p:notesSz cx="6858000" cy="9144000"/>
  <p:embeddedFontLst>
    <p:embeddedFont>
      <p:font typeface="Bryndan Write" panose="020B0604020202020204" charset="0"/>
      <p:regular r:id="rId81"/>
    </p:embeddedFont>
    <p:embeddedFont>
      <p:font typeface="Calibri" panose="020F0502020204030204" pitchFamily="34" charset="0"/>
      <p:regular r:id="rId82"/>
      <p:bold r:id="rId83"/>
      <p:italic r:id="rId84"/>
      <p:boldItalic r:id="rId8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4.fntdata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3.fntdata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font" Target="fonts/font1.fntdata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font" Target="fonts/font2.fntdata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svg"/><Relationship Id="rId7" Type="http://schemas.openxmlformats.org/officeDocument/2006/relationships/image" Target="../media/image1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svg"/><Relationship Id="rId7" Type="http://schemas.openxmlformats.org/officeDocument/2006/relationships/image" Target="../media/image18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svg"/><Relationship Id="rId7" Type="http://schemas.openxmlformats.org/officeDocument/2006/relationships/image" Target="../media/image18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svg"/><Relationship Id="rId7" Type="http://schemas.openxmlformats.org/officeDocument/2006/relationships/image" Target="../media/image18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svg"/><Relationship Id="rId7" Type="http://schemas.openxmlformats.org/officeDocument/2006/relationships/image" Target="../media/image18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svg"/><Relationship Id="rId7" Type="http://schemas.openxmlformats.org/officeDocument/2006/relationships/image" Target="../media/image18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svg"/><Relationship Id="rId7" Type="http://schemas.openxmlformats.org/officeDocument/2006/relationships/image" Target="../media/image1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svg"/><Relationship Id="rId7" Type="http://schemas.openxmlformats.org/officeDocument/2006/relationships/image" Target="../media/image1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0.svg"/><Relationship Id="rId7" Type="http://schemas.openxmlformats.org/officeDocument/2006/relationships/image" Target="../media/image2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0.svg"/><Relationship Id="rId7" Type="http://schemas.openxmlformats.org/officeDocument/2006/relationships/image" Target="../media/image28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8.svg"/><Relationship Id="rId5" Type="http://schemas.openxmlformats.org/officeDocument/2006/relationships/image" Target="../media/image16.svg"/><Relationship Id="rId10" Type="http://schemas.openxmlformats.org/officeDocument/2006/relationships/image" Target="../media/image7.png"/><Relationship Id="rId4" Type="http://schemas.openxmlformats.org/officeDocument/2006/relationships/image" Target="../media/image15.png"/><Relationship Id="rId9" Type="http://schemas.openxmlformats.org/officeDocument/2006/relationships/image" Target="../media/image3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0.svg"/><Relationship Id="rId7" Type="http://schemas.openxmlformats.org/officeDocument/2006/relationships/image" Target="../media/image28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8.svg"/><Relationship Id="rId5" Type="http://schemas.openxmlformats.org/officeDocument/2006/relationships/image" Target="../media/image16.svg"/><Relationship Id="rId10" Type="http://schemas.openxmlformats.org/officeDocument/2006/relationships/image" Target="../media/image7.png"/><Relationship Id="rId4" Type="http://schemas.openxmlformats.org/officeDocument/2006/relationships/image" Target="../media/image15.png"/><Relationship Id="rId9" Type="http://schemas.openxmlformats.org/officeDocument/2006/relationships/image" Target="../media/image3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4.svg"/><Relationship Id="rId5" Type="http://schemas.openxmlformats.org/officeDocument/2006/relationships/image" Target="../media/image4.sv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11954">
            <a:off x="2251339" y="-1104416"/>
            <a:ext cx="14464099" cy="12255037"/>
          </a:xfrm>
          <a:custGeom>
            <a:avLst/>
            <a:gdLst/>
            <a:ahLst/>
            <a:cxnLst/>
            <a:rect l="l" t="t" r="r" b="b"/>
            <a:pathLst>
              <a:path w="14464099" h="12255037">
                <a:moveTo>
                  <a:pt x="0" y="0"/>
                </a:moveTo>
                <a:lnTo>
                  <a:pt x="14464099" y="0"/>
                </a:lnTo>
                <a:lnTo>
                  <a:pt x="14464099" y="12255037"/>
                </a:lnTo>
                <a:lnTo>
                  <a:pt x="0" y="12255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61637" y="1228126"/>
            <a:ext cx="15544909" cy="7830748"/>
          </a:xfrm>
          <a:custGeom>
            <a:avLst/>
            <a:gdLst/>
            <a:ahLst/>
            <a:cxnLst/>
            <a:rect l="l" t="t" r="r" b="b"/>
            <a:pathLst>
              <a:path w="15544909" h="7830748">
                <a:moveTo>
                  <a:pt x="0" y="0"/>
                </a:moveTo>
                <a:lnTo>
                  <a:pt x="15544910" y="0"/>
                </a:lnTo>
                <a:lnTo>
                  <a:pt x="15544910" y="7830748"/>
                </a:lnTo>
                <a:lnTo>
                  <a:pt x="0" y="7830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09764" y="2536589"/>
            <a:ext cx="10763514" cy="320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PH" sz="6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Filipino </a:t>
            </a:r>
            <a:r>
              <a:rPr lang="en-PH" sz="6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Bilang</a:t>
            </a:r>
            <a:r>
              <a:rPr lang="en-PH" sz="6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6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6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at Filipino </a:t>
            </a:r>
            <a:r>
              <a:rPr lang="en-PH" sz="6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6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6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PH" sz="66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ba’t</a:t>
            </a:r>
            <a:r>
              <a:rPr lang="en-PH" sz="6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6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ibang</a:t>
            </a:r>
            <a:r>
              <a:rPr lang="en-PH" sz="6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6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endParaRPr lang="en-PH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Freeform 5"/>
          <p:cNvSpPr/>
          <p:nvPr/>
        </p:nvSpPr>
        <p:spPr>
          <a:xfrm rot="-3063825">
            <a:off x="1499980" y="6605039"/>
            <a:ext cx="1925370" cy="3229132"/>
          </a:xfrm>
          <a:custGeom>
            <a:avLst/>
            <a:gdLst/>
            <a:ahLst/>
            <a:cxnLst/>
            <a:rect l="l" t="t" r="r" b="b"/>
            <a:pathLst>
              <a:path w="1925370" h="3229132">
                <a:moveTo>
                  <a:pt x="0" y="0"/>
                </a:moveTo>
                <a:lnTo>
                  <a:pt x="1925370" y="0"/>
                </a:lnTo>
                <a:lnTo>
                  <a:pt x="1925370" y="3229132"/>
                </a:lnTo>
                <a:lnTo>
                  <a:pt x="0" y="32291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925703" y="700077"/>
            <a:ext cx="2180844" cy="4114800"/>
          </a:xfrm>
          <a:custGeom>
            <a:avLst/>
            <a:gdLst/>
            <a:ahLst/>
            <a:cxnLst/>
            <a:rect l="l" t="t" r="r" b="b"/>
            <a:pathLst>
              <a:path w="2180844" h="4114800">
                <a:moveTo>
                  <a:pt x="0" y="0"/>
                </a:moveTo>
                <a:lnTo>
                  <a:pt x="2180844" y="0"/>
                </a:lnTo>
                <a:lnTo>
                  <a:pt x="21808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617254">
            <a:off x="15667258" y="7209647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634560">
            <a:off x="-383500" y="113939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78776" y="3930789"/>
            <a:ext cx="267762" cy="26776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405453" y="6439660"/>
            <a:ext cx="7857278" cy="88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5"/>
              </a:lnSpc>
            </a:pPr>
            <a:r>
              <a:rPr lang="en-US" sz="5396" dirty="0">
                <a:solidFill>
                  <a:srgbClr val="000000"/>
                </a:solidFill>
                <a:latin typeface="Bryndan Write"/>
                <a:ea typeface="Bryndan Write"/>
                <a:cs typeface="Bryndan Write"/>
                <a:sym typeface="Bryndan Write"/>
              </a:rPr>
              <a:t>Lesson II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34016" y="8219605"/>
            <a:ext cx="267762" cy="26776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40354" y="8990538"/>
            <a:ext cx="267762" cy="26776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104912" y="9392181"/>
            <a:ext cx="267762" cy="26776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04646">
            <a:off x="-902284" y="-53254"/>
            <a:ext cx="3050169" cy="5251367"/>
          </a:xfrm>
          <a:custGeom>
            <a:avLst/>
            <a:gdLst/>
            <a:ahLst/>
            <a:cxnLst/>
            <a:rect l="l" t="t" r="r" b="b"/>
            <a:pathLst>
              <a:path w="3050169" h="5251367">
                <a:moveTo>
                  <a:pt x="0" y="0"/>
                </a:moveTo>
                <a:lnTo>
                  <a:pt x="3050169" y="0"/>
                </a:lnTo>
                <a:lnTo>
                  <a:pt x="3050169" y="5251367"/>
                </a:lnTo>
                <a:lnTo>
                  <a:pt x="0" y="5251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97400" y="1328668"/>
            <a:ext cx="15824691" cy="8958332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17254">
            <a:off x="15612537" y="119362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634560">
            <a:off x="-1438138" y="724125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5609936" y="7857520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4262170" y="685269"/>
            <a:ext cx="10143844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Problem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61746" y="2606777"/>
            <a:ext cx="13528961" cy="6297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Gamitin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ang Filipino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bilabg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unique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diskurso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ibat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ibang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larangan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katulad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Pantaong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sinibg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(humanities),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Agham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Panlipunan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(Social sciences), at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kaugnayan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larangan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(related discipline);</a:t>
            </a:r>
            <a:endParaRPr lang="en-PH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Maipaliwanag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teksto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dispilina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pantaong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Sinibg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(Humanities),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Agham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Panlipunan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(Social Sciences), at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kaugnay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larangan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(related discipline)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gamit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Filipinobilang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wika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bg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pagtalakay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PH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Magsagawa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diskurso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Filipino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pantaong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Sining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(Humanities),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Agham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Panlipunan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(Social sciences), at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kaugnay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larangan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(related discipline)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alinsunod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layunin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kumpleto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holistikong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General Education (GE).</a:t>
            </a:r>
            <a:endParaRPr lang="en-PH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Gumawa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diskurso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Siyensya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Teknolohiya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at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kaugnay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larangan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gamit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ang Filipino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batay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layunin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ng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kumpleto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GB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holistikong</a:t>
            </a:r>
            <a:r>
              <a:rPr lang="en-GB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General Education (GE).</a:t>
            </a:r>
            <a:endParaRPr lang="en-PH" sz="3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93A051-0130-4749-8A1F-883C3D96BB4B}"/>
              </a:ext>
            </a:extLst>
          </p:cNvPr>
          <p:cNvSpPr txBox="1"/>
          <p:nvPr/>
        </p:nvSpPr>
        <p:spPr>
          <a:xfrm>
            <a:off x="3526244" y="679498"/>
            <a:ext cx="10808208" cy="781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 </a:t>
            </a:r>
            <a:r>
              <a:rPr lang="en-PH" sz="4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PH" sz="4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ayunin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810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34560">
            <a:off x="-82440" y="-62622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58115" y="2630359"/>
            <a:ext cx="267762" cy="26776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4819" y="6574171"/>
            <a:ext cx="267762" cy="26776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40354" y="8990538"/>
            <a:ext cx="267762" cy="26776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611291" y="7593929"/>
            <a:ext cx="267762" cy="26776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56488" y="5727149"/>
            <a:ext cx="267762" cy="26776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750980" y="2463759"/>
            <a:ext cx="8099659" cy="6794541"/>
          </a:xfrm>
          <a:custGeom>
            <a:avLst/>
            <a:gdLst/>
            <a:ahLst/>
            <a:cxnLst/>
            <a:rect l="l" t="t" r="r" b="b"/>
            <a:pathLst>
              <a:path w="7528577" h="6794541">
                <a:moveTo>
                  <a:pt x="0" y="0"/>
                </a:moveTo>
                <a:lnTo>
                  <a:pt x="7528576" y="0"/>
                </a:lnTo>
                <a:lnTo>
                  <a:pt x="7528576" y="6794541"/>
                </a:lnTo>
                <a:lnTo>
                  <a:pt x="0" y="679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437362" y="2463759"/>
            <a:ext cx="7930716" cy="6794541"/>
          </a:xfrm>
          <a:custGeom>
            <a:avLst/>
            <a:gdLst/>
            <a:ahLst/>
            <a:cxnLst/>
            <a:rect l="l" t="t" r="r" b="b"/>
            <a:pathLst>
              <a:path w="7528577" h="6794541">
                <a:moveTo>
                  <a:pt x="0" y="0"/>
                </a:moveTo>
                <a:lnTo>
                  <a:pt x="7528576" y="0"/>
                </a:lnTo>
                <a:lnTo>
                  <a:pt x="7528576" y="6794541"/>
                </a:lnTo>
                <a:lnTo>
                  <a:pt x="0" y="679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872407" y="2931670"/>
            <a:ext cx="6891593" cy="5251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159"/>
              </a:lnSpc>
              <a:spcBef>
                <a:spcPct val="0"/>
              </a:spcBef>
            </a:pPr>
            <a:r>
              <a:rPr lang="en-PH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pananaliksik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Pantaong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Sining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(Humanities) ay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akademikong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disiplina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pinag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aaralan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kultura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tao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lvl="0" indent="0">
              <a:lnSpc>
                <a:spcPts val="5159"/>
              </a:lnSpc>
              <a:spcBef>
                <a:spcPct val="0"/>
              </a:spcBef>
            </a:pP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Ipinaliliwanag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Pantaong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Sining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(Humanities) at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Agham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Panlipunan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(Social sciences) ang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bawat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isa kung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paano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ginawa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tao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kanilang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mundo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at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paano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sila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ginawa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kanilang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mundo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4800" dirty="0">
              <a:solidFill>
                <a:srgbClr val="000000"/>
              </a:solidFill>
              <a:latin typeface="Bryndan Write"/>
              <a:ea typeface="Bryndan Write"/>
              <a:cs typeface="Bryndan Write"/>
              <a:sym typeface="Bryndan Write"/>
            </a:endParaRPr>
          </a:p>
        </p:txBody>
      </p:sp>
      <p:sp>
        <p:nvSpPr>
          <p:cNvPr id="27" name="Freeform 27"/>
          <p:cNvSpPr/>
          <p:nvPr/>
        </p:nvSpPr>
        <p:spPr>
          <a:xfrm rot="-1617254">
            <a:off x="16092990" y="732771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206157">
            <a:off x="15808666" y="483050"/>
            <a:ext cx="2633934" cy="2942943"/>
          </a:xfrm>
          <a:custGeom>
            <a:avLst/>
            <a:gdLst/>
            <a:ahLst/>
            <a:cxnLst/>
            <a:rect l="l" t="t" r="r" b="b"/>
            <a:pathLst>
              <a:path w="2633934" h="2942943">
                <a:moveTo>
                  <a:pt x="0" y="0"/>
                </a:moveTo>
                <a:lnTo>
                  <a:pt x="2633933" y="0"/>
                </a:lnTo>
                <a:lnTo>
                  <a:pt x="2633933" y="2942942"/>
                </a:lnTo>
                <a:lnTo>
                  <a:pt x="0" y="29429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1091314">
            <a:off x="-618187" y="8202763"/>
            <a:ext cx="2247620" cy="2136175"/>
          </a:xfrm>
          <a:custGeom>
            <a:avLst/>
            <a:gdLst/>
            <a:ahLst/>
            <a:cxnLst/>
            <a:rect l="l" t="t" r="r" b="b"/>
            <a:pathLst>
              <a:path w="2247620" h="2136175">
                <a:moveTo>
                  <a:pt x="0" y="0"/>
                </a:moveTo>
                <a:lnTo>
                  <a:pt x="2247619" y="0"/>
                </a:lnTo>
                <a:lnTo>
                  <a:pt x="2247619" y="2136176"/>
                </a:lnTo>
                <a:lnTo>
                  <a:pt x="0" y="21361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4572000" y="819150"/>
            <a:ext cx="9144000" cy="62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8600" algn="ctr">
              <a:lnSpc>
                <a:spcPct val="107000"/>
              </a:lnSpc>
              <a:spcAft>
                <a:spcPts val="800"/>
              </a:spcAft>
            </a:pP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Pantaong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Sining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(Humanities)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307137" y="2931670"/>
            <a:ext cx="5558426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59"/>
              </a:lnSpc>
            </a:pP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pantaong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sining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(Humanities) ay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inilalarawan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pamamagitan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mga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kwento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ideya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at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mga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salita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tumutulong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ating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upang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maging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higit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makabuluhan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ating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buhay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at 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mundo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en-US" sz="6000" dirty="0">
                <a:latin typeface="Bryndan Write"/>
                <a:ea typeface="Bryndan Write"/>
                <a:cs typeface="Bryndan Write"/>
                <a:sym typeface="Bryndan Write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34560">
            <a:off x="-82440" y="-62622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58115" y="2630359"/>
            <a:ext cx="267762" cy="26776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4819" y="6574171"/>
            <a:ext cx="267762" cy="26776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40354" y="8990538"/>
            <a:ext cx="267762" cy="26776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611291" y="7593929"/>
            <a:ext cx="267762" cy="26776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56488" y="5727149"/>
            <a:ext cx="267762" cy="26776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750980" y="2463759"/>
            <a:ext cx="8099659" cy="6794541"/>
          </a:xfrm>
          <a:custGeom>
            <a:avLst/>
            <a:gdLst/>
            <a:ahLst/>
            <a:cxnLst/>
            <a:rect l="l" t="t" r="r" b="b"/>
            <a:pathLst>
              <a:path w="7528577" h="6794541">
                <a:moveTo>
                  <a:pt x="0" y="0"/>
                </a:moveTo>
                <a:lnTo>
                  <a:pt x="7528576" y="0"/>
                </a:lnTo>
                <a:lnTo>
                  <a:pt x="7528576" y="6794541"/>
                </a:lnTo>
                <a:lnTo>
                  <a:pt x="0" y="679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437362" y="2463759"/>
            <a:ext cx="7930716" cy="6794541"/>
          </a:xfrm>
          <a:custGeom>
            <a:avLst/>
            <a:gdLst/>
            <a:ahLst/>
            <a:cxnLst/>
            <a:rect l="l" t="t" r="r" b="b"/>
            <a:pathLst>
              <a:path w="7528577" h="6794541">
                <a:moveTo>
                  <a:pt x="0" y="0"/>
                </a:moveTo>
                <a:lnTo>
                  <a:pt x="7528576" y="0"/>
                </a:lnTo>
                <a:lnTo>
                  <a:pt x="7528576" y="6794541"/>
                </a:lnTo>
                <a:lnTo>
                  <a:pt x="0" y="679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872407" y="2931670"/>
            <a:ext cx="7043993" cy="5684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Arkiyolohiya</a:t>
            </a:r>
            <a:endParaRPr lang="en-PH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Ito ay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tumutukoy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gawain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tao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pamamagitan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pagbawi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at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pagsusuri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material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kultura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6858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patunay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pag-aaral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ito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kinasasangkutan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artifact,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arkitektura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biofacts o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ecofacts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at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landscapes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kultural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6858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Ito ay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maaaring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ituring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parehong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Agham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Panlipunan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(Social sciences) at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sangay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pantaong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Sining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(Humanities). </a:t>
            </a:r>
            <a:endParaRPr lang="en-PH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Freeform 27"/>
          <p:cNvSpPr/>
          <p:nvPr/>
        </p:nvSpPr>
        <p:spPr>
          <a:xfrm rot="-1617254">
            <a:off x="16092990" y="732771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206157">
            <a:off x="15808666" y="483050"/>
            <a:ext cx="2633934" cy="2942943"/>
          </a:xfrm>
          <a:custGeom>
            <a:avLst/>
            <a:gdLst/>
            <a:ahLst/>
            <a:cxnLst/>
            <a:rect l="l" t="t" r="r" b="b"/>
            <a:pathLst>
              <a:path w="2633934" h="2942943">
                <a:moveTo>
                  <a:pt x="0" y="0"/>
                </a:moveTo>
                <a:lnTo>
                  <a:pt x="2633933" y="0"/>
                </a:lnTo>
                <a:lnTo>
                  <a:pt x="2633933" y="2942942"/>
                </a:lnTo>
                <a:lnTo>
                  <a:pt x="0" y="29429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1091314">
            <a:off x="-618187" y="8202763"/>
            <a:ext cx="2247620" cy="2136175"/>
          </a:xfrm>
          <a:custGeom>
            <a:avLst/>
            <a:gdLst/>
            <a:ahLst/>
            <a:cxnLst/>
            <a:rect l="l" t="t" r="r" b="b"/>
            <a:pathLst>
              <a:path w="2247620" h="2136175">
                <a:moveTo>
                  <a:pt x="0" y="0"/>
                </a:moveTo>
                <a:lnTo>
                  <a:pt x="2247619" y="0"/>
                </a:lnTo>
                <a:lnTo>
                  <a:pt x="2247619" y="2136176"/>
                </a:lnTo>
                <a:lnTo>
                  <a:pt x="0" y="21361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4572000" y="819150"/>
            <a:ext cx="9144000" cy="62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8600" algn="ctr">
              <a:lnSpc>
                <a:spcPct val="107000"/>
              </a:lnSpc>
              <a:spcAft>
                <a:spcPts val="800"/>
              </a:spcAft>
            </a:pP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Sangay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Pantaong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Sining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(Humanities)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212786" y="2931670"/>
            <a:ext cx="7064232" cy="5975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3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Antropolohiya</a:t>
            </a:r>
            <a:endParaRPr lang="en-PH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Ito ay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tumutukoy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pag-aaral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pinagmulan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ibat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ibang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lahi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tao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Ito ay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holistiko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sapagkat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tinitignan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dalawang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kamalayan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alala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lahat ng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tao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bawat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panahon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at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bawat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kasukatan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sangkatauhan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salitang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antropolohiya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nanggaling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salitang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anthropo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nangangahulugan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pagiging</a:t>
            </a:r>
            <a:r>
              <a:rPr lang="en-PH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tao</a:t>
            </a:r>
            <a:r>
              <a:rPr lang="en-PH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salitang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logia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kahulugan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3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salita</a:t>
            </a:r>
            <a:r>
              <a:rPr lang="en-PH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PH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522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34560">
            <a:off x="-82440" y="-62622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58115" y="2630359"/>
            <a:ext cx="267762" cy="26776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4819" y="6574171"/>
            <a:ext cx="267762" cy="26776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40354" y="8990538"/>
            <a:ext cx="267762" cy="26776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611291" y="7593929"/>
            <a:ext cx="267762" cy="26776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56488" y="5727149"/>
            <a:ext cx="267762" cy="26776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750980" y="2463759"/>
            <a:ext cx="8099659" cy="6794541"/>
          </a:xfrm>
          <a:custGeom>
            <a:avLst/>
            <a:gdLst/>
            <a:ahLst/>
            <a:cxnLst/>
            <a:rect l="l" t="t" r="r" b="b"/>
            <a:pathLst>
              <a:path w="7528577" h="6794541">
                <a:moveTo>
                  <a:pt x="0" y="0"/>
                </a:moveTo>
                <a:lnTo>
                  <a:pt x="7528576" y="0"/>
                </a:lnTo>
                <a:lnTo>
                  <a:pt x="7528576" y="6794541"/>
                </a:lnTo>
                <a:lnTo>
                  <a:pt x="0" y="679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437362" y="2463759"/>
            <a:ext cx="7930716" cy="6794541"/>
          </a:xfrm>
          <a:custGeom>
            <a:avLst/>
            <a:gdLst/>
            <a:ahLst/>
            <a:cxnLst/>
            <a:rect l="l" t="t" r="r" b="b"/>
            <a:pathLst>
              <a:path w="7528577" h="6794541">
                <a:moveTo>
                  <a:pt x="0" y="0"/>
                </a:moveTo>
                <a:lnTo>
                  <a:pt x="7528576" y="0"/>
                </a:lnTo>
                <a:lnTo>
                  <a:pt x="7528576" y="6794541"/>
                </a:lnTo>
                <a:lnTo>
                  <a:pt x="0" y="679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872407" y="2931670"/>
            <a:ext cx="7043993" cy="5346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Linggwistika</a:t>
            </a:r>
            <a:r>
              <a:rPr lang="en-PH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(Linguistics) At </a:t>
            </a:r>
            <a:r>
              <a:rPr lang="en-PH" sz="3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Wika</a:t>
            </a:r>
            <a:r>
              <a:rPr lang="en-PH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(Language)</a:t>
            </a:r>
            <a:endParaRPr lang="en-PH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linggwistika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itinuturing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siyentipikong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pag-aaral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wika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itinuturing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agham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panlipunan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(Social sciences),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likas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agham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(natural sciences) o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kongnitibon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agham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ang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aaral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naman ng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wika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nananatiling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pinapakapuso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pag-aaral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pantaong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sining</a:t>
            </a:r>
            <a:r>
              <a:rPr lang="en-PH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(Humanities).</a:t>
            </a:r>
            <a:endParaRPr lang="en-PH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Freeform 27"/>
          <p:cNvSpPr/>
          <p:nvPr/>
        </p:nvSpPr>
        <p:spPr>
          <a:xfrm rot="-1617254">
            <a:off x="14308630" y="782555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206157">
            <a:off x="15844680" y="1044123"/>
            <a:ext cx="2633934" cy="2942943"/>
          </a:xfrm>
          <a:custGeom>
            <a:avLst/>
            <a:gdLst/>
            <a:ahLst/>
            <a:cxnLst/>
            <a:rect l="l" t="t" r="r" b="b"/>
            <a:pathLst>
              <a:path w="2633934" h="2942943">
                <a:moveTo>
                  <a:pt x="0" y="0"/>
                </a:moveTo>
                <a:lnTo>
                  <a:pt x="2633933" y="0"/>
                </a:lnTo>
                <a:lnTo>
                  <a:pt x="2633933" y="2942942"/>
                </a:lnTo>
                <a:lnTo>
                  <a:pt x="0" y="29429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1091314">
            <a:off x="-618187" y="8202763"/>
            <a:ext cx="2247620" cy="2136175"/>
          </a:xfrm>
          <a:custGeom>
            <a:avLst/>
            <a:gdLst/>
            <a:ahLst/>
            <a:cxnLst/>
            <a:rect l="l" t="t" r="r" b="b"/>
            <a:pathLst>
              <a:path w="2247620" h="2136175">
                <a:moveTo>
                  <a:pt x="0" y="0"/>
                </a:moveTo>
                <a:lnTo>
                  <a:pt x="2247619" y="0"/>
                </a:lnTo>
                <a:lnTo>
                  <a:pt x="2247619" y="2136176"/>
                </a:lnTo>
                <a:lnTo>
                  <a:pt x="0" y="21361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4572000" y="819150"/>
            <a:ext cx="9144000" cy="62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8600" algn="ctr">
              <a:lnSpc>
                <a:spcPct val="107000"/>
              </a:lnSpc>
              <a:spcAft>
                <a:spcPts val="800"/>
              </a:spcAft>
            </a:pP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Sangay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Pantaong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Sining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(Humanities)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212786" y="2931670"/>
            <a:ext cx="7064232" cy="5614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3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Kasaysayan</a:t>
            </a:r>
            <a:r>
              <a:rPr lang="en-PH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(history)</a:t>
            </a:r>
            <a:endParaRPr lang="en-PH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Ito ay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isang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sistemamatikong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kalipunan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impormasyon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hinggil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nakaraan</a:t>
            </a:r>
            <a:endParaRPr lang="en-PH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tradisyunal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pagturing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ang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kasaysayan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sinasabing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bahagi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Pantaong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Sining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(Humanities)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ngunit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makabagong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akademyang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pagturing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ito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isinasama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Agham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Panlipunan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(Social Sciences) Sa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Ilang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Pagkakataon</a:t>
            </a:r>
            <a:r>
              <a:rPr lang="en-PH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PH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32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34560">
            <a:off x="-82440" y="-62622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58115" y="2630359"/>
            <a:ext cx="267762" cy="26776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4819" y="6574171"/>
            <a:ext cx="267762" cy="26776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40354" y="8990538"/>
            <a:ext cx="267762" cy="26776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611291" y="7593929"/>
            <a:ext cx="267762" cy="26776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56488" y="5727149"/>
            <a:ext cx="267762" cy="26776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750980" y="2463759"/>
            <a:ext cx="8099659" cy="6794541"/>
          </a:xfrm>
          <a:custGeom>
            <a:avLst/>
            <a:gdLst/>
            <a:ahLst/>
            <a:cxnLst/>
            <a:rect l="l" t="t" r="r" b="b"/>
            <a:pathLst>
              <a:path w="7528577" h="6794541">
                <a:moveTo>
                  <a:pt x="0" y="0"/>
                </a:moveTo>
                <a:lnTo>
                  <a:pt x="7528576" y="0"/>
                </a:lnTo>
                <a:lnTo>
                  <a:pt x="7528576" y="6794541"/>
                </a:lnTo>
                <a:lnTo>
                  <a:pt x="0" y="679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437362" y="2463759"/>
            <a:ext cx="7930716" cy="6794541"/>
          </a:xfrm>
          <a:custGeom>
            <a:avLst/>
            <a:gdLst/>
            <a:ahLst/>
            <a:cxnLst/>
            <a:rect l="l" t="t" r="r" b="b"/>
            <a:pathLst>
              <a:path w="7528577" h="6794541">
                <a:moveTo>
                  <a:pt x="0" y="0"/>
                </a:moveTo>
                <a:lnTo>
                  <a:pt x="7528576" y="0"/>
                </a:lnTo>
                <a:lnTo>
                  <a:pt x="7528576" y="6794541"/>
                </a:lnTo>
                <a:lnTo>
                  <a:pt x="0" y="679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872407" y="2931670"/>
            <a:ext cx="7043993" cy="4713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36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literatura</a:t>
            </a:r>
            <a:r>
              <a:rPr lang="en-PH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mauri </a:t>
            </a:r>
            <a:r>
              <a:rPr lang="en-PH" sz="36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gawa</a:t>
            </a:r>
            <a:r>
              <a:rPr lang="en-PH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gawa</a:t>
            </a:r>
            <a:r>
              <a:rPr lang="en-PH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(fiction) o </a:t>
            </a:r>
            <a:r>
              <a:rPr lang="en-PH" sz="36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batay</a:t>
            </a:r>
            <a:r>
              <a:rPr lang="en-PH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katotohanan</a:t>
            </a:r>
            <a:r>
              <a:rPr lang="en-PH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(non-fiction), at </a:t>
            </a:r>
            <a:r>
              <a:rPr lang="en-PH" sz="36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maarari</a:t>
            </a:r>
            <a:r>
              <a:rPr lang="en-PH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ring </a:t>
            </a:r>
            <a:r>
              <a:rPr lang="en-PH" sz="36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prosa</a:t>
            </a:r>
            <a:r>
              <a:rPr lang="en-PH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(prose) at </a:t>
            </a:r>
            <a:r>
              <a:rPr lang="en-PH" sz="36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patula</a:t>
            </a:r>
            <a:r>
              <a:rPr lang="en-PH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(poetry).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Maaari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ring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makilala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nitong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anyo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katulad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nobela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maikling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kwemto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 drama.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Freeform 27"/>
          <p:cNvSpPr/>
          <p:nvPr/>
        </p:nvSpPr>
        <p:spPr>
          <a:xfrm rot="-1617254">
            <a:off x="14308630" y="782555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206157">
            <a:off x="15844680" y="1044123"/>
            <a:ext cx="2633934" cy="2942943"/>
          </a:xfrm>
          <a:custGeom>
            <a:avLst/>
            <a:gdLst/>
            <a:ahLst/>
            <a:cxnLst/>
            <a:rect l="l" t="t" r="r" b="b"/>
            <a:pathLst>
              <a:path w="2633934" h="2942943">
                <a:moveTo>
                  <a:pt x="0" y="0"/>
                </a:moveTo>
                <a:lnTo>
                  <a:pt x="2633933" y="0"/>
                </a:lnTo>
                <a:lnTo>
                  <a:pt x="2633933" y="2942942"/>
                </a:lnTo>
                <a:lnTo>
                  <a:pt x="0" y="29429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1091314">
            <a:off x="-618187" y="8202763"/>
            <a:ext cx="2247620" cy="2136175"/>
          </a:xfrm>
          <a:custGeom>
            <a:avLst/>
            <a:gdLst/>
            <a:ahLst/>
            <a:cxnLst/>
            <a:rect l="l" t="t" r="r" b="b"/>
            <a:pathLst>
              <a:path w="2247620" h="2136175">
                <a:moveTo>
                  <a:pt x="0" y="0"/>
                </a:moveTo>
                <a:lnTo>
                  <a:pt x="2247619" y="0"/>
                </a:lnTo>
                <a:lnTo>
                  <a:pt x="2247619" y="2136176"/>
                </a:lnTo>
                <a:lnTo>
                  <a:pt x="0" y="21361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4572000" y="819150"/>
            <a:ext cx="9144000" cy="62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8600" algn="ctr">
              <a:lnSpc>
                <a:spcPct val="107000"/>
              </a:lnSpc>
              <a:spcAft>
                <a:spcPts val="800"/>
              </a:spcAft>
            </a:pP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Sangay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Pantaong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Sining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(Humanities)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212786" y="2931670"/>
            <a:ext cx="7064232" cy="5612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Literatura</a:t>
            </a:r>
            <a:endParaRPr lang="en-PH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Sinasabi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sumasalamin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kaluluwa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bansa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Kinabibilangan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ito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akdang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nakasulat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at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nagtataglay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meritong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pagliteratura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wika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kinakikintalan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pagiging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aral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sumasalungat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paggamit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ordinaryong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wika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Ang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salitang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ito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nanggaling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salitang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latin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literature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kahulugan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 </a:t>
            </a:r>
            <a:r>
              <a:rPr lang="en-PH" sz="2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pagsulat</a:t>
            </a:r>
            <a:r>
              <a:rPr lang="en-PH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binubuo</a:t>
            </a:r>
            <a:r>
              <a:rPr lang="en-PH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titik</a:t>
            </a:r>
            <a:r>
              <a:rPr lang="en-PH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bagamat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may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depinisyon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kinabibilangan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sinasalita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inaawit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teksto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PH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096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34560">
            <a:off x="-82440" y="-62622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58115" y="2630359"/>
            <a:ext cx="267762" cy="26776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4819" y="6574171"/>
            <a:ext cx="267762" cy="26776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40354" y="8990538"/>
            <a:ext cx="267762" cy="26776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611291" y="7593929"/>
            <a:ext cx="267762" cy="26776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56488" y="5727149"/>
            <a:ext cx="267762" cy="26776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2427356" y="2019835"/>
            <a:ext cx="13331501" cy="7238465"/>
          </a:xfrm>
          <a:custGeom>
            <a:avLst/>
            <a:gdLst/>
            <a:ahLst/>
            <a:cxnLst/>
            <a:rect l="l" t="t" r="r" b="b"/>
            <a:pathLst>
              <a:path w="7528577" h="6794541">
                <a:moveTo>
                  <a:pt x="0" y="0"/>
                </a:moveTo>
                <a:lnTo>
                  <a:pt x="7528576" y="0"/>
                </a:lnTo>
                <a:lnTo>
                  <a:pt x="7528576" y="6794541"/>
                </a:lnTo>
                <a:lnTo>
                  <a:pt x="0" y="679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-1617254">
            <a:off x="14308630" y="782555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206157">
            <a:off x="15844680" y="1044123"/>
            <a:ext cx="2633934" cy="2942943"/>
          </a:xfrm>
          <a:custGeom>
            <a:avLst/>
            <a:gdLst/>
            <a:ahLst/>
            <a:cxnLst/>
            <a:rect l="l" t="t" r="r" b="b"/>
            <a:pathLst>
              <a:path w="2633934" h="2942943">
                <a:moveTo>
                  <a:pt x="0" y="0"/>
                </a:moveTo>
                <a:lnTo>
                  <a:pt x="2633933" y="0"/>
                </a:lnTo>
                <a:lnTo>
                  <a:pt x="2633933" y="2942942"/>
                </a:lnTo>
                <a:lnTo>
                  <a:pt x="0" y="29429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1091314">
            <a:off x="-618187" y="8202763"/>
            <a:ext cx="2247620" cy="2136175"/>
          </a:xfrm>
          <a:custGeom>
            <a:avLst/>
            <a:gdLst/>
            <a:ahLst/>
            <a:cxnLst/>
            <a:rect l="l" t="t" r="r" b="b"/>
            <a:pathLst>
              <a:path w="2247620" h="2136175">
                <a:moveTo>
                  <a:pt x="0" y="0"/>
                </a:moveTo>
                <a:lnTo>
                  <a:pt x="2247619" y="0"/>
                </a:lnTo>
                <a:lnTo>
                  <a:pt x="2247619" y="2136176"/>
                </a:lnTo>
                <a:lnTo>
                  <a:pt x="0" y="21361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4572000" y="819150"/>
            <a:ext cx="9144000" cy="62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8600" algn="ctr">
              <a:lnSpc>
                <a:spcPct val="107000"/>
              </a:lnSpc>
              <a:spcAft>
                <a:spcPts val="800"/>
              </a:spcAft>
            </a:pP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Sangay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Pantaong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Sining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(Humanities)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080493" y="2588253"/>
            <a:ext cx="11734800" cy="6206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Pilosopiya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(Philosophy)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Ito ay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tumutukoy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pag-aaral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suliraning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may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kaugnayan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bagay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katulad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pag-iral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(existence),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karunungan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pangangatwiran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katotohanan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katarungan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tama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mali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kagandahan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utak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at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wika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pilosopiya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maraming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sapagkat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ito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nananalig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makatwirang</a:t>
            </a:r>
            <a:r>
              <a:rPr lang="en-PH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argumento</a:t>
            </a:r>
            <a:r>
              <a:rPr lang="en-PH" sz="3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halip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produkto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eksperimento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pilosopiya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nangangahulugan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pagmamahal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karunungan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 love of wisdom.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808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04646">
            <a:off x="-91317" y="282118"/>
            <a:ext cx="3050169" cy="5251367"/>
          </a:xfrm>
          <a:custGeom>
            <a:avLst/>
            <a:gdLst/>
            <a:ahLst/>
            <a:cxnLst/>
            <a:rect l="l" t="t" r="r" b="b"/>
            <a:pathLst>
              <a:path w="3050169" h="5251367">
                <a:moveTo>
                  <a:pt x="0" y="0"/>
                </a:moveTo>
                <a:lnTo>
                  <a:pt x="3050169" y="0"/>
                </a:lnTo>
                <a:lnTo>
                  <a:pt x="3050169" y="5251367"/>
                </a:lnTo>
                <a:lnTo>
                  <a:pt x="0" y="5251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67362" y="700077"/>
            <a:ext cx="14333461" cy="9396423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17254">
            <a:off x="15612537" y="119362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634560">
            <a:off x="-1698221" y="761746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4480584" y="7338745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4262170" y="685269"/>
            <a:ext cx="10143844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Problem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100425" y="1748127"/>
            <a:ext cx="11982272" cy="6964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sumusunod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ang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tatlong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pangunahing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sangay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karunungan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PH" sz="4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likas</a:t>
            </a:r>
            <a:r>
              <a:rPr lang="en-PH" sz="4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4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agaham</a:t>
            </a:r>
            <a:r>
              <a:rPr lang="en-PH" sz="4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(natural sciences), </a:t>
            </a: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4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agham</a:t>
            </a:r>
            <a:r>
              <a:rPr lang="en-PH" sz="4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panlipunan</a:t>
            </a:r>
            <a:r>
              <a:rPr lang="en-PH" sz="4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(Social sciences) </a:t>
            </a: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4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pantaong</a:t>
            </a:r>
            <a:r>
              <a:rPr lang="en-PH" sz="4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Sining</a:t>
            </a:r>
            <a:r>
              <a:rPr lang="en-PH" sz="4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(Humanities). </a:t>
            </a: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Teknolohiya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ang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praktikal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duktungan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likas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agham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pulitika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pratikal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duktungan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agaham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panlipunan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pantaong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sining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(Humanities) ay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mayroon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praktikal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dugtungan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tinatawag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transformative humanities o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culturonics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04646">
            <a:off x="-91317" y="282118"/>
            <a:ext cx="3050169" cy="5251367"/>
          </a:xfrm>
          <a:custGeom>
            <a:avLst/>
            <a:gdLst/>
            <a:ahLst/>
            <a:cxnLst/>
            <a:rect l="l" t="t" r="r" b="b"/>
            <a:pathLst>
              <a:path w="3050169" h="5251367">
                <a:moveTo>
                  <a:pt x="0" y="0"/>
                </a:moveTo>
                <a:lnTo>
                  <a:pt x="3050169" y="0"/>
                </a:lnTo>
                <a:lnTo>
                  <a:pt x="3050169" y="5251367"/>
                </a:lnTo>
                <a:lnTo>
                  <a:pt x="0" y="5251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67362" y="700077"/>
            <a:ext cx="14333461" cy="9396423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17254">
            <a:off x="15612537" y="119362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634560">
            <a:off x="-1698221" y="761746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4480584" y="7338745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4262170" y="685269"/>
            <a:ext cx="10143844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Problem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100425" y="1748127"/>
            <a:ext cx="11982272" cy="6553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teknolohiya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politika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at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culturonics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dinisenyo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upang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baguhin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</a:t>
            </a:r>
            <a:r>
              <a:rPr lang="en-PH" sz="4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aaral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kani-kanilang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disiplina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kalikasan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lipunan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at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kultura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Ang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transformative Humanities ay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kinabibilangan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ibat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ibang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kasanayan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at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teknolohiya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katulad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pagpaplanong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pangwika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(language planning),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pagbuo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bagong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wika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pagbuo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bagong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sining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at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genreng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pangliteratura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katulad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Romantisismo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Sibolismo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at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Surealismo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Ang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imbensyon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tao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sirkulasyon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kultura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mahalaga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ring </a:t>
            </a:r>
            <a:r>
              <a:rPr lang="en-PH" sz="4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aspeto</a:t>
            </a:r>
            <a:r>
              <a:rPr lang="en-PH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pantaong</a:t>
            </a:r>
            <a:r>
              <a:rPr lang="en-PH" sz="4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Sining</a:t>
            </a:r>
            <a:r>
              <a:rPr lang="en-PH" sz="4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(Humanities).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708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34560">
            <a:off x="-82440" y="-62622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58115" y="2630359"/>
            <a:ext cx="267762" cy="26776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4819" y="6574171"/>
            <a:ext cx="267762" cy="26776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40354" y="8990538"/>
            <a:ext cx="267762" cy="26776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611291" y="7593929"/>
            <a:ext cx="267762" cy="26776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56488" y="5727149"/>
            <a:ext cx="267762" cy="26776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322062" y="2463759"/>
            <a:ext cx="15098392" cy="6794541"/>
          </a:xfrm>
          <a:custGeom>
            <a:avLst/>
            <a:gdLst/>
            <a:ahLst/>
            <a:cxnLst/>
            <a:rect l="l" t="t" r="r" b="b"/>
            <a:pathLst>
              <a:path w="7528577" h="6794541">
                <a:moveTo>
                  <a:pt x="0" y="0"/>
                </a:moveTo>
                <a:lnTo>
                  <a:pt x="7528576" y="0"/>
                </a:lnTo>
                <a:lnTo>
                  <a:pt x="7528576" y="6794541"/>
                </a:lnTo>
                <a:lnTo>
                  <a:pt x="0" y="679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-1617254">
            <a:off x="16092990" y="732771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63393" y="7959861"/>
            <a:ext cx="1998376" cy="1791045"/>
          </a:xfrm>
          <a:custGeom>
            <a:avLst/>
            <a:gdLst/>
            <a:ahLst/>
            <a:cxnLst/>
            <a:rect l="l" t="t" r="r" b="b"/>
            <a:pathLst>
              <a:path w="1998376" h="1791045">
                <a:moveTo>
                  <a:pt x="0" y="0"/>
                </a:moveTo>
                <a:lnTo>
                  <a:pt x="1998376" y="0"/>
                </a:lnTo>
                <a:lnTo>
                  <a:pt x="1998376" y="1791045"/>
                </a:lnTo>
                <a:lnTo>
                  <a:pt x="0" y="17910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4572000" y="819150"/>
            <a:ext cx="9144000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Methodology</a:t>
            </a:r>
          </a:p>
        </p:txBody>
      </p:sp>
      <p:sp>
        <p:nvSpPr>
          <p:cNvPr id="29" name="Freeform 29"/>
          <p:cNvSpPr/>
          <p:nvPr/>
        </p:nvSpPr>
        <p:spPr>
          <a:xfrm rot="-1329982">
            <a:off x="15835217" y="1169234"/>
            <a:ext cx="1496953" cy="2191999"/>
          </a:xfrm>
          <a:custGeom>
            <a:avLst/>
            <a:gdLst/>
            <a:ahLst/>
            <a:cxnLst/>
            <a:rect l="l" t="t" r="r" b="b"/>
            <a:pathLst>
              <a:path w="1496953" h="2191999">
                <a:moveTo>
                  <a:pt x="0" y="0"/>
                </a:moveTo>
                <a:lnTo>
                  <a:pt x="1496953" y="0"/>
                </a:lnTo>
                <a:lnTo>
                  <a:pt x="1496953" y="2191999"/>
                </a:lnTo>
                <a:lnTo>
                  <a:pt x="0" y="21919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TextBox 31"/>
          <p:cNvSpPr txBox="1"/>
          <p:nvPr/>
        </p:nvSpPr>
        <p:spPr>
          <a:xfrm>
            <a:off x="2495496" y="3490038"/>
            <a:ext cx="13067654" cy="4825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Media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Nagsisilbi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itong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daluyan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komunikasyon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layunin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magbigay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kaalaman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impormasyon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diskurso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libangan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at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marami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Matatagpuan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ito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marami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nitong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mukha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katulad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aklat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telebisyon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pahayagan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radyo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social (Facebook, YouTube, twitter, Instagram), at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marami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PH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endParaRPr lang="en-US" sz="4400" dirty="0">
              <a:solidFill>
                <a:srgbClr val="000000"/>
              </a:solidFill>
              <a:latin typeface="Bryndan Write"/>
              <a:ea typeface="Bryndan Write"/>
              <a:cs typeface="Bryndan Write"/>
              <a:sym typeface="Bryndan Writ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67362" y="2037819"/>
            <a:ext cx="14333461" cy="7220481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617254">
            <a:off x="15612537" y="119362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752520" y="732771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436569" y="3488693"/>
            <a:ext cx="11621025" cy="4263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n-PH" sz="2800" b="1" u="none" strike="noStrike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Empirismo</a:t>
            </a:r>
            <a:r>
              <a:rPr lang="en-PH" sz="2800" b="1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(Empiricism)</a:t>
            </a:r>
            <a:endParaRPr lang="en-PH" sz="2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direktang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karanasan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tao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makatotohanang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daluyan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kaalaman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hinggil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epekto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midya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Marami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atin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pinanghahawakan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sariling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karanasan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pagpapaliwanag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epektong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naidudulot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midya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kanila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(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Usapin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maaaring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kongklusyon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batay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direktang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karanasan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tao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tama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tao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subalit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hindi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tama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angkop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Ang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pangyayari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midya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(media)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tumatangkilik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karahasan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nagbubukas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kriminal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tendensya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isang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tao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ay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hindi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nangangahulugan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magbubukas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din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ito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kriminal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tendensiya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iba</a:t>
            </a:r>
            <a:r>
              <a:rPr lang="en-PH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PH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2232374" y="7598510"/>
            <a:ext cx="7315200" cy="2514600"/>
          </a:xfrm>
          <a:custGeom>
            <a:avLst/>
            <a:gdLst/>
            <a:ahLst/>
            <a:cxnLst/>
            <a:rect l="l" t="t" r="r" b="b"/>
            <a:pathLst>
              <a:path w="7315200" h="2514600">
                <a:moveTo>
                  <a:pt x="0" y="0"/>
                </a:moveTo>
                <a:lnTo>
                  <a:pt x="7315200" y="0"/>
                </a:lnTo>
                <a:lnTo>
                  <a:pt x="73152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955895" y="661423"/>
            <a:ext cx="14756394" cy="1100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3200" dirty="0">
                <a:latin typeface="Bryndan Write"/>
                <a:ea typeface="Bryndan Write"/>
                <a:cs typeface="Bryndan Write"/>
                <a:sym typeface="Bryndan Write"/>
              </a:rPr>
              <a:t>SIYENTIPIKONG PAMAMARAAN SA PAG AARAL SA EPEKTO NG MIDYA</a:t>
            </a:r>
          </a:p>
        </p:txBody>
      </p:sp>
      <p:sp>
        <p:nvSpPr>
          <p:cNvPr id="29" name="Freeform 29"/>
          <p:cNvSpPr/>
          <p:nvPr/>
        </p:nvSpPr>
        <p:spPr>
          <a:xfrm>
            <a:off x="-3878630" y="102912"/>
            <a:ext cx="7315200" cy="2514600"/>
          </a:xfrm>
          <a:custGeom>
            <a:avLst/>
            <a:gdLst/>
            <a:ahLst/>
            <a:cxnLst/>
            <a:rect l="l" t="t" r="r" b="b"/>
            <a:pathLst>
              <a:path w="7315200" h="2514600">
                <a:moveTo>
                  <a:pt x="0" y="0"/>
                </a:moveTo>
                <a:lnTo>
                  <a:pt x="7315200" y="0"/>
                </a:lnTo>
                <a:lnTo>
                  <a:pt x="73152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55896" y="2037819"/>
            <a:ext cx="14544928" cy="7220481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617254">
            <a:off x="15612537" y="119362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752520" y="732771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048000" y="3176023"/>
            <a:ext cx="12191999" cy="5161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n-PH" sz="3600" b="1" u="none" strike="noStrike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Pananalig</a:t>
            </a:r>
            <a:r>
              <a:rPr lang="en-PH" sz="3600" b="1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b="1" u="none" strike="noStrike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b="1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b="1" u="none" strike="noStrike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Awtoridad</a:t>
            </a:r>
            <a:r>
              <a:rPr lang="en-PH" sz="3600" b="1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n-PH" sz="3600" dirty="0"/>
              <a:t>Ang </a:t>
            </a:r>
            <a:r>
              <a:rPr lang="en-PH" sz="3600" b="1" dirty="0" err="1"/>
              <a:t>pananalig</a:t>
            </a:r>
            <a:r>
              <a:rPr lang="en-PH" sz="3600" b="1" dirty="0"/>
              <a:t> </a:t>
            </a:r>
            <a:r>
              <a:rPr lang="en-PH" sz="3600" b="1" dirty="0" err="1"/>
              <a:t>sa</a:t>
            </a:r>
            <a:r>
              <a:rPr lang="en-PH" sz="3600" b="1" dirty="0"/>
              <a:t> </a:t>
            </a:r>
            <a:r>
              <a:rPr lang="en-PH" sz="3600" b="1" dirty="0" err="1"/>
              <a:t>awtoridad</a:t>
            </a:r>
            <a:r>
              <a:rPr lang="en-PH" sz="3600" dirty="0"/>
              <a:t> ay </a:t>
            </a:r>
            <a:r>
              <a:rPr lang="en-PH" sz="3600" dirty="0" err="1"/>
              <a:t>tumutukoy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ating</a:t>
            </a:r>
            <a:r>
              <a:rPr lang="en-PH" sz="3600" dirty="0"/>
              <a:t> </a:t>
            </a:r>
            <a:r>
              <a:rPr lang="en-PH" sz="3600" dirty="0" err="1"/>
              <a:t>pagtitiwala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dalubhasa</a:t>
            </a:r>
            <a:r>
              <a:rPr lang="en-PH" sz="3600" dirty="0"/>
              <a:t>, </a:t>
            </a:r>
            <a:r>
              <a:rPr lang="en-PH" sz="3600" dirty="0" err="1"/>
              <a:t>tulad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doktor</a:t>
            </a:r>
            <a:r>
              <a:rPr lang="en-PH" sz="3600" dirty="0"/>
              <a:t> o </a:t>
            </a:r>
            <a:r>
              <a:rPr lang="en-PH" sz="3600" dirty="0" err="1"/>
              <a:t>relihiyosong</a:t>
            </a:r>
            <a:r>
              <a:rPr lang="en-PH" sz="3600" dirty="0"/>
              <a:t> </a:t>
            </a:r>
            <a:r>
              <a:rPr lang="en-PH" sz="3600" dirty="0" err="1"/>
              <a:t>lider</a:t>
            </a:r>
            <a:r>
              <a:rPr lang="en-PH" sz="3600" dirty="0"/>
              <a:t>, </a:t>
            </a:r>
            <a:r>
              <a:rPr lang="en-PH" sz="3600" dirty="0" err="1"/>
              <a:t>bilang</a:t>
            </a:r>
            <a:r>
              <a:rPr lang="en-PH" sz="3600" dirty="0"/>
              <a:t> </a:t>
            </a:r>
            <a:r>
              <a:rPr lang="en-PH" sz="3600" dirty="0" err="1"/>
              <a:t>mapagkakatiwalaang</a:t>
            </a:r>
            <a:r>
              <a:rPr lang="en-PH" sz="3600" dirty="0"/>
              <a:t> </a:t>
            </a:r>
            <a:r>
              <a:rPr lang="en-PH" sz="3600" dirty="0" err="1"/>
              <a:t>pinagmumulan</a:t>
            </a:r>
            <a:r>
              <a:rPr lang="en-PH" sz="3600" dirty="0"/>
              <a:t> ng </a:t>
            </a:r>
            <a:r>
              <a:rPr lang="en-PH" sz="3600" dirty="0" err="1"/>
              <a:t>kaalaman</a:t>
            </a:r>
            <a:r>
              <a:rPr lang="en-PH" sz="3600" dirty="0"/>
              <a:t>, </a:t>
            </a: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maaaring</a:t>
            </a:r>
            <a:r>
              <a:rPr lang="en-PH" sz="3600" dirty="0"/>
              <a:t> </a:t>
            </a:r>
            <a:r>
              <a:rPr lang="en-PH" sz="3600" dirty="0" err="1"/>
              <a:t>humantong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maling</a:t>
            </a:r>
            <a:r>
              <a:rPr lang="en-PH" sz="3600" dirty="0"/>
              <a:t> </a:t>
            </a:r>
            <a:r>
              <a:rPr lang="en-PH" sz="3600" dirty="0" err="1"/>
              <a:t>paniniwala</a:t>
            </a:r>
            <a:r>
              <a:rPr lang="en-PH" sz="3600" dirty="0"/>
              <a:t> kung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susuriin</a:t>
            </a:r>
            <a:r>
              <a:rPr lang="en-PH" sz="3600" dirty="0"/>
              <a:t>. </a:t>
            </a:r>
            <a:r>
              <a:rPr lang="en-PH" sz="3600" dirty="0" err="1"/>
              <a:t>Halimbawa</a:t>
            </a:r>
            <a:r>
              <a:rPr lang="en-PH" sz="3600" dirty="0"/>
              <a:t>,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nakaraan</a:t>
            </a:r>
            <a:r>
              <a:rPr lang="en-PH" sz="3600" dirty="0"/>
              <a:t>, </a:t>
            </a:r>
            <a:r>
              <a:rPr lang="en-PH" sz="3600" dirty="0" err="1"/>
              <a:t>tinanggap</a:t>
            </a:r>
            <a:r>
              <a:rPr lang="en-PH" sz="3600" dirty="0"/>
              <a:t> ng </a:t>
            </a:r>
            <a:r>
              <a:rPr lang="en-PH" sz="3600" dirty="0" err="1"/>
              <a:t>marami</a:t>
            </a:r>
            <a:r>
              <a:rPr lang="en-PH" sz="3600" dirty="0"/>
              <a:t> ang </a:t>
            </a:r>
            <a:r>
              <a:rPr lang="en-PH" sz="3600" dirty="0" err="1"/>
              <a:t>paniniwala</a:t>
            </a:r>
            <a:r>
              <a:rPr lang="en-PH" sz="3600" dirty="0"/>
              <a:t> ng </a:t>
            </a:r>
            <a:r>
              <a:rPr lang="en-PH" sz="3600" dirty="0" err="1"/>
              <a:t>simbahan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mundo</a:t>
            </a:r>
            <a:r>
              <a:rPr lang="en-PH" sz="3600" dirty="0"/>
              <a:t> ang </a:t>
            </a:r>
            <a:r>
              <a:rPr lang="en-PH" sz="3600" dirty="0" err="1"/>
              <a:t>sentro</a:t>
            </a:r>
            <a:r>
              <a:rPr lang="en-PH" sz="3600" dirty="0"/>
              <a:t> ng </a:t>
            </a:r>
            <a:r>
              <a:rPr lang="en-PH" sz="3600" dirty="0" err="1"/>
              <a:t>sansinukob</a:t>
            </a:r>
            <a:r>
              <a:rPr lang="en-PH" sz="3600" dirty="0"/>
              <a:t>, </a:t>
            </a:r>
            <a:r>
              <a:rPr lang="en-PH" sz="3600" dirty="0" err="1"/>
              <a:t>hanggang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mapatunayan</a:t>
            </a:r>
            <a:r>
              <a:rPr lang="en-PH" sz="3600" dirty="0"/>
              <a:t> ng </a:t>
            </a:r>
            <a:r>
              <a:rPr lang="en-PH" sz="3600" dirty="0" err="1"/>
              <a:t>siyensiya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umiikot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araw</a:t>
            </a:r>
            <a:r>
              <a:rPr lang="en-PH" sz="3600" dirty="0"/>
              <a:t>.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2674504" y="8227999"/>
            <a:ext cx="7315200" cy="2514600"/>
          </a:xfrm>
          <a:custGeom>
            <a:avLst/>
            <a:gdLst/>
            <a:ahLst/>
            <a:cxnLst/>
            <a:rect l="l" t="t" r="r" b="b"/>
            <a:pathLst>
              <a:path w="7315200" h="2514600">
                <a:moveTo>
                  <a:pt x="0" y="0"/>
                </a:moveTo>
                <a:lnTo>
                  <a:pt x="7315200" y="0"/>
                </a:lnTo>
                <a:lnTo>
                  <a:pt x="73152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955895" y="661423"/>
            <a:ext cx="14756394" cy="1100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3200" dirty="0">
                <a:latin typeface="Bryndan Write"/>
                <a:ea typeface="Bryndan Write"/>
                <a:cs typeface="Bryndan Write"/>
                <a:sym typeface="Bryndan Write"/>
              </a:rPr>
              <a:t>SIYENTIPIKONG PAMAMARAAN SA PAG AARAL SA EPEKTO NG MIDYA</a:t>
            </a:r>
          </a:p>
        </p:txBody>
      </p:sp>
      <p:sp>
        <p:nvSpPr>
          <p:cNvPr id="29" name="Freeform 29"/>
          <p:cNvSpPr/>
          <p:nvPr/>
        </p:nvSpPr>
        <p:spPr>
          <a:xfrm>
            <a:off x="-3878630" y="102912"/>
            <a:ext cx="7315200" cy="2514600"/>
          </a:xfrm>
          <a:custGeom>
            <a:avLst/>
            <a:gdLst/>
            <a:ahLst/>
            <a:cxnLst/>
            <a:rect l="l" t="t" r="r" b="b"/>
            <a:pathLst>
              <a:path w="7315200" h="2514600">
                <a:moveTo>
                  <a:pt x="0" y="0"/>
                </a:moveTo>
                <a:lnTo>
                  <a:pt x="7315200" y="0"/>
                </a:lnTo>
                <a:lnTo>
                  <a:pt x="73152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520498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55896" y="2037819"/>
            <a:ext cx="14544928" cy="7220481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617254">
            <a:off x="15612537" y="119362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752520" y="732771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048000" y="3176023"/>
            <a:ext cx="12191999" cy="3392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n-PH" sz="4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Siyensya</a:t>
            </a:r>
            <a:endParaRPr lang="en-PH" sz="7200" b="1" dirty="0"/>
          </a:p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n-PH" sz="3600" dirty="0"/>
              <a:t>Ang </a:t>
            </a:r>
            <a:r>
              <a:rPr lang="en-PH" sz="3600" b="1" dirty="0" err="1"/>
              <a:t>siyensya</a:t>
            </a:r>
            <a:r>
              <a:rPr lang="en-PH" sz="3600" dirty="0"/>
              <a:t>,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nakabatay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sistematikong</a:t>
            </a:r>
            <a:r>
              <a:rPr lang="en-PH" sz="3600" dirty="0"/>
              <a:t> </a:t>
            </a:r>
            <a:r>
              <a:rPr lang="en-PH" sz="3600" dirty="0" err="1"/>
              <a:t>obserbasyon</a:t>
            </a:r>
            <a:r>
              <a:rPr lang="en-PH" sz="3600" dirty="0"/>
              <a:t> at </a:t>
            </a:r>
            <a:r>
              <a:rPr lang="en-PH" sz="3600" dirty="0" err="1"/>
              <a:t>lohikal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pagsusuri</a:t>
            </a:r>
            <a:r>
              <a:rPr lang="en-PH" sz="3600" dirty="0"/>
              <a:t>, ay </a:t>
            </a:r>
            <a:r>
              <a:rPr lang="en-PH" sz="3600" dirty="0" err="1"/>
              <a:t>nagbunga</a:t>
            </a:r>
            <a:r>
              <a:rPr lang="en-PH" sz="3600" dirty="0"/>
              <a:t> ng </a:t>
            </a:r>
            <a:r>
              <a:rPr lang="en-PH" sz="3600" dirty="0" err="1"/>
              <a:t>mahahalagang</a:t>
            </a:r>
            <a:r>
              <a:rPr lang="en-PH" sz="3600" dirty="0"/>
              <a:t> </a:t>
            </a:r>
            <a:r>
              <a:rPr lang="en-PH" sz="3600" dirty="0" err="1"/>
              <a:t>tuklas</a:t>
            </a:r>
            <a:r>
              <a:rPr lang="en-PH" sz="3600" dirty="0"/>
              <a:t> </a:t>
            </a:r>
            <a:r>
              <a:rPr lang="en-PH" sz="3600" dirty="0" err="1"/>
              <a:t>tulad</a:t>
            </a:r>
            <a:r>
              <a:rPr lang="en-PH" sz="3600" dirty="0"/>
              <a:t> ng antibiotics, </a:t>
            </a:r>
            <a:r>
              <a:rPr lang="en-PH" sz="3600" dirty="0" err="1"/>
              <a:t>paglalakbay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buwan</a:t>
            </a:r>
            <a:r>
              <a:rPr lang="en-PH" sz="3600" dirty="0"/>
              <a:t>, at internet,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nagpabago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ating</a:t>
            </a:r>
            <a:r>
              <a:rPr lang="en-PH" sz="3600" dirty="0"/>
              <a:t> </a:t>
            </a:r>
            <a:r>
              <a:rPr lang="en-PH" sz="3600" dirty="0" err="1"/>
              <a:t>pamumuhay</a:t>
            </a:r>
            <a:r>
              <a:rPr lang="en-PH" sz="3600" dirty="0"/>
              <a:t>.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2674504" y="8227999"/>
            <a:ext cx="7315200" cy="2514600"/>
          </a:xfrm>
          <a:custGeom>
            <a:avLst/>
            <a:gdLst/>
            <a:ahLst/>
            <a:cxnLst/>
            <a:rect l="l" t="t" r="r" b="b"/>
            <a:pathLst>
              <a:path w="7315200" h="2514600">
                <a:moveTo>
                  <a:pt x="0" y="0"/>
                </a:moveTo>
                <a:lnTo>
                  <a:pt x="7315200" y="0"/>
                </a:lnTo>
                <a:lnTo>
                  <a:pt x="73152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955895" y="661423"/>
            <a:ext cx="14756394" cy="1100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3200" dirty="0">
                <a:latin typeface="Bryndan Write"/>
                <a:ea typeface="Bryndan Write"/>
                <a:cs typeface="Bryndan Write"/>
                <a:sym typeface="Bryndan Write"/>
              </a:rPr>
              <a:t>SIYENTIPIKONG PAMAMARAAN SA PAG AARAL SA EPEKTO NG MIDYA</a:t>
            </a:r>
          </a:p>
        </p:txBody>
      </p:sp>
      <p:sp>
        <p:nvSpPr>
          <p:cNvPr id="29" name="Freeform 29"/>
          <p:cNvSpPr/>
          <p:nvPr/>
        </p:nvSpPr>
        <p:spPr>
          <a:xfrm>
            <a:off x="-3878630" y="102912"/>
            <a:ext cx="7315200" cy="2514600"/>
          </a:xfrm>
          <a:custGeom>
            <a:avLst/>
            <a:gdLst/>
            <a:ahLst/>
            <a:cxnLst/>
            <a:rect l="l" t="t" r="r" b="b"/>
            <a:pathLst>
              <a:path w="7315200" h="2514600">
                <a:moveTo>
                  <a:pt x="0" y="0"/>
                </a:moveTo>
                <a:lnTo>
                  <a:pt x="7315200" y="0"/>
                </a:lnTo>
                <a:lnTo>
                  <a:pt x="73152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798794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34560">
            <a:off x="-82440" y="-62622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58115" y="2630359"/>
            <a:ext cx="267762" cy="26776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4819" y="6574171"/>
            <a:ext cx="267762" cy="26776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40354" y="8990538"/>
            <a:ext cx="267762" cy="26776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611291" y="7593929"/>
            <a:ext cx="267762" cy="26776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56488" y="5727149"/>
            <a:ext cx="267762" cy="26776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322062" y="2463759"/>
            <a:ext cx="7528577" cy="6794541"/>
          </a:xfrm>
          <a:custGeom>
            <a:avLst/>
            <a:gdLst/>
            <a:ahLst/>
            <a:cxnLst/>
            <a:rect l="l" t="t" r="r" b="b"/>
            <a:pathLst>
              <a:path w="7528577" h="6794541">
                <a:moveTo>
                  <a:pt x="0" y="0"/>
                </a:moveTo>
                <a:lnTo>
                  <a:pt x="7528576" y="0"/>
                </a:lnTo>
                <a:lnTo>
                  <a:pt x="7528576" y="6794541"/>
                </a:lnTo>
                <a:lnTo>
                  <a:pt x="0" y="679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437362" y="2463759"/>
            <a:ext cx="7528577" cy="6794541"/>
          </a:xfrm>
          <a:custGeom>
            <a:avLst/>
            <a:gdLst/>
            <a:ahLst/>
            <a:cxnLst/>
            <a:rect l="l" t="t" r="r" b="b"/>
            <a:pathLst>
              <a:path w="7528577" h="6794541">
                <a:moveTo>
                  <a:pt x="0" y="0"/>
                </a:moveTo>
                <a:lnTo>
                  <a:pt x="7528576" y="0"/>
                </a:lnTo>
                <a:lnTo>
                  <a:pt x="7528576" y="6794541"/>
                </a:lnTo>
                <a:lnTo>
                  <a:pt x="0" y="679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2408416">
            <a:off x="13643391" y="-288731"/>
            <a:ext cx="5116238" cy="2634863"/>
          </a:xfrm>
          <a:custGeom>
            <a:avLst/>
            <a:gdLst/>
            <a:ahLst/>
            <a:cxnLst/>
            <a:rect l="l" t="t" r="r" b="b"/>
            <a:pathLst>
              <a:path w="5116238" h="2634863">
                <a:moveTo>
                  <a:pt x="0" y="0"/>
                </a:moveTo>
                <a:lnTo>
                  <a:pt x="5116238" y="0"/>
                </a:lnTo>
                <a:lnTo>
                  <a:pt x="5116238" y="2634862"/>
                </a:lnTo>
                <a:lnTo>
                  <a:pt x="0" y="26348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1204924">
            <a:off x="-1373579" y="8594817"/>
            <a:ext cx="4804559" cy="3639453"/>
          </a:xfrm>
          <a:custGeom>
            <a:avLst/>
            <a:gdLst/>
            <a:ahLst/>
            <a:cxnLst/>
            <a:rect l="l" t="t" r="r" b="b"/>
            <a:pathLst>
              <a:path w="4804559" h="3639453">
                <a:moveTo>
                  <a:pt x="0" y="0"/>
                </a:moveTo>
                <a:lnTo>
                  <a:pt x="4804559" y="0"/>
                </a:lnTo>
                <a:lnTo>
                  <a:pt x="4804559" y="3639453"/>
                </a:lnTo>
                <a:lnTo>
                  <a:pt x="0" y="36394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846922" y="7423681"/>
            <a:ext cx="1517559" cy="2863319"/>
          </a:xfrm>
          <a:custGeom>
            <a:avLst/>
            <a:gdLst/>
            <a:ahLst/>
            <a:cxnLst/>
            <a:rect l="l" t="t" r="r" b="b"/>
            <a:pathLst>
              <a:path w="1517559" h="2863319">
                <a:moveTo>
                  <a:pt x="0" y="0"/>
                </a:moveTo>
                <a:lnTo>
                  <a:pt x="1517559" y="0"/>
                </a:lnTo>
                <a:lnTo>
                  <a:pt x="1517559" y="2863320"/>
                </a:lnTo>
                <a:lnTo>
                  <a:pt x="0" y="28633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0042750" y="3017395"/>
            <a:ext cx="6377947" cy="5783581"/>
            <a:chOff x="0" y="0"/>
            <a:chExt cx="1679788" cy="15232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79788" cy="1523248"/>
            </a:xfrm>
            <a:custGeom>
              <a:avLst/>
              <a:gdLst/>
              <a:ahLst/>
              <a:cxnLst/>
              <a:rect l="l" t="t" r="r" b="b"/>
              <a:pathLst>
                <a:path w="1679788" h="1523248">
                  <a:moveTo>
                    <a:pt x="61907" y="0"/>
                  </a:moveTo>
                  <a:lnTo>
                    <a:pt x="1617882" y="0"/>
                  </a:lnTo>
                  <a:cubicBezTo>
                    <a:pt x="1634300" y="0"/>
                    <a:pt x="1650047" y="6522"/>
                    <a:pt x="1661656" y="18132"/>
                  </a:cubicBezTo>
                  <a:cubicBezTo>
                    <a:pt x="1673266" y="29742"/>
                    <a:pt x="1679788" y="45488"/>
                    <a:pt x="1679788" y="61907"/>
                  </a:cubicBezTo>
                  <a:lnTo>
                    <a:pt x="1679788" y="1461341"/>
                  </a:lnTo>
                  <a:cubicBezTo>
                    <a:pt x="1679788" y="1477760"/>
                    <a:pt x="1673266" y="1493506"/>
                    <a:pt x="1661656" y="1505116"/>
                  </a:cubicBezTo>
                  <a:cubicBezTo>
                    <a:pt x="1650047" y="1516725"/>
                    <a:pt x="1634300" y="1523248"/>
                    <a:pt x="1617882" y="1523248"/>
                  </a:cubicBezTo>
                  <a:lnTo>
                    <a:pt x="61907" y="1523248"/>
                  </a:lnTo>
                  <a:cubicBezTo>
                    <a:pt x="45488" y="1523248"/>
                    <a:pt x="29742" y="1516725"/>
                    <a:pt x="18132" y="1505116"/>
                  </a:cubicBezTo>
                  <a:cubicBezTo>
                    <a:pt x="6522" y="1493506"/>
                    <a:pt x="0" y="1477760"/>
                    <a:pt x="0" y="1461341"/>
                  </a:cubicBezTo>
                  <a:lnTo>
                    <a:pt x="0" y="61907"/>
                  </a:lnTo>
                  <a:cubicBezTo>
                    <a:pt x="0" y="45488"/>
                    <a:pt x="6522" y="29742"/>
                    <a:pt x="18132" y="18132"/>
                  </a:cubicBezTo>
                  <a:cubicBezTo>
                    <a:pt x="29742" y="6522"/>
                    <a:pt x="45488" y="0"/>
                    <a:pt x="61907" y="0"/>
                  </a:cubicBezTo>
                  <a:close/>
                </a:path>
              </a:pathLst>
            </a:custGeom>
            <a:solidFill>
              <a:srgbClr val="FFF4E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679788" cy="1580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 rot="-1617254">
            <a:off x="16092990" y="732771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4572000" y="819150"/>
            <a:ext cx="9144000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Result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02431" y="3191332"/>
            <a:ext cx="5558426" cy="52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59"/>
              </a:lnSpc>
            </a:pPr>
            <a:r>
              <a:rPr lang="en-PH" sz="3600" b="1" u="none" strike="noStrike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Pagbibigay</a:t>
            </a:r>
            <a:r>
              <a:rPr lang="en-PH" sz="3600" b="1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b="1" u="none" strike="noStrike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Prediksyon</a:t>
            </a:r>
            <a:endParaRPr lang="en-PH" sz="36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5159"/>
              </a:lnSpc>
            </a:pPr>
            <a:r>
              <a:rPr lang="en-PH" sz="4000" dirty="0"/>
              <a:t>Ang </a:t>
            </a:r>
            <a:r>
              <a:rPr lang="en-PH" sz="4000" b="1" dirty="0" err="1"/>
              <a:t>pagbibigay</a:t>
            </a:r>
            <a:r>
              <a:rPr lang="en-PH" sz="4000" b="1" dirty="0"/>
              <a:t> ng </a:t>
            </a:r>
            <a:r>
              <a:rPr lang="en-PH" sz="4000" b="1" dirty="0" err="1"/>
              <a:t>prediksyon</a:t>
            </a:r>
            <a:r>
              <a:rPr lang="en-PH" sz="4000" dirty="0"/>
              <a:t> ay ang </a:t>
            </a:r>
            <a:r>
              <a:rPr lang="en-PH" sz="4000" dirty="0" err="1"/>
              <a:t>kakayahang</a:t>
            </a:r>
            <a:r>
              <a:rPr lang="en-PH" sz="4000" dirty="0"/>
              <a:t> </a:t>
            </a:r>
            <a:r>
              <a:rPr lang="en-PH" sz="4000" dirty="0" err="1"/>
              <a:t>hulaan</a:t>
            </a:r>
            <a:r>
              <a:rPr lang="en-PH" sz="4000" dirty="0"/>
              <a:t> ang </a:t>
            </a:r>
            <a:r>
              <a:rPr lang="en-PH" sz="4000" dirty="0" err="1"/>
              <a:t>maaaring</a:t>
            </a:r>
            <a:r>
              <a:rPr lang="en-PH" sz="4000" dirty="0"/>
              <a:t> </a:t>
            </a:r>
            <a:r>
              <a:rPr lang="en-PH" sz="4000" dirty="0" err="1"/>
              <a:t>mangyari</a:t>
            </a:r>
            <a:r>
              <a:rPr lang="en-PH" sz="4000" dirty="0"/>
              <a:t> </a:t>
            </a:r>
            <a:r>
              <a:rPr lang="en-PH" sz="4000" dirty="0" err="1"/>
              <a:t>batay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umiiral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impormasyon</a:t>
            </a:r>
            <a:r>
              <a:rPr lang="en-PH" sz="4000" dirty="0"/>
              <a:t> o </a:t>
            </a:r>
            <a:r>
              <a:rPr lang="en-PH" sz="4000" dirty="0" err="1"/>
              <a:t>obserbasyon</a:t>
            </a:r>
            <a:r>
              <a:rPr lang="en-PH" sz="4000" dirty="0"/>
              <a:t>. </a:t>
            </a:r>
            <a:endParaRPr lang="en-US" sz="3999" dirty="0">
              <a:solidFill>
                <a:srgbClr val="000000"/>
              </a:solidFill>
              <a:latin typeface="Bryndan Write"/>
              <a:ea typeface="Bryndan Write"/>
              <a:cs typeface="Bryndan Write"/>
              <a:sym typeface="Bryndan Write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073280-EF4E-417B-ADC4-2C40E01BF719}"/>
              </a:ext>
            </a:extLst>
          </p:cNvPr>
          <p:cNvSpPr txBox="1"/>
          <p:nvPr/>
        </p:nvSpPr>
        <p:spPr>
          <a:xfrm>
            <a:off x="2213931" y="651630"/>
            <a:ext cx="11005456" cy="655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Layunin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Siyensa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CECF39-0EF7-4AB6-885A-9D3F351533D3}"/>
              </a:ext>
            </a:extLst>
          </p:cNvPr>
          <p:cNvSpPr txBox="1"/>
          <p:nvPr/>
        </p:nvSpPr>
        <p:spPr>
          <a:xfrm>
            <a:off x="9848428" y="3138124"/>
            <a:ext cx="5714722" cy="4955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n-PH" sz="3600" b="1" u="none" strike="noStrike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Pagpapaliwanag</a:t>
            </a:r>
            <a:endParaRPr lang="en-PH" sz="36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3600" dirty="0"/>
              <a:t>Ang </a:t>
            </a:r>
            <a:r>
              <a:rPr lang="en-PH" sz="3600" b="1" dirty="0" err="1"/>
              <a:t>pagpapaliwanag</a:t>
            </a:r>
            <a:r>
              <a:rPr lang="en-PH" sz="3600" dirty="0"/>
              <a:t> ay </a:t>
            </a:r>
            <a:r>
              <a:rPr lang="en-PH" sz="3600" dirty="0" err="1"/>
              <a:t>tumutukoy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layunin</a:t>
            </a:r>
            <a:r>
              <a:rPr lang="en-PH" sz="3600" dirty="0"/>
              <a:t> ng </a:t>
            </a:r>
            <a:r>
              <a:rPr lang="en-PH" sz="3600" dirty="0" err="1"/>
              <a:t>siyensya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linawin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pangyayari</a:t>
            </a:r>
            <a:r>
              <a:rPr lang="en-PH" sz="3600" dirty="0"/>
              <a:t>, ang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dahilan</a:t>
            </a:r>
            <a:r>
              <a:rPr lang="en-PH" sz="3600" dirty="0"/>
              <a:t>, at ang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kaugnayan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iba</a:t>
            </a:r>
            <a:r>
              <a:rPr lang="en-PH" sz="3600" dirty="0"/>
              <a:t> pang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kaganapan</a:t>
            </a:r>
            <a:r>
              <a:rPr lang="en-PH" sz="3600" dirty="0"/>
              <a:t>. 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34560">
            <a:off x="-82440" y="-62622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58115" y="2630359"/>
            <a:ext cx="267762" cy="26776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4819" y="6574171"/>
            <a:ext cx="267762" cy="26776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40354" y="8990538"/>
            <a:ext cx="267762" cy="26776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611291" y="7593929"/>
            <a:ext cx="267762" cy="26776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56488" y="5727149"/>
            <a:ext cx="267762" cy="26776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322062" y="2463759"/>
            <a:ext cx="7528577" cy="6794541"/>
          </a:xfrm>
          <a:custGeom>
            <a:avLst/>
            <a:gdLst/>
            <a:ahLst/>
            <a:cxnLst/>
            <a:rect l="l" t="t" r="r" b="b"/>
            <a:pathLst>
              <a:path w="7528577" h="6794541">
                <a:moveTo>
                  <a:pt x="0" y="0"/>
                </a:moveTo>
                <a:lnTo>
                  <a:pt x="7528576" y="0"/>
                </a:lnTo>
                <a:lnTo>
                  <a:pt x="7528576" y="6794541"/>
                </a:lnTo>
                <a:lnTo>
                  <a:pt x="0" y="679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437362" y="2463759"/>
            <a:ext cx="7528577" cy="6794541"/>
          </a:xfrm>
          <a:custGeom>
            <a:avLst/>
            <a:gdLst/>
            <a:ahLst/>
            <a:cxnLst/>
            <a:rect l="l" t="t" r="r" b="b"/>
            <a:pathLst>
              <a:path w="7528577" h="6794541">
                <a:moveTo>
                  <a:pt x="0" y="0"/>
                </a:moveTo>
                <a:lnTo>
                  <a:pt x="7528576" y="0"/>
                </a:lnTo>
                <a:lnTo>
                  <a:pt x="7528576" y="6794541"/>
                </a:lnTo>
                <a:lnTo>
                  <a:pt x="0" y="679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2408416">
            <a:off x="13643391" y="-288731"/>
            <a:ext cx="5116238" cy="2634863"/>
          </a:xfrm>
          <a:custGeom>
            <a:avLst/>
            <a:gdLst/>
            <a:ahLst/>
            <a:cxnLst/>
            <a:rect l="l" t="t" r="r" b="b"/>
            <a:pathLst>
              <a:path w="5116238" h="2634863">
                <a:moveTo>
                  <a:pt x="0" y="0"/>
                </a:moveTo>
                <a:lnTo>
                  <a:pt x="5116238" y="0"/>
                </a:lnTo>
                <a:lnTo>
                  <a:pt x="5116238" y="2634862"/>
                </a:lnTo>
                <a:lnTo>
                  <a:pt x="0" y="26348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1204924">
            <a:off x="-1373579" y="8594817"/>
            <a:ext cx="4804559" cy="3639453"/>
          </a:xfrm>
          <a:custGeom>
            <a:avLst/>
            <a:gdLst/>
            <a:ahLst/>
            <a:cxnLst/>
            <a:rect l="l" t="t" r="r" b="b"/>
            <a:pathLst>
              <a:path w="4804559" h="3639453">
                <a:moveTo>
                  <a:pt x="0" y="0"/>
                </a:moveTo>
                <a:lnTo>
                  <a:pt x="4804559" y="0"/>
                </a:lnTo>
                <a:lnTo>
                  <a:pt x="4804559" y="3639453"/>
                </a:lnTo>
                <a:lnTo>
                  <a:pt x="0" y="36394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846922" y="7423681"/>
            <a:ext cx="1517559" cy="2863319"/>
          </a:xfrm>
          <a:custGeom>
            <a:avLst/>
            <a:gdLst/>
            <a:ahLst/>
            <a:cxnLst/>
            <a:rect l="l" t="t" r="r" b="b"/>
            <a:pathLst>
              <a:path w="1517559" h="2863319">
                <a:moveTo>
                  <a:pt x="0" y="0"/>
                </a:moveTo>
                <a:lnTo>
                  <a:pt x="1517559" y="0"/>
                </a:lnTo>
                <a:lnTo>
                  <a:pt x="1517559" y="2863320"/>
                </a:lnTo>
                <a:lnTo>
                  <a:pt x="0" y="28633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0042750" y="3017395"/>
            <a:ext cx="6377947" cy="5783581"/>
            <a:chOff x="0" y="0"/>
            <a:chExt cx="1679788" cy="15232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79788" cy="1523248"/>
            </a:xfrm>
            <a:custGeom>
              <a:avLst/>
              <a:gdLst/>
              <a:ahLst/>
              <a:cxnLst/>
              <a:rect l="l" t="t" r="r" b="b"/>
              <a:pathLst>
                <a:path w="1679788" h="1523248">
                  <a:moveTo>
                    <a:pt x="61907" y="0"/>
                  </a:moveTo>
                  <a:lnTo>
                    <a:pt x="1617882" y="0"/>
                  </a:lnTo>
                  <a:cubicBezTo>
                    <a:pt x="1634300" y="0"/>
                    <a:pt x="1650047" y="6522"/>
                    <a:pt x="1661656" y="18132"/>
                  </a:cubicBezTo>
                  <a:cubicBezTo>
                    <a:pt x="1673266" y="29742"/>
                    <a:pt x="1679788" y="45488"/>
                    <a:pt x="1679788" y="61907"/>
                  </a:cubicBezTo>
                  <a:lnTo>
                    <a:pt x="1679788" y="1461341"/>
                  </a:lnTo>
                  <a:cubicBezTo>
                    <a:pt x="1679788" y="1477760"/>
                    <a:pt x="1673266" y="1493506"/>
                    <a:pt x="1661656" y="1505116"/>
                  </a:cubicBezTo>
                  <a:cubicBezTo>
                    <a:pt x="1650047" y="1516725"/>
                    <a:pt x="1634300" y="1523248"/>
                    <a:pt x="1617882" y="1523248"/>
                  </a:cubicBezTo>
                  <a:lnTo>
                    <a:pt x="61907" y="1523248"/>
                  </a:lnTo>
                  <a:cubicBezTo>
                    <a:pt x="45488" y="1523248"/>
                    <a:pt x="29742" y="1516725"/>
                    <a:pt x="18132" y="1505116"/>
                  </a:cubicBezTo>
                  <a:cubicBezTo>
                    <a:pt x="6522" y="1493506"/>
                    <a:pt x="0" y="1477760"/>
                    <a:pt x="0" y="1461341"/>
                  </a:cubicBezTo>
                  <a:lnTo>
                    <a:pt x="0" y="61907"/>
                  </a:lnTo>
                  <a:cubicBezTo>
                    <a:pt x="0" y="45488"/>
                    <a:pt x="6522" y="29742"/>
                    <a:pt x="18132" y="18132"/>
                  </a:cubicBezTo>
                  <a:cubicBezTo>
                    <a:pt x="29742" y="6522"/>
                    <a:pt x="45488" y="0"/>
                    <a:pt x="61907" y="0"/>
                  </a:cubicBezTo>
                  <a:close/>
                </a:path>
              </a:pathLst>
            </a:custGeom>
            <a:solidFill>
              <a:srgbClr val="FFF4E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679788" cy="1580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 rot="-1617254">
            <a:off x="16092990" y="732771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4572000" y="819150"/>
            <a:ext cx="9144000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Result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02431" y="3191332"/>
            <a:ext cx="5558426" cy="4618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59"/>
              </a:lnSpc>
            </a:pPr>
            <a:r>
              <a:rPr lang="en-PH" sz="3600" dirty="0"/>
              <a:t>Pag-</a:t>
            </a:r>
            <a:r>
              <a:rPr lang="en-PH" sz="3600" dirty="0" err="1"/>
              <a:t>unawa</a:t>
            </a:r>
            <a:endParaRPr lang="en-PH" sz="3600" dirty="0"/>
          </a:p>
          <a:p>
            <a:pPr>
              <a:lnSpc>
                <a:spcPts val="5159"/>
              </a:lnSpc>
            </a:pPr>
            <a:r>
              <a:rPr lang="en-PH" sz="3600" dirty="0"/>
              <a:t>Ang </a:t>
            </a:r>
            <a:r>
              <a:rPr lang="en-PH" sz="3600" b="1" dirty="0" err="1"/>
              <a:t>pag-unawa</a:t>
            </a:r>
            <a:r>
              <a:rPr lang="en-PH" sz="3600" dirty="0"/>
              <a:t> ay </a:t>
            </a:r>
            <a:r>
              <a:rPr lang="en-PH" sz="3600" dirty="0" err="1"/>
              <a:t>tumutukoy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kakayahang</a:t>
            </a:r>
            <a:r>
              <a:rPr lang="en-PH" sz="3600" dirty="0"/>
              <a:t> </a:t>
            </a:r>
            <a:r>
              <a:rPr lang="en-PH" sz="3600" dirty="0" err="1"/>
              <a:t>maunawaan</a:t>
            </a:r>
            <a:r>
              <a:rPr lang="en-PH" sz="3600" dirty="0"/>
              <a:t> ang </a:t>
            </a:r>
            <a:r>
              <a:rPr lang="en-PH" sz="3600" dirty="0" err="1"/>
              <a:t>pagkakasunod-sunod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pangyayari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nagdudulot</a:t>
            </a:r>
            <a:r>
              <a:rPr lang="en-PH" sz="3600" dirty="0"/>
              <a:t> ng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tiyak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penomena</a:t>
            </a:r>
            <a:r>
              <a:rPr lang="en-PH" sz="3600" dirty="0"/>
              <a:t>. </a:t>
            </a:r>
            <a:endParaRPr lang="en-US" sz="3999" dirty="0">
              <a:solidFill>
                <a:srgbClr val="000000"/>
              </a:solidFill>
              <a:latin typeface="Bryndan Write"/>
              <a:ea typeface="Bryndan Write"/>
              <a:cs typeface="Bryndan Write"/>
              <a:sym typeface="Bryndan Write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073280-EF4E-417B-ADC4-2C40E01BF719}"/>
              </a:ext>
            </a:extLst>
          </p:cNvPr>
          <p:cNvSpPr txBox="1"/>
          <p:nvPr/>
        </p:nvSpPr>
        <p:spPr>
          <a:xfrm>
            <a:off x="2213931" y="651630"/>
            <a:ext cx="11005456" cy="655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Layunin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Siyensa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CECF39-0EF7-4AB6-885A-9D3F351533D3}"/>
              </a:ext>
            </a:extLst>
          </p:cNvPr>
          <p:cNvSpPr txBox="1"/>
          <p:nvPr/>
        </p:nvSpPr>
        <p:spPr>
          <a:xfrm>
            <a:off x="9848428" y="3138124"/>
            <a:ext cx="5714722" cy="5254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n-PH" sz="3600" dirty="0" err="1"/>
              <a:t>Kontrol</a:t>
            </a:r>
            <a:endParaRPr lang="en-PH" sz="3600" dirty="0"/>
          </a:p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n-PH" sz="3600" dirty="0"/>
              <a:t>Ang </a:t>
            </a:r>
            <a:r>
              <a:rPr lang="en-PH" sz="3600" b="1" dirty="0" err="1"/>
              <a:t>kontrol</a:t>
            </a:r>
            <a:r>
              <a:rPr lang="en-PH" sz="3600" dirty="0"/>
              <a:t> ay ang </a:t>
            </a:r>
            <a:r>
              <a:rPr lang="en-PH" sz="3600" dirty="0" err="1"/>
              <a:t>kakayahang</a:t>
            </a:r>
            <a:r>
              <a:rPr lang="en-PH" sz="3600" dirty="0"/>
              <a:t> </a:t>
            </a:r>
            <a:r>
              <a:rPr lang="en-PH" sz="3600" dirty="0" err="1"/>
              <a:t>maimpluwensyahan</a:t>
            </a:r>
            <a:r>
              <a:rPr lang="en-PH" sz="3600" dirty="0"/>
              <a:t> o </a:t>
            </a:r>
            <a:r>
              <a:rPr lang="en-PH" sz="3600" dirty="0" err="1"/>
              <a:t>pamahalaan</a:t>
            </a:r>
            <a:r>
              <a:rPr lang="en-PH" sz="3600" dirty="0"/>
              <a:t> ang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penomena</a:t>
            </a:r>
            <a:r>
              <a:rPr lang="en-PH" sz="3600" dirty="0"/>
              <a:t> </a:t>
            </a:r>
            <a:r>
              <a:rPr lang="en-PH" sz="3600" dirty="0" err="1"/>
              <a:t>batay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prediksyon</a:t>
            </a:r>
            <a:r>
              <a:rPr lang="en-PH" sz="3600" dirty="0"/>
              <a:t>, </a:t>
            </a:r>
            <a:r>
              <a:rPr lang="en-PH" sz="3600" dirty="0" err="1"/>
              <a:t>pagpapaliwanag</a:t>
            </a:r>
            <a:r>
              <a:rPr lang="en-PH" sz="3600" dirty="0"/>
              <a:t>, at </a:t>
            </a:r>
            <a:r>
              <a:rPr lang="en-PH" sz="3600" dirty="0" err="1"/>
              <a:t>pag-unawa</a:t>
            </a:r>
            <a:r>
              <a:rPr lang="en-PH" sz="3600" dirty="0"/>
              <a:t> </a:t>
            </a:r>
            <a:r>
              <a:rPr lang="en-PH" sz="3600" dirty="0" err="1"/>
              <a:t>rito</a:t>
            </a:r>
            <a:r>
              <a:rPr lang="en-PH" sz="3600" dirty="0"/>
              <a:t>.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362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1077" y="1273210"/>
            <a:ext cx="14949745" cy="8412182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853726" y="2378812"/>
            <a:ext cx="12154675" cy="5729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n-PH" sz="3200" u="none" strike="noStrike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Pagsusuri</a:t>
            </a:r>
            <a:r>
              <a:rPr lang="en-PH" sz="3200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200" u="none" strike="noStrike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Nilalaman</a:t>
            </a:r>
            <a:r>
              <a:rPr lang="en-PH" sz="3200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200" u="none" strike="noStrike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Midya</a:t>
            </a:r>
            <a:r>
              <a:rPr lang="en-PH" sz="3200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(Analyzing Media Content)</a:t>
            </a:r>
          </a:p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n-PH" sz="3200" dirty="0"/>
              <a:t>Ang </a:t>
            </a:r>
            <a:r>
              <a:rPr lang="en-PH" sz="3200" b="1" dirty="0" err="1"/>
              <a:t>pagsusuri</a:t>
            </a:r>
            <a:r>
              <a:rPr lang="en-PH" sz="3200" b="1" dirty="0"/>
              <a:t> ng </a:t>
            </a:r>
            <a:r>
              <a:rPr lang="en-PH" sz="3200" b="1" dirty="0" err="1"/>
              <a:t>nilalaman</a:t>
            </a:r>
            <a:r>
              <a:rPr lang="en-PH" sz="3200" b="1" dirty="0"/>
              <a:t> (content analysis)</a:t>
            </a:r>
            <a:r>
              <a:rPr lang="en-PH" sz="3200" dirty="0"/>
              <a:t> ay </a:t>
            </a:r>
            <a:r>
              <a:rPr lang="en-PH" sz="3200" dirty="0" err="1"/>
              <a:t>isang</a:t>
            </a:r>
            <a:r>
              <a:rPr lang="en-PH" sz="3200" dirty="0"/>
              <a:t> </a:t>
            </a:r>
            <a:r>
              <a:rPr lang="en-PH" sz="3200" dirty="0" err="1"/>
              <a:t>sistematiko</a:t>
            </a:r>
            <a:r>
              <a:rPr lang="en-PH" sz="3200" dirty="0"/>
              <a:t> at </a:t>
            </a:r>
            <a:r>
              <a:rPr lang="en-PH" sz="3200" dirty="0" err="1"/>
              <a:t>mahigpit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pamamaraan</a:t>
            </a:r>
            <a:r>
              <a:rPr lang="en-PH" sz="3200" dirty="0"/>
              <a:t> ng </a:t>
            </a:r>
            <a:r>
              <a:rPr lang="en-PH" sz="3200" dirty="0" err="1"/>
              <a:t>pananaliksik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naglalayong</a:t>
            </a:r>
            <a:r>
              <a:rPr lang="en-PH" sz="3200" dirty="0"/>
              <a:t> </a:t>
            </a:r>
            <a:r>
              <a:rPr lang="en-PH" sz="3200" dirty="0" err="1"/>
              <a:t>mailarawan</a:t>
            </a:r>
            <a:r>
              <a:rPr lang="en-PH" sz="3200" dirty="0"/>
              <a:t> ang </a:t>
            </a:r>
            <a:r>
              <a:rPr lang="en-PH" sz="3200" dirty="0" err="1"/>
              <a:t>nilalaman</a:t>
            </a:r>
            <a:r>
              <a:rPr lang="en-PH" sz="3200" dirty="0"/>
              <a:t> ng </a:t>
            </a:r>
            <a:r>
              <a:rPr lang="en-PH" sz="3200" dirty="0" err="1"/>
              <a:t>komunikasyon</a:t>
            </a:r>
            <a:r>
              <a:rPr lang="en-PH" sz="3200" dirty="0"/>
              <a:t>, </a:t>
            </a:r>
            <a:r>
              <a:rPr lang="en-PH" sz="3200" dirty="0" err="1"/>
              <a:t>lalo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midya</a:t>
            </a:r>
            <a:r>
              <a:rPr lang="en-PH" sz="3200" dirty="0"/>
              <a:t>. Sa </a:t>
            </a:r>
            <a:r>
              <a:rPr lang="en-PH" sz="3200" dirty="0" err="1"/>
              <a:t>pamamagitan</a:t>
            </a:r>
            <a:r>
              <a:rPr lang="en-PH" sz="3200" dirty="0"/>
              <a:t> ng </a:t>
            </a:r>
            <a:r>
              <a:rPr lang="en-PH" sz="3200" dirty="0" err="1"/>
              <a:t>metodong</a:t>
            </a:r>
            <a:r>
              <a:rPr lang="en-PH" sz="3200" dirty="0"/>
              <a:t> </a:t>
            </a:r>
            <a:r>
              <a:rPr lang="en-PH" sz="3200" dirty="0" err="1"/>
              <a:t>ito</a:t>
            </a:r>
            <a:r>
              <a:rPr lang="en-PH" sz="3200" dirty="0"/>
              <a:t>, </a:t>
            </a:r>
            <a:r>
              <a:rPr lang="en-PH" sz="3200" dirty="0" err="1"/>
              <a:t>maaaring</a:t>
            </a:r>
            <a:r>
              <a:rPr lang="en-PH" sz="3200" dirty="0"/>
              <a:t> </a:t>
            </a:r>
            <a:r>
              <a:rPr lang="en-PH" sz="3200" dirty="0" err="1"/>
              <a:t>tukuyin</a:t>
            </a:r>
            <a:r>
              <a:rPr lang="en-PH" sz="3200" dirty="0"/>
              <a:t> at </a:t>
            </a:r>
            <a:r>
              <a:rPr lang="en-PH" sz="3200" dirty="0" err="1"/>
              <a:t>sukatin</a:t>
            </a:r>
            <a:r>
              <a:rPr lang="en-PH" sz="3200" dirty="0"/>
              <a:t> 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mensahe</a:t>
            </a:r>
            <a:r>
              <a:rPr lang="en-PH" sz="3200" dirty="0"/>
              <a:t> </a:t>
            </a:r>
            <a:r>
              <a:rPr lang="en-PH" sz="3200" dirty="0" err="1"/>
              <a:t>gamit</a:t>
            </a:r>
            <a:r>
              <a:rPr lang="en-PH" sz="3200" dirty="0"/>
              <a:t> ang </a:t>
            </a:r>
            <a:r>
              <a:rPr lang="en-PH" sz="3200" dirty="0" err="1"/>
              <a:t>kwantitatibong</a:t>
            </a:r>
            <a:r>
              <a:rPr lang="en-PH" sz="3200" dirty="0"/>
              <a:t> </a:t>
            </a:r>
            <a:r>
              <a:rPr lang="en-PH" sz="3200" dirty="0" err="1"/>
              <a:t>deskripsyon</a:t>
            </a:r>
            <a:r>
              <a:rPr lang="en-PH" sz="3200" dirty="0"/>
              <a:t>, </a:t>
            </a:r>
            <a:r>
              <a:rPr lang="en-PH" sz="3200" dirty="0" err="1"/>
              <a:t>kahit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mensaheng</a:t>
            </a:r>
            <a:r>
              <a:rPr lang="en-PH" sz="3200" dirty="0"/>
              <a:t> </a:t>
            </a:r>
            <a:r>
              <a:rPr lang="en-PH" sz="3200" dirty="0" err="1"/>
              <a:t>sinusuri</a:t>
            </a:r>
            <a:r>
              <a:rPr lang="en-PH" sz="3200" dirty="0"/>
              <a:t> ay </a:t>
            </a:r>
            <a:r>
              <a:rPr lang="en-PH" sz="3200" dirty="0" err="1"/>
              <a:t>berbal</a:t>
            </a:r>
            <a:r>
              <a:rPr lang="en-PH" sz="3200" dirty="0"/>
              <a:t> o </a:t>
            </a:r>
            <a:r>
              <a:rPr lang="en-PH" sz="3200" dirty="0" err="1"/>
              <a:t>hindi</a:t>
            </a:r>
            <a:r>
              <a:rPr lang="en-PH" sz="3200" dirty="0"/>
              <a:t> </a:t>
            </a:r>
            <a:r>
              <a:rPr lang="en-PH" sz="3200" dirty="0" err="1"/>
              <a:t>kwantitatibo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kalikasan</a:t>
            </a:r>
            <a:r>
              <a:rPr lang="en-PH" sz="3200" dirty="0"/>
              <a:t>. </a:t>
            </a:r>
            <a:r>
              <a:rPr lang="en-PH" sz="3200" dirty="0" err="1"/>
              <a:t>Higit</a:t>
            </a:r>
            <a:r>
              <a:rPr lang="en-PH" sz="3200" dirty="0"/>
              <a:t> </a:t>
            </a:r>
            <a:r>
              <a:rPr lang="en-PH" sz="3200" dirty="0" err="1"/>
              <a:t>nitong</a:t>
            </a:r>
            <a:r>
              <a:rPr lang="en-PH" sz="3200" dirty="0"/>
              <a:t> </a:t>
            </a:r>
            <a:r>
              <a:rPr lang="en-PH" sz="3200" dirty="0" err="1"/>
              <a:t>binibigyang-pansin</a:t>
            </a:r>
            <a:r>
              <a:rPr lang="en-PH" sz="3200" dirty="0"/>
              <a:t> ang </a:t>
            </a:r>
            <a:r>
              <a:rPr lang="en-PH" sz="3200" b="1" dirty="0" err="1"/>
              <a:t>nakikitang</a:t>
            </a:r>
            <a:r>
              <a:rPr lang="en-PH" sz="3200" b="1" dirty="0"/>
              <a:t> </a:t>
            </a:r>
            <a:r>
              <a:rPr lang="en-PH" sz="3200" b="1" dirty="0" err="1"/>
              <a:t>nilalaman</a:t>
            </a:r>
            <a:r>
              <a:rPr lang="en-PH" sz="3200" b="1" dirty="0"/>
              <a:t> (manifest content)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direktang</a:t>
            </a:r>
            <a:r>
              <a:rPr lang="en-PH" sz="3200" dirty="0"/>
              <a:t> </a:t>
            </a:r>
            <a:r>
              <a:rPr lang="en-PH" sz="3200" dirty="0" err="1"/>
              <a:t>makikita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mensahe</a:t>
            </a:r>
            <a:r>
              <a:rPr lang="en-PH" sz="3200" dirty="0"/>
              <a:t>, </a:t>
            </a:r>
            <a:r>
              <a:rPr lang="en-PH" sz="3200" dirty="0" err="1"/>
              <a:t>kaysa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b="1" dirty="0" err="1"/>
              <a:t>hindi</a:t>
            </a:r>
            <a:r>
              <a:rPr lang="en-PH" sz="3200" b="1" dirty="0"/>
              <a:t> </a:t>
            </a:r>
            <a:r>
              <a:rPr lang="en-PH" sz="3200" b="1" dirty="0" err="1"/>
              <a:t>aktibong</a:t>
            </a:r>
            <a:r>
              <a:rPr lang="en-PH" sz="3200" b="1" dirty="0"/>
              <a:t> </a:t>
            </a:r>
            <a:r>
              <a:rPr lang="en-PH" sz="3200" b="1" dirty="0" err="1"/>
              <a:t>nilalaman</a:t>
            </a:r>
            <a:r>
              <a:rPr lang="en-PH" sz="3200" b="1" dirty="0"/>
              <a:t> (latent content)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nangangailangan</a:t>
            </a:r>
            <a:r>
              <a:rPr lang="en-PH" sz="3200" dirty="0"/>
              <a:t> ng </a:t>
            </a:r>
            <a:r>
              <a:rPr lang="en-PH" sz="3200" dirty="0" err="1"/>
              <a:t>masusing</a:t>
            </a:r>
            <a:r>
              <a:rPr lang="en-PH" sz="3200" dirty="0"/>
              <a:t> </a:t>
            </a:r>
            <a:r>
              <a:rPr lang="en-PH" sz="3200" dirty="0" err="1"/>
              <a:t>interpretasyon</a:t>
            </a:r>
            <a:r>
              <a:rPr lang="en-PH" sz="3200" dirty="0"/>
              <a:t> </a:t>
            </a:r>
            <a:r>
              <a:rPr lang="en-PH" sz="3200" dirty="0" err="1"/>
              <a:t>batay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konteksto</a:t>
            </a:r>
            <a:r>
              <a:rPr lang="en-PH" sz="3200" dirty="0"/>
              <a:t>.</a:t>
            </a:r>
            <a:endParaRPr lang="en-PH" sz="3200" u="none" strike="noStrike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Metodo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Pag-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aaral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Epekto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Midya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 Media)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1077" y="1273210"/>
            <a:ext cx="14949745" cy="8412182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853726" y="2378812"/>
            <a:ext cx="12154675" cy="5729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n-PH" sz="3200" b="1" dirty="0" err="1"/>
              <a:t>Sarbey</a:t>
            </a:r>
            <a:endParaRPr lang="en-PH" sz="3200" dirty="0"/>
          </a:p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n-PH" sz="3200" dirty="0"/>
              <a:t>Ang </a:t>
            </a:r>
            <a:r>
              <a:rPr lang="en-PH" sz="3200" b="1" dirty="0" err="1"/>
              <a:t>sarbey</a:t>
            </a:r>
            <a:r>
              <a:rPr lang="en-PH" sz="3200" b="1" dirty="0"/>
              <a:t> (survey)</a:t>
            </a:r>
            <a:r>
              <a:rPr lang="en-PH" sz="3200" dirty="0"/>
              <a:t> ay </a:t>
            </a:r>
            <a:r>
              <a:rPr lang="en-PH" sz="3200" dirty="0" err="1"/>
              <a:t>isang</a:t>
            </a:r>
            <a:r>
              <a:rPr lang="en-PH" sz="3200" dirty="0"/>
              <a:t> popular at </a:t>
            </a:r>
            <a:r>
              <a:rPr lang="en-PH" sz="3200" dirty="0" err="1"/>
              <a:t>epektibong</a:t>
            </a:r>
            <a:r>
              <a:rPr lang="en-PH" sz="3200" dirty="0"/>
              <a:t> </a:t>
            </a:r>
            <a:r>
              <a:rPr lang="en-PH" sz="3200" dirty="0" err="1"/>
              <a:t>metodo</a:t>
            </a:r>
            <a:r>
              <a:rPr lang="en-PH" sz="3200" dirty="0"/>
              <a:t> ng </a:t>
            </a:r>
            <a:r>
              <a:rPr lang="en-PH" sz="3200" dirty="0" err="1"/>
              <a:t>pananaliksik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ginagamit</a:t>
            </a:r>
            <a:r>
              <a:rPr lang="en-PH" sz="3200" dirty="0"/>
              <a:t> </a:t>
            </a:r>
            <a:r>
              <a:rPr lang="en-PH" sz="3200" dirty="0" err="1"/>
              <a:t>upang</a:t>
            </a:r>
            <a:r>
              <a:rPr lang="en-PH" sz="3200" dirty="0"/>
              <a:t> </a:t>
            </a:r>
            <a:r>
              <a:rPr lang="en-PH" sz="3200" dirty="0" err="1"/>
              <a:t>makuha</a:t>
            </a:r>
            <a:r>
              <a:rPr lang="en-PH" sz="3200" dirty="0"/>
              <a:t> ang </a:t>
            </a:r>
            <a:r>
              <a:rPr lang="en-PH" sz="3200" dirty="0" err="1"/>
              <a:t>pananaw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tao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isang</a:t>
            </a:r>
            <a:r>
              <a:rPr lang="en-PH" sz="3200" dirty="0"/>
              <a:t> </a:t>
            </a:r>
            <a:r>
              <a:rPr lang="en-PH" sz="3200" dirty="0" err="1"/>
              <a:t>malaking</a:t>
            </a:r>
            <a:r>
              <a:rPr lang="en-PH" sz="3200" dirty="0"/>
              <a:t> </a:t>
            </a:r>
            <a:r>
              <a:rPr lang="en-PH" sz="3200" dirty="0" err="1"/>
              <a:t>populasyon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pamamagitan</a:t>
            </a:r>
            <a:r>
              <a:rPr lang="en-PH" sz="3200" dirty="0"/>
              <a:t> ng </a:t>
            </a:r>
            <a:r>
              <a:rPr lang="en-PH" sz="3200" dirty="0" err="1"/>
              <a:t>pagsasampol</a:t>
            </a:r>
            <a:r>
              <a:rPr lang="en-PH" sz="3200" dirty="0"/>
              <a:t>. Sa </a:t>
            </a:r>
            <a:r>
              <a:rPr lang="en-PH" sz="3200" dirty="0" err="1"/>
              <a:t>larangan</a:t>
            </a:r>
            <a:r>
              <a:rPr lang="en-PH" sz="3200" dirty="0"/>
              <a:t> ng </a:t>
            </a:r>
            <a:r>
              <a:rPr lang="en-PH" sz="3200" dirty="0" err="1"/>
              <a:t>komunikasyong</a:t>
            </a:r>
            <a:r>
              <a:rPr lang="en-PH" sz="3200" dirty="0"/>
              <a:t> </a:t>
            </a:r>
            <a:r>
              <a:rPr lang="en-PH" sz="3200" dirty="0" err="1"/>
              <a:t>pangmadla</a:t>
            </a:r>
            <a:r>
              <a:rPr lang="en-PH" sz="3200" dirty="0"/>
              <a:t>, </a:t>
            </a:r>
            <a:r>
              <a:rPr lang="en-PH" sz="3200" dirty="0" err="1"/>
              <a:t>ginagamit</a:t>
            </a:r>
            <a:r>
              <a:rPr lang="en-PH" sz="3200" dirty="0"/>
              <a:t> </a:t>
            </a:r>
            <a:r>
              <a:rPr lang="en-PH" sz="3200" dirty="0" err="1"/>
              <a:t>ito</a:t>
            </a:r>
            <a:r>
              <a:rPr lang="en-PH" sz="3200" dirty="0"/>
              <a:t> </a:t>
            </a:r>
            <a:r>
              <a:rPr lang="en-PH" sz="3200" dirty="0" err="1"/>
              <a:t>upang</a:t>
            </a:r>
            <a:r>
              <a:rPr lang="en-PH" sz="3200" dirty="0"/>
              <a:t> </a:t>
            </a:r>
            <a:r>
              <a:rPr lang="en-PH" sz="3200" dirty="0" err="1"/>
              <a:t>sukatin</a:t>
            </a:r>
            <a:r>
              <a:rPr lang="en-PH" sz="3200" dirty="0"/>
              <a:t> ang </a:t>
            </a:r>
            <a:r>
              <a:rPr lang="en-PH" sz="3200" dirty="0" err="1"/>
              <a:t>pagtangkilik</a:t>
            </a:r>
            <a:r>
              <a:rPr lang="en-PH" sz="3200" dirty="0"/>
              <a:t> ng </a:t>
            </a:r>
            <a:r>
              <a:rPr lang="en-PH" sz="3200" dirty="0" err="1"/>
              <a:t>tao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programa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telebisyon</a:t>
            </a:r>
            <a:r>
              <a:rPr lang="en-PH" sz="3200" dirty="0"/>
              <a:t> at </a:t>
            </a:r>
            <a:r>
              <a:rPr lang="en-PH" sz="3200" dirty="0" err="1"/>
              <a:t>iba</a:t>
            </a:r>
            <a:r>
              <a:rPr lang="en-PH" sz="3200" dirty="0"/>
              <a:t> pang </a:t>
            </a:r>
            <a:r>
              <a:rPr lang="en-PH" sz="3200" dirty="0" err="1"/>
              <a:t>midya</a:t>
            </a:r>
            <a:r>
              <a:rPr lang="en-PH" sz="3200" dirty="0"/>
              <a:t>,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maaaring</a:t>
            </a:r>
            <a:r>
              <a:rPr lang="en-PH" sz="3200" dirty="0"/>
              <a:t> </a:t>
            </a:r>
            <a:r>
              <a:rPr lang="en-PH" sz="3200" dirty="0" err="1"/>
              <a:t>makatulong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pagpapabuti</a:t>
            </a:r>
            <a:r>
              <a:rPr lang="en-PH" sz="3200" dirty="0"/>
              <a:t> o </a:t>
            </a:r>
            <a:r>
              <a:rPr lang="en-PH" sz="3200" dirty="0" err="1"/>
              <a:t>pagpapalit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ito</a:t>
            </a:r>
            <a:r>
              <a:rPr lang="en-PH" sz="3200" dirty="0"/>
              <a:t>. </a:t>
            </a:r>
            <a:r>
              <a:rPr lang="en-PH" sz="3200" dirty="0" err="1"/>
              <a:t>Bukod</a:t>
            </a:r>
            <a:r>
              <a:rPr lang="en-PH" sz="3200" dirty="0"/>
              <a:t> </a:t>
            </a:r>
            <a:r>
              <a:rPr lang="en-PH" sz="3200" dirty="0" err="1"/>
              <a:t>dito</a:t>
            </a:r>
            <a:r>
              <a:rPr lang="en-PH" sz="3200" dirty="0"/>
              <a:t>, ang </a:t>
            </a:r>
            <a:r>
              <a:rPr lang="en-PH" sz="3200" dirty="0" err="1"/>
              <a:t>sarbey</a:t>
            </a:r>
            <a:r>
              <a:rPr lang="en-PH" sz="3200" dirty="0"/>
              <a:t> ay </a:t>
            </a:r>
            <a:r>
              <a:rPr lang="en-PH" sz="3200" dirty="0" err="1"/>
              <a:t>nakakatulong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pag-unawa</a:t>
            </a:r>
            <a:r>
              <a:rPr lang="en-PH" sz="3200" dirty="0"/>
              <a:t> ng </a:t>
            </a:r>
            <a:r>
              <a:rPr lang="en-PH" sz="3200" b="1" dirty="0"/>
              <a:t>media habits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manonood</a:t>
            </a:r>
            <a:r>
              <a:rPr lang="en-PH" sz="3200" dirty="0"/>
              <a:t> at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pagsusuri</a:t>
            </a:r>
            <a:r>
              <a:rPr lang="en-PH" sz="3200" dirty="0"/>
              <a:t> ng </a:t>
            </a:r>
            <a:r>
              <a:rPr lang="en-PH" sz="3200" dirty="0" err="1"/>
              <a:t>ugnayan</a:t>
            </a:r>
            <a:r>
              <a:rPr lang="en-PH" sz="3200" dirty="0"/>
              <a:t> ng </a:t>
            </a:r>
            <a:r>
              <a:rPr lang="en-PH" sz="3200" dirty="0" err="1"/>
              <a:t>iba't</a:t>
            </a:r>
            <a:r>
              <a:rPr lang="en-PH" sz="3200" dirty="0"/>
              <a:t> </a:t>
            </a:r>
            <a:r>
              <a:rPr lang="en-PH" sz="3200" dirty="0" err="1"/>
              <a:t>ibang</a:t>
            </a:r>
            <a:r>
              <a:rPr lang="en-PH" sz="3200" dirty="0"/>
              <a:t> </a:t>
            </a:r>
            <a:r>
              <a:rPr lang="en-PH" sz="3200" dirty="0" err="1"/>
              <a:t>baryabol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may </a:t>
            </a:r>
            <a:r>
              <a:rPr lang="en-PH" sz="3200" dirty="0" err="1"/>
              <a:t>kaugnayan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midya</a:t>
            </a:r>
            <a:r>
              <a:rPr lang="en-PH" sz="3200" dirty="0"/>
              <a:t>.</a:t>
            </a:r>
            <a:endParaRPr lang="en-PH" sz="3200" u="none" strike="noStrike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Metodo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Pag-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aaral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Epekto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Midya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 Media)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360900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1077" y="1273210"/>
            <a:ext cx="14949745" cy="8412182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853726" y="2378812"/>
            <a:ext cx="12154675" cy="6670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15000"/>
              </a:lnSpc>
              <a:spcAft>
                <a:spcPts val="1000"/>
              </a:spcAft>
            </a:pPr>
            <a:r>
              <a:rPr lang="en-GB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Mga </a:t>
            </a:r>
            <a:r>
              <a:rPr lang="en-GB" sz="4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bukas</a:t>
            </a:r>
            <a:r>
              <a:rPr lang="en-GB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GB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katanungan</a:t>
            </a:r>
            <a:r>
              <a:rPr lang="en-GB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(open-ended)</a:t>
            </a:r>
            <a:endParaRPr lang="en-PH" sz="44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215" algn="just">
              <a:lnSpc>
                <a:spcPct val="107000"/>
              </a:lnSpc>
              <a:spcAft>
                <a:spcPts val="800"/>
              </a:spcAft>
            </a:pPr>
            <a:r>
              <a:rPr lang="en-PH" sz="4400" dirty="0"/>
              <a:t>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bukas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katanungan</a:t>
            </a:r>
            <a:r>
              <a:rPr lang="en-PH" sz="4400" dirty="0"/>
              <a:t> ay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tanong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hindi</a:t>
            </a:r>
            <a:r>
              <a:rPr lang="en-PH" sz="4400" dirty="0"/>
              <a:t> </a:t>
            </a:r>
            <a:r>
              <a:rPr lang="en-PH" sz="4400" dirty="0" err="1"/>
              <a:t>nasasagot</a:t>
            </a:r>
            <a:r>
              <a:rPr lang="en-PH" sz="4400" dirty="0"/>
              <a:t> ng </a:t>
            </a:r>
            <a:r>
              <a:rPr lang="en-PH" sz="4400" dirty="0" err="1"/>
              <a:t>simpleng</a:t>
            </a:r>
            <a:r>
              <a:rPr lang="en-PH" sz="4400" dirty="0"/>
              <a:t> "</a:t>
            </a:r>
            <a:r>
              <a:rPr lang="en-PH" sz="4400" dirty="0" err="1"/>
              <a:t>oo</a:t>
            </a:r>
            <a:r>
              <a:rPr lang="en-PH" sz="4400" dirty="0"/>
              <a:t>" o "</a:t>
            </a:r>
            <a:r>
              <a:rPr lang="en-PH" sz="4400" dirty="0" err="1"/>
              <a:t>hindi</a:t>
            </a:r>
            <a:r>
              <a:rPr lang="en-PH" sz="4400" dirty="0"/>
              <a:t>." </a:t>
            </a:r>
            <a:r>
              <a:rPr lang="en-PH" sz="4400" dirty="0" err="1"/>
              <a:t>Layunin</a:t>
            </a:r>
            <a:r>
              <a:rPr lang="en-PH" sz="4400" dirty="0"/>
              <a:t> </a:t>
            </a:r>
            <a:r>
              <a:rPr lang="en-PH" sz="4400" dirty="0" err="1"/>
              <a:t>nitong</a:t>
            </a:r>
            <a:r>
              <a:rPr lang="en-PH" sz="4400" dirty="0"/>
              <a:t> </a:t>
            </a:r>
            <a:r>
              <a:rPr lang="en-PH" sz="4400" dirty="0" err="1"/>
              <a:t>makuha</a:t>
            </a:r>
            <a:r>
              <a:rPr lang="en-PH" sz="4400" dirty="0"/>
              <a:t> ang </a:t>
            </a:r>
            <a:r>
              <a:rPr lang="en-PH" sz="4400" dirty="0" err="1"/>
              <a:t>opinyon</a:t>
            </a:r>
            <a:r>
              <a:rPr lang="en-PH" sz="4400" dirty="0"/>
              <a:t>, </a:t>
            </a:r>
            <a:r>
              <a:rPr lang="en-PH" sz="4400" dirty="0" err="1"/>
              <a:t>damdamin</a:t>
            </a:r>
            <a:r>
              <a:rPr lang="en-PH" sz="4400" dirty="0"/>
              <a:t>, at </a:t>
            </a:r>
            <a:r>
              <a:rPr lang="en-PH" sz="4400" dirty="0" err="1"/>
              <a:t>karanasan</a:t>
            </a:r>
            <a:r>
              <a:rPr lang="en-PH" sz="4400" dirty="0"/>
              <a:t> ng </a:t>
            </a:r>
            <a:r>
              <a:rPr lang="en-PH" sz="4400" dirty="0" err="1"/>
              <a:t>isang</a:t>
            </a:r>
            <a:r>
              <a:rPr lang="en-PH" sz="4400" dirty="0"/>
              <a:t> </a:t>
            </a:r>
            <a:r>
              <a:rPr lang="en-PH" sz="4400" dirty="0" err="1"/>
              <a:t>tao</a:t>
            </a:r>
            <a:r>
              <a:rPr lang="en-PH" sz="4400" dirty="0"/>
              <a:t>. </a:t>
            </a:r>
            <a:r>
              <a:rPr lang="en-PH" sz="4400" dirty="0" err="1"/>
              <a:t>Karaniwang</a:t>
            </a:r>
            <a:r>
              <a:rPr lang="en-PH" sz="4400" dirty="0"/>
              <a:t> </a:t>
            </a:r>
            <a:r>
              <a:rPr lang="en-PH" sz="4400" dirty="0" err="1"/>
              <a:t>ginagamit</a:t>
            </a:r>
            <a:r>
              <a:rPr lang="en-PH" sz="4400" dirty="0"/>
              <a:t> </a:t>
            </a:r>
            <a:r>
              <a:rPr lang="en-PH" sz="4400" dirty="0" err="1"/>
              <a:t>ito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pananaliksik</a:t>
            </a:r>
            <a:r>
              <a:rPr lang="en-PH" sz="4400" dirty="0"/>
              <a:t> at </a:t>
            </a:r>
            <a:r>
              <a:rPr lang="en-PH" sz="4400" dirty="0" err="1"/>
              <a:t>panayam</a:t>
            </a:r>
            <a:r>
              <a:rPr lang="en-PH" sz="4400" dirty="0"/>
              <a:t> </a:t>
            </a:r>
            <a:r>
              <a:rPr lang="en-PH" sz="4400" dirty="0" err="1"/>
              <a:t>upang</a:t>
            </a:r>
            <a:r>
              <a:rPr lang="en-PH" sz="4400" dirty="0"/>
              <a:t> </a:t>
            </a:r>
            <a:r>
              <a:rPr lang="en-PH" sz="4400" dirty="0" err="1"/>
              <a:t>makuha</a:t>
            </a:r>
            <a:r>
              <a:rPr lang="en-PH" sz="4400" dirty="0"/>
              <a:t> ang mas </a:t>
            </a:r>
            <a:r>
              <a:rPr lang="en-PH" sz="4400" dirty="0" err="1"/>
              <a:t>malalim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pananaw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respondente</a:t>
            </a:r>
            <a:r>
              <a:rPr lang="en-PH" sz="4400" dirty="0"/>
              <a:t>. </a:t>
            </a:r>
            <a:r>
              <a:rPr lang="en-PH" sz="4400" dirty="0" err="1"/>
              <a:t>Halimbawa</a:t>
            </a:r>
            <a:r>
              <a:rPr lang="en-PH" sz="4400" dirty="0"/>
              <a:t>: </a:t>
            </a:r>
            <a:r>
              <a:rPr lang="en-PH" sz="4400" b="1" dirty="0"/>
              <a:t>"</a:t>
            </a:r>
            <a:r>
              <a:rPr lang="en-PH" sz="4400" b="1" dirty="0" err="1"/>
              <a:t>Ano</a:t>
            </a:r>
            <a:r>
              <a:rPr lang="en-PH" sz="4400" b="1" dirty="0"/>
              <a:t> ang </a:t>
            </a:r>
            <a:r>
              <a:rPr lang="en-PH" sz="4400" b="1" dirty="0" err="1"/>
              <a:t>epekto</a:t>
            </a:r>
            <a:r>
              <a:rPr lang="en-PH" sz="4400" b="1" dirty="0"/>
              <a:t> ng social media </a:t>
            </a:r>
            <a:r>
              <a:rPr lang="en-PH" sz="4400" b="1" dirty="0" err="1"/>
              <a:t>sa</a:t>
            </a:r>
            <a:r>
              <a:rPr lang="en-PH" sz="4400" b="1" dirty="0"/>
              <a:t> </a:t>
            </a:r>
            <a:r>
              <a:rPr lang="en-PH" sz="4400" b="1" dirty="0" err="1"/>
              <a:t>iyong</a:t>
            </a:r>
            <a:r>
              <a:rPr lang="en-PH" sz="4400" b="1" dirty="0"/>
              <a:t> </a:t>
            </a:r>
            <a:r>
              <a:rPr lang="en-PH" sz="4400" b="1" dirty="0" err="1"/>
              <a:t>buhay</a:t>
            </a:r>
            <a:r>
              <a:rPr lang="en-PH" sz="4400" b="1" dirty="0"/>
              <a:t>?"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Gabay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Pagbuo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Talatanungan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Sarbey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(Survey)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94094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1077" y="1273210"/>
            <a:ext cx="14949745" cy="8412182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853726" y="2378812"/>
            <a:ext cx="12154675" cy="5727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15000"/>
              </a:lnSpc>
              <a:spcAft>
                <a:spcPts val="1000"/>
              </a:spcAft>
            </a:pP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Mga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katanungan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maraming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pagpipilian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(Multiple Choice Question)</a:t>
            </a:r>
          </a:p>
          <a:p>
            <a:pPr marL="450215" algn="just">
              <a:lnSpc>
                <a:spcPct val="107000"/>
              </a:lnSpc>
              <a:spcAft>
                <a:spcPts val="800"/>
              </a:spcAft>
            </a:pP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Karaniwang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ibinibigay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ganitong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katanungan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upang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alamin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demograpikong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kaligiran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respondente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pag-aaral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 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sakop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usapin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(range of issues).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Maaaring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magbigay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isa o maraming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kasagutan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mananaliksik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depende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panuto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kanyang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ibibigay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PH" sz="36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Halimbawa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Kasarian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	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_______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Lalaki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_______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Babae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Gabay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Pagbuo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Talatanungan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Sarbey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(Survey)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367657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1077" y="1273210"/>
            <a:ext cx="14949745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853726" y="2378812"/>
            <a:ext cx="12154675" cy="7264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15000"/>
              </a:lnSpc>
              <a:spcAft>
                <a:spcPts val="1000"/>
              </a:spcAft>
            </a:pPr>
            <a:r>
              <a:rPr lang="en-PH" sz="3600" dirty="0"/>
              <a:t>Ang </a:t>
            </a:r>
            <a:r>
              <a:rPr lang="en-PH" sz="3600" b="1" dirty="0"/>
              <a:t>Ordinal Scale Questions</a:t>
            </a:r>
            <a:r>
              <a:rPr lang="en-PH" sz="3600" dirty="0"/>
              <a:t> ay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katanungan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gumagamit</a:t>
            </a:r>
            <a:r>
              <a:rPr lang="en-PH" sz="3600" dirty="0"/>
              <a:t> ng </a:t>
            </a:r>
            <a:r>
              <a:rPr lang="en-PH" sz="3600" b="1" dirty="0" err="1"/>
              <a:t>iskalang</a:t>
            </a:r>
            <a:r>
              <a:rPr lang="en-PH" sz="3600" b="1" dirty="0"/>
              <a:t> ordinal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ayusin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sagot</a:t>
            </a:r>
            <a:r>
              <a:rPr lang="en-PH" sz="3600" dirty="0"/>
              <a:t> </a:t>
            </a:r>
            <a:r>
              <a:rPr lang="en-PH" sz="3600" dirty="0" err="1"/>
              <a:t>batay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pagkakasunod-sunod</a:t>
            </a:r>
            <a:r>
              <a:rPr lang="en-PH" sz="3600" dirty="0"/>
              <a:t> o </a:t>
            </a:r>
            <a:r>
              <a:rPr lang="en-PH" sz="3600" dirty="0" err="1"/>
              <a:t>ranggo</a:t>
            </a:r>
            <a:r>
              <a:rPr lang="en-PH" sz="3600" dirty="0"/>
              <a:t>. Hindi </a:t>
            </a:r>
            <a:r>
              <a:rPr lang="en-PH" sz="3600" dirty="0" err="1"/>
              <a:t>nito</a:t>
            </a:r>
            <a:r>
              <a:rPr lang="en-PH" sz="3600" dirty="0"/>
              <a:t> </a:t>
            </a:r>
            <a:r>
              <a:rPr lang="en-PH" sz="3600" dirty="0" err="1"/>
              <a:t>sinusukat</a:t>
            </a:r>
            <a:r>
              <a:rPr lang="en-PH" sz="3600" dirty="0"/>
              <a:t> ang </a:t>
            </a:r>
            <a:r>
              <a:rPr lang="en-PH" sz="3600" dirty="0" err="1"/>
              <a:t>eksaktong</a:t>
            </a:r>
            <a:r>
              <a:rPr lang="en-PH" sz="3600" dirty="0"/>
              <a:t> </a:t>
            </a:r>
            <a:r>
              <a:rPr lang="en-PH" sz="3600" dirty="0" err="1"/>
              <a:t>halaga</a:t>
            </a:r>
            <a:r>
              <a:rPr lang="en-PH" sz="3600" dirty="0"/>
              <a:t> ng </a:t>
            </a:r>
            <a:r>
              <a:rPr lang="en-PH" sz="3600" dirty="0" err="1"/>
              <a:t>sagot</a:t>
            </a:r>
            <a:r>
              <a:rPr lang="en-PH" sz="3600" dirty="0"/>
              <a:t>, </a:t>
            </a:r>
            <a:r>
              <a:rPr lang="en-PH" sz="3600" dirty="0" err="1"/>
              <a:t>kundi</a:t>
            </a:r>
            <a:r>
              <a:rPr lang="en-PH" sz="3600" dirty="0"/>
              <a:t> ang </a:t>
            </a:r>
            <a:r>
              <a:rPr lang="en-PH" sz="3600" b="1" dirty="0" err="1"/>
              <a:t>pagkakasunod-sunod</a:t>
            </a:r>
            <a:r>
              <a:rPr lang="en-PH" sz="3600" dirty="0"/>
              <a:t> o </a:t>
            </a:r>
            <a:r>
              <a:rPr lang="en-PH" sz="3600" b="1" dirty="0" err="1"/>
              <a:t>pagkaka-priyoridad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pagpipilian</a:t>
            </a:r>
            <a:r>
              <a:rPr lang="en-PH" sz="3600" dirty="0"/>
              <a:t>.</a:t>
            </a:r>
          </a:p>
          <a:p>
            <a:pPr lvl="0" algn="just">
              <a:lnSpc>
                <a:spcPct val="115000"/>
              </a:lnSpc>
              <a:spcAft>
                <a:spcPts val="1000"/>
              </a:spcAft>
            </a:pPr>
            <a:r>
              <a:rPr lang="en-PH" sz="3600" dirty="0" err="1"/>
              <a:t>Halimbawa</a:t>
            </a:r>
            <a:endParaRPr lang="en-PH" sz="3600" dirty="0"/>
          </a:p>
          <a:p>
            <a:r>
              <a:rPr lang="en-PH" sz="2800" b="1" dirty="0" err="1"/>
              <a:t>Gaano</a:t>
            </a:r>
            <a:r>
              <a:rPr lang="en-PH" sz="2800" b="1" dirty="0"/>
              <a:t> ka-</a:t>
            </a:r>
            <a:r>
              <a:rPr lang="en-PH" sz="2800" b="1" dirty="0" err="1"/>
              <a:t>kasaya</a:t>
            </a:r>
            <a:r>
              <a:rPr lang="en-PH" sz="2800" b="1" dirty="0"/>
              <a:t> </a:t>
            </a:r>
            <a:r>
              <a:rPr lang="en-PH" sz="2800" b="1" dirty="0" err="1"/>
              <a:t>sa</a:t>
            </a:r>
            <a:r>
              <a:rPr lang="en-PH" sz="2800" b="1" dirty="0"/>
              <a:t> </a:t>
            </a:r>
            <a:r>
              <a:rPr lang="en-PH" sz="2800" b="1" dirty="0" err="1"/>
              <a:t>sumusunod</a:t>
            </a:r>
            <a:r>
              <a:rPr lang="en-PH" sz="2800" b="1" dirty="0"/>
              <a:t> </a:t>
            </a:r>
            <a:r>
              <a:rPr lang="en-PH" sz="2800" b="1" dirty="0" err="1"/>
              <a:t>na</a:t>
            </a:r>
            <a:r>
              <a:rPr lang="en-PH" sz="2800" b="1" dirty="0"/>
              <a:t> </a:t>
            </a:r>
            <a:r>
              <a:rPr lang="en-PH" sz="2800" b="1" dirty="0" err="1"/>
              <a:t>aspeto</a:t>
            </a:r>
            <a:r>
              <a:rPr lang="en-PH" sz="2800" b="1" dirty="0"/>
              <a:t> ng seminar? (1 = Hindi Masaya, 5 = </a:t>
            </a:r>
            <a:r>
              <a:rPr lang="en-PH" sz="2800" b="1" dirty="0" err="1"/>
              <a:t>Lubos</a:t>
            </a:r>
            <a:r>
              <a:rPr lang="en-PH" sz="2800" b="1" dirty="0"/>
              <a:t> </a:t>
            </a:r>
            <a:r>
              <a:rPr lang="en-PH" sz="2800" b="1" dirty="0" err="1"/>
              <a:t>na</a:t>
            </a:r>
            <a:r>
              <a:rPr lang="en-PH" sz="2800" b="1" dirty="0"/>
              <a:t> Masaya)</a:t>
            </a:r>
            <a:endParaRPr lang="en-PH" sz="2800" dirty="0"/>
          </a:p>
          <a:p>
            <a:r>
              <a:rPr lang="en-PH" sz="2800" dirty="0"/>
              <a:t>___ </a:t>
            </a:r>
            <a:r>
              <a:rPr lang="en-PH" sz="2800" dirty="0" err="1"/>
              <a:t>Nilalaman</a:t>
            </a:r>
            <a:r>
              <a:rPr lang="en-PH" sz="2800" dirty="0"/>
              <a:t> ng </a:t>
            </a:r>
            <a:r>
              <a:rPr lang="en-PH" sz="2800" dirty="0" err="1"/>
              <a:t>Leksyon</a:t>
            </a:r>
            <a:endParaRPr lang="en-PH" sz="2800" dirty="0"/>
          </a:p>
          <a:p>
            <a:r>
              <a:rPr lang="en-PH" sz="2800" dirty="0"/>
              <a:t>___ </a:t>
            </a:r>
            <a:r>
              <a:rPr lang="en-PH" sz="2800" dirty="0" err="1"/>
              <a:t>Paraan</a:t>
            </a:r>
            <a:r>
              <a:rPr lang="en-PH" sz="2800" dirty="0"/>
              <a:t> ng </a:t>
            </a:r>
            <a:r>
              <a:rPr lang="en-PH" sz="2800" dirty="0" err="1"/>
              <a:t>Pagtuturo</a:t>
            </a:r>
            <a:endParaRPr lang="en-PH" sz="2800" dirty="0"/>
          </a:p>
          <a:p>
            <a:r>
              <a:rPr lang="en-PH" sz="2800" dirty="0"/>
              <a:t>___ </a:t>
            </a:r>
            <a:r>
              <a:rPr lang="en-PH" sz="2800" dirty="0" err="1"/>
              <a:t>Interaksyon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Kapwa</a:t>
            </a:r>
            <a:r>
              <a:rPr lang="en-PH" sz="2800" dirty="0"/>
              <a:t> </a:t>
            </a:r>
            <a:r>
              <a:rPr lang="en-PH" sz="2800" dirty="0" err="1"/>
              <a:t>Kalahok</a:t>
            </a:r>
            <a:endParaRPr lang="en-PH" sz="2800" dirty="0"/>
          </a:p>
          <a:p>
            <a:r>
              <a:rPr lang="en-PH" sz="2800" dirty="0"/>
              <a:t>___ Lugar ng Seminar</a:t>
            </a:r>
          </a:p>
          <a:p>
            <a:pPr lvl="0" algn="just">
              <a:lnSpc>
                <a:spcPct val="115000"/>
              </a:lnSpc>
              <a:spcAft>
                <a:spcPts val="1000"/>
              </a:spcAft>
            </a:pP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Gabay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Pagbuo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Talatanungan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Sarbey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(Survey)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331800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1077" y="1273210"/>
            <a:ext cx="14949745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853726" y="2378812"/>
            <a:ext cx="12154675" cy="8639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15000"/>
              </a:lnSpc>
              <a:spcAft>
                <a:spcPts val="1000"/>
              </a:spcAft>
            </a:pPr>
            <a:r>
              <a:rPr lang="en-PH" sz="3600" dirty="0"/>
              <a:t>Ang </a:t>
            </a:r>
            <a:r>
              <a:rPr lang="en-PH" sz="3600" b="1" dirty="0"/>
              <a:t>Interval Scale Questions</a:t>
            </a:r>
            <a:r>
              <a:rPr lang="en-PH" sz="3600" dirty="0"/>
              <a:t> ay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katanungan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gumagamit</a:t>
            </a:r>
            <a:r>
              <a:rPr lang="en-PH" sz="3600" dirty="0"/>
              <a:t> ng </a:t>
            </a:r>
            <a:r>
              <a:rPr lang="en-PH" sz="3600" b="1" dirty="0" err="1"/>
              <a:t>iskalang</a:t>
            </a:r>
            <a:r>
              <a:rPr lang="en-PH" sz="3600" b="1" dirty="0"/>
              <a:t> </a:t>
            </a:r>
            <a:r>
              <a:rPr lang="en-PH" sz="3600" b="1" dirty="0" err="1"/>
              <a:t>interbal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sukatin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sagot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may </a:t>
            </a:r>
            <a:r>
              <a:rPr lang="en-PH" sz="3600" b="1" dirty="0" err="1"/>
              <a:t>pantay</a:t>
            </a:r>
            <a:r>
              <a:rPr lang="en-PH" sz="3600" b="1" dirty="0"/>
              <a:t> </a:t>
            </a:r>
            <a:r>
              <a:rPr lang="en-PH" sz="3600" b="1" dirty="0" err="1"/>
              <a:t>na</a:t>
            </a:r>
            <a:r>
              <a:rPr lang="en-PH" sz="3600" b="1" dirty="0"/>
              <a:t> </a:t>
            </a:r>
            <a:r>
              <a:rPr lang="en-PH" sz="3600" b="1" dirty="0" err="1"/>
              <a:t>agwat</a:t>
            </a:r>
            <a:r>
              <a:rPr lang="en-PH" sz="3600" b="1" dirty="0"/>
              <a:t> </a:t>
            </a:r>
            <a:r>
              <a:rPr lang="en-PH" sz="3600" b="1" dirty="0" err="1"/>
              <a:t>sa</a:t>
            </a:r>
            <a:r>
              <a:rPr lang="en-PH" sz="3600" b="1" dirty="0"/>
              <a:t> </a:t>
            </a:r>
            <a:r>
              <a:rPr lang="en-PH" sz="3600" b="1" dirty="0" err="1"/>
              <a:t>pagitan</a:t>
            </a:r>
            <a:r>
              <a:rPr lang="en-PH" sz="3600" b="1" dirty="0"/>
              <a:t> ng </a:t>
            </a:r>
            <a:r>
              <a:rPr lang="en-PH" sz="3600" b="1" dirty="0" err="1"/>
              <a:t>mga</a:t>
            </a:r>
            <a:r>
              <a:rPr lang="en-PH" sz="3600" b="1" dirty="0"/>
              <a:t> </a:t>
            </a:r>
            <a:r>
              <a:rPr lang="en-PH" sz="3600" b="1" dirty="0" err="1"/>
              <a:t>pagpipilian</a:t>
            </a:r>
            <a:r>
              <a:rPr lang="en-PH" sz="3600" dirty="0"/>
              <a:t>. Hindi </a:t>
            </a:r>
            <a:r>
              <a:rPr lang="en-PH" sz="3600" dirty="0" err="1"/>
              <a:t>tulad</a:t>
            </a:r>
            <a:r>
              <a:rPr lang="en-PH" sz="3600" dirty="0"/>
              <a:t> ng ordinal scale, ang interval scale ay </a:t>
            </a:r>
            <a:r>
              <a:rPr lang="en-PH" sz="3600" dirty="0" err="1"/>
              <a:t>nagpapakita</a:t>
            </a:r>
            <a:r>
              <a:rPr lang="en-PH" sz="3600" dirty="0"/>
              <a:t> ng </a:t>
            </a:r>
            <a:r>
              <a:rPr lang="en-PH" sz="3600" dirty="0" err="1"/>
              <a:t>eksaktong</a:t>
            </a:r>
            <a:r>
              <a:rPr lang="en-PH" sz="3600" dirty="0"/>
              <a:t> </a:t>
            </a:r>
            <a:r>
              <a:rPr lang="en-PH" sz="3600" dirty="0" err="1"/>
              <a:t>pagkakaiba</a:t>
            </a:r>
            <a:r>
              <a:rPr lang="en-PH" sz="3600" dirty="0"/>
              <a:t> ng </a:t>
            </a:r>
            <a:r>
              <a:rPr lang="en-PH" sz="3600" dirty="0" err="1"/>
              <a:t>halaga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pagitan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sagot</a:t>
            </a:r>
            <a:r>
              <a:rPr lang="en-PH" sz="3600" dirty="0"/>
              <a:t>, </a:t>
            </a: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b="1" dirty="0" err="1"/>
              <a:t>walang</a:t>
            </a:r>
            <a:r>
              <a:rPr lang="en-PH" sz="3600" b="1" dirty="0"/>
              <a:t> </a:t>
            </a:r>
            <a:r>
              <a:rPr lang="en-PH" sz="3600" b="1" dirty="0" err="1"/>
              <a:t>tunay</a:t>
            </a:r>
            <a:r>
              <a:rPr lang="en-PH" sz="3600" b="1" dirty="0"/>
              <a:t> </a:t>
            </a:r>
            <a:r>
              <a:rPr lang="en-PH" sz="3600" b="1" dirty="0" err="1"/>
              <a:t>na</a:t>
            </a:r>
            <a:r>
              <a:rPr lang="en-PH" sz="3600" b="1" dirty="0"/>
              <a:t> zero point</a:t>
            </a:r>
            <a:r>
              <a:rPr lang="en-PH" sz="3600" dirty="0"/>
              <a:t> (</a:t>
            </a:r>
            <a:r>
              <a:rPr lang="en-PH" sz="3600" dirty="0" err="1"/>
              <a:t>hal</a:t>
            </a:r>
            <a:r>
              <a:rPr lang="en-PH" sz="3600" dirty="0"/>
              <a:t>., ang 0 ay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nangangahulugang</a:t>
            </a:r>
            <a:r>
              <a:rPr lang="en-PH" sz="3600" dirty="0"/>
              <a:t> “</a:t>
            </a:r>
            <a:r>
              <a:rPr lang="en-PH" sz="3600" dirty="0" err="1"/>
              <a:t>wala</a:t>
            </a:r>
            <a:r>
              <a:rPr lang="en-PH" sz="3600" dirty="0"/>
              <a:t>”).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PH" sz="3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Halimbawa</a:t>
            </a:r>
            <a:r>
              <a:rPr lang="en-US" altLang="en-US" sz="3600" dirty="0">
                <a:latin typeface="Arial" panose="020B0604020202020204" pitchFamily="34" charset="0"/>
              </a:rPr>
              <a:t>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1- </a:t>
            </a:r>
            <a:r>
              <a:rPr lang="en-US" altLang="en-US" sz="3600" dirty="0" err="1">
                <a:latin typeface="Arial" panose="020B0604020202020204" pitchFamily="34" charset="0"/>
              </a:rPr>
              <a:t>Lubos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  <a:r>
              <a:rPr lang="en-US" altLang="en-US" sz="3600" dirty="0" err="1">
                <a:latin typeface="Arial" panose="020B0604020202020204" pitchFamily="34" charset="0"/>
              </a:rPr>
              <a:t>na</a:t>
            </a:r>
            <a:r>
              <a:rPr lang="en-US" altLang="en-US" sz="3600" dirty="0">
                <a:latin typeface="Arial" panose="020B0604020202020204" pitchFamily="34" charset="0"/>
              </a:rPr>
              <a:t> Hindi </a:t>
            </a:r>
            <a:r>
              <a:rPr lang="en-US" altLang="en-US" sz="3600" dirty="0" err="1">
                <a:latin typeface="Arial" panose="020B0604020202020204" pitchFamily="34" charset="0"/>
              </a:rPr>
              <a:t>Sumasang-ayon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2 - Hindi </a:t>
            </a:r>
            <a:r>
              <a:rPr lang="en-US" altLang="en-US" sz="3600" dirty="0" err="1">
                <a:latin typeface="Arial" panose="020B0604020202020204" pitchFamily="34" charset="0"/>
              </a:rPr>
              <a:t>Sumasang-ayon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3 - Neutral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4 - </a:t>
            </a:r>
            <a:r>
              <a:rPr lang="en-US" altLang="en-US" sz="3600" dirty="0" err="1">
                <a:latin typeface="Arial" panose="020B0604020202020204" pitchFamily="34" charset="0"/>
              </a:rPr>
              <a:t>Sumasang-ayon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5 - </a:t>
            </a:r>
            <a:r>
              <a:rPr lang="en-US" altLang="en-US" sz="3600" dirty="0" err="1">
                <a:latin typeface="Arial" panose="020B0604020202020204" pitchFamily="34" charset="0"/>
              </a:rPr>
              <a:t>Lubos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  <a:r>
              <a:rPr lang="en-US" altLang="en-US" sz="3600" dirty="0" err="1">
                <a:latin typeface="Arial" panose="020B0604020202020204" pitchFamily="34" charset="0"/>
              </a:rPr>
              <a:t>na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  <a:r>
              <a:rPr lang="en-US" altLang="en-US" sz="3600" dirty="0" err="1">
                <a:latin typeface="Arial" panose="020B0604020202020204" pitchFamily="34" charset="0"/>
              </a:rPr>
              <a:t>Sumasang-ayon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</a:p>
          <a:p>
            <a:pPr lvl="0" algn="just">
              <a:lnSpc>
                <a:spcPct val="115000"/>
              </a:lnSpc>
              <a:spcAft>
                <a:spcPts val="1000"/>
              </a:spcAft>
            </a:pP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spcAft>
                <a:spcPts val="1000"/>
              </a:spcAft>
            </a:pP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Gabay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Pagbuo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Talatanungan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Sarbey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(Survey)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96044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1077" y="1273210"/>
            <a:ext cx="14949745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801903" y="2566598"/>
            <a:ext cx="12357595" cy="7098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15000"/>
              </a:lnSpc>
              <a:spcAft>
                <a:spcPts val="1000"/>
              </a:spcAft>
            </a:pPr>
            <a:r>
              <a:rPr lang="en-PH" sz="3600" dirty="0"/>
              <a:t>Ang </a:t>
            </a:r>
            <a:r>
              <a:rPr lang="en-PH" sz="3600" b="1" dirty="0" err="1"/>
              <a:t>Iskalang</a:t>
            </a:r>
            <a:r>
              <a:rPr lang="en-PH" sz="3600" b="1" dirty="0"/>
              <a:t> Ratio</a:t>
            </a:r>
            <a:r>
              <a:rPr lang="en-PH" sz="3600" dirty="0"/>
              <a:t> ay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uri</a:t>
            </a:r>
            <a:r>
              <a:rPr lang="en-PH" sz="3600" dirty="0"/>
              <a:t> ng </a:t>
            </a:r>
            <a:r>
              <a:rPr lang="en-PH" sz="3600" dirty="0" err="1"/>
              <a:t>sukatang</a:t>
            </a:r>
            <a:r>
              <a:rPr lang="en-PH" sz="3600" dirty="0"/>
              <a:t> </a:t>
            </a:r>
            <a:r>
              <a:rPr lang="en-PH" sz="3600" dirty="0" err="1"/>
              <a:t>ginagamit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talatanungan</a:t>
            </a:r>
            <a:r>
              <a:rPr lang="en-PH" sz="3600" dirty="0"/>
              <a:t> kung </a:t>
            </a:r>
            <a:r>
              <a:rPr lang="en-PH" sz="3600" dirty="0" err="1"/>
              <a:t>saan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katanungan</a:t>
            </a:r>
            <a:r>
              <a:rPr lang="en-PH" sz="3600" dirty="0"/>
              <a:t> ay </a:t>
            </a:r>
            <a:r>
              <a:rPr lang="en-PH" sz="3600" dirty="0" err="1"/>
              <a:t>mayroong</a:t>
            </a:r>
            <a:r>
              <a:rPr lang="en-PH" sz="3600" dirty="0"/>
              <a:t> </a:t>
            </a:r>
            <a:r>
              <a:rPr lang="en-PH" sz="3600" b="1" dirty="0" err="1"/>
              <a:t>totoong</a:t>
            </a:r>
            <a:r>
              <a:rPr lang="en-PH" sz="3600" b="1" dirty="0"/>
              <a:t> zero (true zero)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nangangahulugang</a:t>
            </a:r>
            <a:r>
              <a:rPr lang="en-PH" sz="3600" dirty="0"/>
              <a:t> ang </a:t>
            </a:r>
            <a:r>
              <a:rPr lang="en-PH" sz="3600" dirty="0" err="1"/>
              <a:t>kawalan</a:t>
            </a:r>
            <a:r>
              <a:rPr lang="en-PH" sz="3600" dirty="0"/>
              <a:t> ng </a:t>
            </a:r>
            <a:r>
              <a:rPr lang="en-PH" sz="3600" dirty="0" err="1"/>
              <a:t>sukat</a:t>
            </a:r>
            <a:r>
              <a:rPr lang="en-PH" sz="3600" dirty="0"/>
              <a:t> o </a:t>
            </a:r>
            <a:r>
              <a:rPr lang="en-PH" sz="3600" dirty="0" err="1"/>
              <a:t>halaga</a:t>
            </a:r>
            <a:r>
              <a:rPr lang="en-PH" sz="3600" dirty="0"/>
              <a:t> ay </a:t>
            </a:r>
            <a:r>
              <a:rPr lang="en-PH" sz="3600" dirty="0" err="1"/>
              <a:t>posible</a:t>
            </a:r>
            <a:r>
              <a:rPr lang="en-PH" sz="3600" dirty="0"/>
              <a:t> (</a:t>
            </a:r>
            <a:r>
              <a:rPr lang="en-PH" sz="3600" dirty="0" err="1"/>
              <a:t>halimbawa</a:t>
            </a:r>
            <a:r>
              <a:rPr lang="en-PH" sz="3600" dirty="0"/>
              <a:t>, 0 </a:t>
            </a:r>
            <a:r>
              <a:rPr lang="en-PH" sz="3600" dirty="0" err="1"/>
              <a:t>oras</a:t>
            </a:r>
            <a:r>
              <a:rPr lang="en-PH" sz="3600" dirty="0"/>
              <a:t> ng </a:t>
            </a:r>
            <a:r>
              <a:rPr lang="en-PH" sz="3600" dirty="0" err="1"/>
              <a:t>panunood</a:t>
            </a:r>
            <a:r>
              <a:rPr lang="en-PH" sz="3600" dirty="0"/>
              <a:t> ng TV). </a:t>
            </a:r>
            <a:r>
              <a:rPr lang="en-PH" sz="3600" dirty="0" err="1"/>
              <a:t>Madaling</a:t>
            </a:r>
            <a:r>
              <a:rPr lang="en-PH" sz="3600" dirty="0"/>
              <a:t> </a:t>
            </a:r>
            <a:r>
              <a:rPr lang="en-PH" sz="3600" dirty="0" err="1"/>
              <a:t>sukatin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tiyak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bilang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kasangkot</a:t>
            </a:r>
            <a:r>
              <a:rPr lang="en-PH" sz="3600" dirty="0"/>
              <a:t>, </a:t>
            </a:r>
            <a:r>
              <a:rPr lang="en-PH" sz="3600" dirty="0" err="1"/>
              <a:t>tulad</a:t>
            </a:r>
            <a:r>
              <a:rPr lang="en-PH" sz="3600" dirty="0"/>
              <a:t> ng </a:t>
            </a:r>
            <a:r>
              <a:rPr lang="en-PH" sz="3600" b="1" dirty="0" err="1"/>
              <a:t>dalas</a:t>
            </a:r>
            <a:r>
              <a:rPr lang="en-PH" sz="3600" b="1" dirty="0"/>
              <a:t> ng </a:t>
            </a:r>
            <a:r>
              <a:rPr lang="en-PH" sz="3600" b="1" dirty="0" err="1"/>
              <a:t>panunood</a:t>
            </a:r>
            <a:r>
              <a:rPr lang="en-PH" sz="3600" b="1" dirty="0"/>
              <a:t> ng </a:t>
            </a:r>
            <a:r>
              <a:rPr lang="en-PH" sz="3600" b="1" dirty="0" err="1"/>
              <a:t>telebisyon</a:t>
            </a:r>
            <a:r>
              <a:rPr lang="en-PH" sz="3600" dirty="0"/>
              <a:t>, </a:t>
            </a:r>
            <a:r>
              <a:rPr lang="en-PH" sz="3600" b="1" dirty="0" err="1"/>
              <a:t>oras</a:t>
            </a:r>
            <a:r>
              <a:rPr lang="en-PH" sz="3600" b="1" dirty="0"/>
              <a:t> </a:t>
            </a:r>
            <a:r>
              <a:rPr lang="en-PH" sz="3600" b="1" dirty="0" err="1"/>
              <a:t>na</a:t>
            </a:r>
            <a:r>
              <a:rPr lang="en-PH" sz="3600" b="1" dirty="0"/>
              <a:t> </a:t>
            </a:r>
            <a:r>
              <a:rPr lang="en-PH" sz="3600" b="1" dirty="0" err="1"/>
              <a:t>inilalaan</a:t>
            </a:r>
            <a:r>
              <a:rPr lang="en-PH" sz="3600" dirty="0"/>
              <a:t>, o </a:t>
            </a:r>
            <a:r>
              <a:rPr lang="en-PH" sz="3600" b="1" dirty="0" err="1"/>
              <a:t>buwanang</a:t>
            </a:r>
            <a:r>
              <a:rPr lang="en-PH" sz="3600" b="1" dirty="0"/>
              <a:t> </a:t>
            </a:r>
            <a:r>
              <a:rPr lang="en-PH" sz="3600" b="1" dirty="0" err="1"/>
              <a:t>kita</a:t>
            </a:r>
            <a:r>
              <a:rPr lang="en-PH" sz="3600" dirty="0"/>
              <a:t>.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datos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iskalang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ay </a:t>
            </a:r>
            <a:r>
              <a:rPr lang="en-PH" sz="3600" dirty="0" err="1"/>
              <a:t>maaaring</a:t>
            </a:r>
            <a:r>
              <a:rPr lang="en-PH" sz="3600" dirty="0"/>
              <a:t> </a:t>
            </a:r>
            <a:r>
              <a:rPr lang="en-PH" sz="3600" b="1" dirty="0" err="1"/>
              <a:t>ihanay</a:t>
            </a:r>
            <a:r>
              <a:rPr lang="en-PH" sz="3600" b="1" dirty="0"/>
              <a:t> </a:t>
            </a:r>
            <a:r>
              <a:rPr lang="en-PH" sz="3600" b="1" dirty="0" err="1"/>
              <a:t>nang</a:t>
            </a:r>
            <a:r>
              <a:rPr lang="en-PH" sz="3600" b="1" dirty="0"/>
              <a:t> ordinal (</a:t>
            </a:r>
            <a:r>
              <a:rPr lang="en-PH" sz="3600" b="1" dirty="0" err="1"/>
              <a:t>ayon</a:t>
            </a:r>
            <a:r>
              <a:rPr lang="en-PH" sz="3600" b="1" dirty="0"/>
              <a:t> </a:t>
            </a:r>
            <a:r>
              <a:rPr lang="en-PH" sz="3600" b="1" dirty="0" err="1"/>
              <a:t>sa</a:t>
            </a:r>
            <a:r>
              <a:rPr lang="en-PH" sz="3600" b="1" dirty="0"/>
              <a:t> </a:t>
            </a:r>
            <a:r>
              <a:rPr lang="en-PH" sz="3600" b="1" dirty="0" err="1"/>
              <a:t>pagkakasunod-sunod</a:t>
            </a:r>
            <a:r>
              <a:rPr lang="en-PH" sz="3600" b="1" dirty="0"/>
              <a:t>)</a:t>
            </a:r>
            <a:r>
              <a:rPr lang="en-PH" sz="3600" dirty="0"/>
              <a:t> at may </a:t>
            </a:r>
            <a:r>
              <a:rPr lang="en-PH" sz="3600" b="1" dirty="0" err="1"/>
              <a:t>lawak</a:t>
            </a:r>
            <a:r>
              <a:rPr lang="en-PH" sz="3600" b="1" dirty="0"/>
              <a:t> (ranges)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nagbibigay-daan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pagsusuri</a:t>
            </a:r>
            <a:r>
              <a:rPr lang="en-PH" sz="3600" dirty="0"/>
              <a:t> </a:t>
            </a:r>
            <a:r>
              <a:rPr lang="en-PH" sz="3600" dirty="0" err="1"/>
              <a:t>gamit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ratio o </a:t>
            </a:r>
            <a:r>
              <a:rPr lang="en-PH" sz="3600" dirty="0" err="1"/>
              <a:t>proporsyon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tugon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respondente</a:t>
            </a:r>
            <a:r>
              <a:rPr lang="en-PH" sz="3600" dirty="0"/>
              <a:t>.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spcAft>
                <a:spcPts val="1000"/>
              </a:spcAft>
            </a:pP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Gabay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Pagbuo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Talatanungan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Sarbey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(Survey)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82050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7420" y="1064043"/>
            <a:ext cx="14949745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2307" y="3142878"/>
            <a:ext cx="12357595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400" dirty="0"/>
              <a:t>Ang </a:t>
            </a:r>
            <a:r>
              <a:rPr lang="en-PH" sz="4400" b="1" dirty="0" err="1"/>
              <a:t>Pamamaraang</a:t>
            </a:r>
            <a:r>
              <a:rPr lang="en-PH" sz="4400" b="1" dirty="0"/>
              <a:t> </a:t>
            </a:r>
            <a:r>
              <a:rPr lang="en-PH" sz="4400" b="1" dirty="0" err="1"/>
              <a:t>Eksperimental</a:t>
            </a:r>
            <a:r>
              <a:rPr lang="en-PH" sz="4400" dirty="0"/>
              <a:t> ay </a:t>
            </a:r>
            <a:r>
              <a:rPr lang="en-PH" sz="4400" dirty="0" err="1"/>
              <a:t>isang</a:t>
            </a:r>
            <a:r>
              <a:rPr lang="en-PH" sz="4400" dirty="0"/>
              <a:t> </a:t>
            </a:r>
            <a:r>
              <a:rPr lang="en-PH" sz="4400" dirty="0" err="1"/>
              <a:t>paraan</a:t>
            </a:r>
            <a:r>
              <a:rPr lang="en-PH" sz="4400" dirty="0"/>
              <a:t> ng </a:t>
            </a:r>
            <a:r>
              <a:rPr lang="en-PH" sz="4400" dirty="0" err="1"/>
              <a:t>pangangalap</a:t>
            </a:r>
            <a:r>
              <a:rPr lang="en-PH" sz="4400" dirty="0"/>
              <a:t> ng </a:t>
            </a:r>
            <a:r>
              <a:rPr lang="en-PH" sz="4400" dirty="0" err="1"/>
              <a:t>datos</a:t>
            </a:r>
            <a:r>
              <a:rPr lang="en-PH" sz="4400" dirty="0"/>
              <a:t> kung </a:t>
            </a:r>
            <a:r>
              <a:rPr lang="en-PH" sz="4400" dirty="0" err="1"/>
              <a:t>saan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impormasyon</a:t>
            </a:r>
            <a:r>
              <a:rPr lang="en-PH" sz="4400" dirty="0"/>
              <a:t> ay </a:t>
            </a:r>
            <a:r>
              <a:rPr lang="en-PH" sz="4400" dirty="0" err="1"/>
              <a:t>kinukuha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b="1" dirty="0" err="1"/>
              <a:t>kontroladong</a:t>
            </a:r>
            <a:r>
              <a:rPr lang="en-PH" sz="4400" b="1" dirty="0"/>
              <a:t> </a:t>
            </a:r>
            <a:r>
              <a:rPr lang="en-PH" sz="4400" b="1" dirty="0" err="1"/>
              <a:t>sitwasyon</a:t>
            </a:r>
            <a:r>
              <a:rPr lang="en-PH" sz="4400" dirty="0"/>
              <a:t>. Hindi </a:t>
            </a:r>
            <a:r>
              <a:rPr lang="en-PH" sz="4400" dirty="0" err="1"/>
              <a:t>tulad</a:t>
            </a:r>
            <a:r>
              <a:rPr lang="en-PH" sz="4400" dirty="0"/>
              <a:t> ng </a:t>
            </a:r>
            <a:r>
              <a:rPr lang="en-PH" sz="4400" dirty="0" err="1"/>
              <a:t>sarbey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walang</a:t>
            </a:r>
            <a:r>
              <a:rPr lang="en-PH" sz="4400" dirty="0"/>
              <a:t> </a:t>
            </a:r>
            <a:r>
              <a:rPr lang="en-PH" sz="4400" dirty="0" err="1"/>
              <a:t>direktang</a:t>
            </a:r>
            <a:r>
              <a:rPr lang="en-PH" sz="4400" dirty="0"/>
              <a:t> </a:t>
            </a:r>
            <a:r>
              <a:rPr lang="en-PH" sz="4400" dirty="0" err="1"/>
              <a:t>interbensyon</a:t>
            </a:r>
            <a:r>
              <a:rPr lang="en-PH" sz="4400" dirty="0"/>
              <a:t> ang </a:t>
            </a:r>
            <a:r>
              <a:rPr lang="en-PH" sz="4400" dirty="0" err="1"/>
              <a:t>mananaliksik</a:t>
            </a:r>
            <a:r>
              <a:rPr lang="en-PH" sz="4400" dirty="0"/>
              <a:t>,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eksperimental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pamamaraan</a:t>
            </a:r>
            <a:r>
              <a:rPr lang="en-PH" sz="4400" dirty="0"/>
              <a:t>, </a:t>
            </a:r>
            <a:r>
              <a:rPr lang="en-PH" sz="4400" dirty="0" err="1"/>
              <a:t>maaaring</a:t>
            </a:r>
            <a:r>
              <a:rPr lang="en-PH" sz="4400" dirty="0"/>
              <a:t> </a:t>
            </a:r>
            <a:r>
              <a:rPr lang="en-PH" sz="4400" dirty="0" err="1"/>
              <a:t>magkaroon</a:t>
            </a:r>
            <a:r>
              <a:rPr lang="en-PH" sz="4400" dirty="0"/>
              <a:t> ng </a:t>
            </a:r>
            <a:r>
              <a:rPr lang="en-PH" sz="4400" b="1" dirty="0" err="1"/>
              <a:t>aktibong</a:t>
            </a:r>
            <a:r>
              <a:rPr lang="en-PH" sz="4400" b="1" dirty="0"/>
              <a:t> </a:t>
            </a:r>
            <a:r>
              <a:rPr lang="en-PH" sz="4400" b="1" dirty="0" err="1"/>
              <a:t>partisipasyon</a:t>
            </a:r>
            <a:r>
              <a:rPr lang="en-PH" sz="4400" b="1" dirty="0"/>
              <a:t> ang </a:t>
            </a:r>
            <a:r>
              <a:rPr lang="en-PH" sz="4400" b="1" dirty="0" err="1"/>
              <a:t>mananaliksik</a:t>
            </a:r>
            <a:r>
              <a:rPr lang="en-PH" sz="4400" dirty="0"/>
              <a:t> </a:t>
            </a:r>
            <a:r>
              <a:rPr lang="en-PH" sz="4400" dirty="0" err="1"/>
              <a:t>upang</a:t>
            </a:r>
            <a:r>
              <a:rPr lang="en-PH" sz="4400" dirty="0"/>
              <a:t> </a:t>
            </a:r>
            <a:r>
              <a:rPr lang="en-PH" sz="4400" b="1" dirty="0" err="1"/>
              <a:t>mapag-aralan</a:t>
            </a:r>
            <a:r>
              <a:rPr lang="en-PH" sz="4400" b="1" dirty="0"/>
              <a:t> ang </a:t>
            </a:r>
            <a:r>
              <a:rPr lang="en-PH" sz="4400" b="1" dirty="0" err="1"/>
              <a:t>ugnayan</a:t>
            </a:r>
            <a:r>
              <a:rPr lang="en-PH" sz="4400" b="1" dirty="0"/>
              <a:t> ng </a:t>
            </a:r>
            <a:r>
              <a:rPr lang="en-PH" sz="4400" b="1" dirty="0" err="1"/>
              <a:t>mga</a:t>
            </a:r>
            <a:r>
              <a:rPr lang="en-PH" sz="4400" b="1" dirty="0"/>
              <a:t> </a:t>
            </a:r>
            <a:r>
              <a:rPr lang="en-PH" sz="4400" b="1" dirty="0" err="1"/>
              <a:t>baryabol</a:t>
            </a:r>
            <a:r>
              <a:rPr lang="en-PH" sz="4400" dirty="0"/>
              <a:t>.</a:t>
            </a:r>
            <a:endParaRPr lang="en-US" sz="28800" dirty="0">
              <a:solidFill>
                <a:srgbClr val="FFFFFF"/>
              </a:solidFill>
              <a:latin typeface="Bryndan Write"/>
              <a:ea typeface="Bryndan Write"/>
              <a:cs typeface="Bryndan Write"/>
              <a:sym typeface="Bryndan Writ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Pamamaraang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Eksperimental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53515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7420" y="1064043"/>
            <a:ext cx="14949745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2307" y="3142878"/>
            <a:ext cx="12357595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400" dirty="0"/>
              <a:t>Sa </a:t>
            </a:r>
            <a:r>
              <a:rPr lang="en-PH" sz="4400" b="1" dirty="0" err="1"/>
              <a:t>Disenyong</a:t>
            </a:r>
            <a:r>
              <a:rPr lang="en-PH" sz="4400" b="1" dirty="0"/>
              <a:t> </a:t>
            </a:r>
            <a:r>
              <a:rPr lang="en-PH" sz="4400" b="1" dirty="0" err="1"/>
              <a:t>Eksperimental</a:t>
            </a:r>
            <a:r>
              <a:rPr lang="en-PH" sz="4400" dirty="0"/>
              <a:t>,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kalahok</a:t>
            </a:r>
            <a:r>
              <a:rPr lang="en-PH" sz="4400" dirty="0"/>
              <a:t> ay </a:t>
            </a:r>
            <a:r>
              <a:rPr lang="en-PH" sz="4400" b="1" dirty="0" err="1"/>
              <a:t>hinahati</a:t>
            </a:r>
            <a:r>
              <a:rPr lang="en-PH" sz="4400" b="1" dirty="0"/>
              <a:t> </a:t>
            </a:r>
            <a:r>
              <a:rPr lang="en-PH" sz="4400" b="1" dirty="0" err="1"/>
              <a:t>sa</a:t>
            </a:r>
            <a:r>
              <a:rPr lang="en-PH" sz="4400" b="1" dirty="0"/>
              <a:t> </a:t>
            </a:r>
            <a:r>
              <a:rPr lang="en-PH" sz="4400" b="1" dirty="0" err="1"/>
              <a:t>mga</a:t>
            </a:r>
            <a:r>
              <a:rPr lang="en-PH" sz="4400" b="1" dirty="0"/>
              <a:t> </a:t>
            </a:r>
            <a:r>
              <a:rPr lang="en-PH" sz="4400" b="1" dirty="0" err="1"/>
              <a:t>pangkat</a:t>
            </a:r>
            <a:r>
              <a:rPr lang="en-PH" sz="4400" dirty="0"/>
              <a:t> </a:t>
            </a:r>
            <a:r>
              <a:rPr lang="en-PH" sz="4400" dirty="0" err="1"/>
              <a:t>upang</a:t>
            </a:r>
            <a:r>
              <a:rPr lang="en-PH" sz="4400" dirty="0"/>
              <a:t> </a:t>
            </a:r>
            <a:r>
              <a:rPr lang="en-PH" sz="4400" dirty="0" err="1"/>
              <a:t>makontrol</a:t>
            </a:r>
            <a:r>
              <a:rPr lang="en-PH" sz="4400" dirty="0"/>
              <a:t> ang </a:t>
            </a:r>
            <a:r>
              <a:rPr lang="en-PH" sz="4400" dirty="0" err="1"/>
              <a:t>iba</a:t>
            </a:r>
            <a:r>
              <a:rPr lang="en-PH" sz="4400" dirty="0"/>
              <a:t> pang </a:t>
            </a:r>
            <a:r>
              <a:rPr lang="en-PH" sz="4400" dirty="0" err="1"/>
              <a:t>baryabol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maaaring</a:t>
            </a:r>
            <a:r>
              <a:rPr lang="en-PH" sz="4400" dirty="0"/>
              <a:t> </a:t>
            </a:r>
            <a:r>
              <a:rPr lang="en-PH" sz="4400" dirty="0" err="1"/>
              <a:t>makaapekto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resulta</a:t>
            </a:r>
            <a:r>
              <a:rPr lang="en-PH" sz="4400" dirty="0"/>
              <a:t>. </a:t>
            </a:r>
            <a:r>
              <a:rPr lang="en-PH" sz="4400" b="1" dirty="0" err="1"/>
              <a:t>Minamanipula</a:t>
            </a:r>
            <a:r>
              <a:rPr lang="en-PH" sz="4400" b="1" dirty="0"/>
              <a:t> ang </a:t>
            </a:r>
            <a:r>
              <a:rPr lang="en-PH" sz="4400" b="1" dirty="0" err="1"/>
              <a:t>mahalagang</a:t>
            </a:r>
            <a:r>
              <a:rPr lang="en-PH" sz="4400" b="1" dirty="0"/>
              <a:t> </a:t>
            </a:r>
            <a:r>
              <a:rPr lang="en-PH" sz="4400" b="1" dirty="0" err="1"/>
              <a:t>baryabol</a:t>
            </a:r>
            <a:r>
              <a:rPr lang="en-PH" sz="4400" dirty="0"/>
              <a:t> at </a:t>
            </a:r>
            <a:r>
              <a:rPr lang="en-PH" sz="4400" dirty="0" err="1"/>
              <a:t>sinusukat</a:t>
            </a:r>
            <a:r>
              <a:rPr lang="en-PH" sz="4400" dirty="0"/>
              <a:t> ang </a:t>
            </a:r>
            <a:r>
              <a:rPr lang="en-PH" sz="4400" dirty="0" err="1"/>
              <a:t>epekto</a:t>
            </a:r>
            <a:r>
              <a:rPr lang="en-PH" sz="4400" dirty="0"/>
              <a:t> </a:t>
            </a:r>
            <a:r>
              <a:rPr lang="en-PH" sz="4400" dirty="0" err="1"/>
              <a:t>nito</a:t>
            </a:r>
            <a:r>
              <a:rPr lang="en-PH" sz="4400" dirty="0"/>
              <a:t> </a:t>
            </a:r>
            <a:r>
              <a:rPr lang="en-PH" sz="4400" dirty="0" err="1"/>
              <a:t>upang</a:t>
            </a:r>
            <a:r>
              <a:rPr lang="en-PH" sz="4400" dirty="0"/>
              <a:t> </a:t>
            </a:r>
            <a:r>
              <a:rPr lang="en-PH" sz="4400" dirty="0" err="1"/>
              <a:t>makita</a:t>
            </a:r>
            <a:r>
              <a:rPr lang="en-PH" sz="4400" dirty="0"/>
              <a:t> ang </a:t>
            </a:r>
            <a:r>
              <a:rPr lang="en-PH" sz="4400" b="1" dirty="0" err="1"/>
              <a:t>tiyak</a:t>
            </a:r>
            <a:r>
              <a:rPr lang="en-PH" sz="4400" b="1" dirty="0"/>
              <a:t> </a:t>
            </a:r>
            <a:r>
              <a:rPr lang="en-PH" sz="4400" b="1" dirty="0" err="1"/>
              <a:t>na</a:t>
            </a:r>
            <a:r>
              <a:rPr lang="en-PH" sz="4400" b="1" dirty="0"/>
              <a:t> </a:t>
            </a:r>
            <a:r>
              <a:rPr lang="en-PH" sz="4400" b="1" dirty="0" err="1"/>
              <a:t>sanhi</a:t>
            </a:r>
            <a:r>
              <a:rPr lang="en-PH" sz="4400" b="1" dirty="0"/>
              <a:t> at </a:t>
            </a:r>
            <a:r>
              <a:rPr lang="en-PH" sz="4400" b="1" dirty="0" err="1"/>
              <a:t>bunga</a:t>
            </a:r>
            <a:r>
              <a:rPr lang="en-PH" sz="4400" b="1" dirty="0"/>
              <a:t> (causal relationship)</a:t>
            </a:r>
            <a:r>
              <a:rPr lang="en-PH" sz="4400" dirty="0"/>
              <a:t>. Kung </a:t>
            </a:r>
            <a:r>
              <a:rPr lang="en-PH" sz="4400" dirty="0" err="1"/>
              <a:t>maayos</a:t>
            </a:r>
            <a:r>
              <a:rPr lang="en-PH" sz="4400" dirty="0"/>
              <a:t> ang </a:t>
            </a:r>
            <a:r>
              <a:rPr lang="en-PH" sz="4400" dirty="0" err="1"/>
              <a:t>pagkakagawa</a:t>
            </a:r>
            <a:r>
              <a:rPr lang="en-PH" sz="4400" dirty="0"/>
              <a:t>, </a:t>
            </a:r>
            <a:r>
              <a:rPr lang="en-PH" sz="4400" dirty="0" err="1"/>
              <a:t>makakakuha</a:t>
            </a:r>
            <a:r>
              <a:rPr lang="en-PH" sz="4400" dirty="0"/>
              <a:t> ng </a:t>
            </a:r>
            <a:r>
              <a:rPr lang="en-PH" sz="4400" b="1" dirty="0" err="1"/>
              <a:t>maaasahang</a:t>
            </a:r>
            <a:r>
              <a:rPr lang="en-PH" sz="4400" b="1" dirty="0"/>
              <a:t> </a:t>
            </a:r>
            <a:r>
              <a:rPr lang="en-PH" sz="4400" b="1" dirty="0" err="1"/>
              <a:t>datos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nagpapakita</a:t>
            </a:r>
            <a:r>
              <a:rPr lang="en-PH" sz="4400" dirty="0"/>
              <a:t> ng </a:t>
            </a:r>
            <a:r>
              <a:rPr lang="en-PH" sz="4400" dirty="0" err="1"/>
              <a:t>ugnayan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baryabol</a:t>
            </a:r>
            <a:r>
              <a:rPr lang="en-PH" sz="4400" dirty="0"/>
              <a:t>.</a:t>
            </a:r>
            <a:endParaRPr lang="en-US" sz="28800" dirty="0">
              <a:solidFill>
                <a:srgbClr val="FFFFFF"/>
              </a:solidFill>
              <a:latin typeface="Bryndan Write"/>
              <a:ea typeface="Bryndan Write"/>
              <a:cs typeface="Bryndan Write"/>
              <a:sym typeface="Bryndan Writ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Pamamaraang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Eksperimental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65700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7420" y="1064043"/>
            <a:ext cx="14949745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2307" y="3142878"/>
            <a:ext cx="12357595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400" dirty="0"/>
              <a:t>Ang </a:t>
            </a:r>
            <a:r>
              <a:rPr lang="en-PH" sz="4400" b="1" dirty="0" err="1"/>
              <a:t>Disenyong</a:t>
            </a:r>
            <a:r>
              <a:rPr lang="en-PH" sz="4400" b="1" dirty="0"/>
              <a:t> Hindi </a:t>
            </a:r>
            <a:r>
              <a:rPr lang="en-PH" sz="4400" b="1" dirty="0" err="1"/>
              <a:t>Eksperimental</a:t>
            </a:r>
            <a:r>
              <a:rPr lang="en-PH" sz="4400" dirty="0"/>
              <a:t> ay </a:t>
            </a:r>
            <a:r>
              <a:rPr lang="en-PH" sz="4400" dirty="0" err="1"/>
              <a:t>gumagamit</a:t>
            </a:r>
            <a:r>
              <a:rPr lang="en-PH" sz="4400" dirty="0"/>
              <a:t> ng </a:t>
            </a:r>
            <a:r>
              <a:rPr lang="en-PH" sz="4400" b="1" dirty="0" err="1"/>
              <a:t>pagmamasid</a:t>
            </a:r>
            <a:r>
              <a:rPr lang="en-PH" sz="4400" dirty="0"/>
              <a:t> </a:t>
            </a:r>
            <a:r>
              <a:rPr lang="en-PH" sz="4400" dirty="0" err="1"/>
              <a:t>tulad</a:t>
            </a:r>
            <a:r>
              <a:rPr lang="en-PH" sz="4400" dirty="0"/>
              <a:t> ng </a:t>
            </a:r>
            <a:r>
              <a:rPr lang="en-PH" sz="4400" b="1" dirty="0" err="1"/>
              <a:t>sarbey</a:t>
            </a:r>
            <a:r>
              <a:rPr lang="en-PH" sz="4400" dirty="0"/>
              <a:t> o </a:t>
            </a:r>
            <a:r>
              <a:rPr lang="en-PH" sz="4400" b="1" dirty="0" err="1"/>
              <a:t>pagsusuri</a:t>
            </a:r>
            <a:r>
              <a:rPr lang="en-PH" sz="4400" b="1" dirty="0"/>
              <a:t> ng </a:t>
            </a:r>
            <a:r>
              <a:rPr lang="en-PH" sz="4400" b="1" dirty="0" err="1"/>
              <a:t>nilalaman</a:t>
            </a:r>
            <a:r>
              <a:rPr lang="en-PH" sz="4400" b="1" dirty="0"/>
              <a:t> (content analysis)</a:t>
            </a:r>
            <a:r>
              <a:rPr lang="en-PH" sz="4400" dirty="0"/>
              <a:t>. Ang </a:t>
            </a:r>
            <a:r>
              <a:rPr lang="en-PH" sz="4400" dirty="0" err="1"/>
              <a:t>mananaliksik</a:t>
            </a:r>
            <a:r>
              <a:rPr lang="en-PH" sz="4400" dirty="0"/>
              <a:t> ay </a:t>
            </a:r>
            <a:r>
              <a:rPr lang="en-PH" sz="4400" dirty="0" err="1"/>
              <a:t>nangangalap</a:t>
            </a:r>
            <a:r>
              <a:rPr lang="en-PH" sz="4400" dirty="0"/>
              <a:t> ng </a:t>
            </a:r>
            <a:r>
              <a:rPr lang="en-PH" sz="4400" dirty="0" err="1"/>
              <a:t>datos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pamamagitan</a:t>
            </a:r>
            <a:r>
              <a:rPr lang="en-PH" sz="4400" dirty="0"/>
              <a:t> ng </a:t>
            </a:r>
            <a:r>
              <a:rPr lang="en-PH" sz="4400" b="1" dirty="0" err="1"/>
              <a:t>talatanungan</a:t>
            </a:r>
            <a:r>
              <a:rPr lang="en-PH" sz="4400" b="1" dirty="0"/>
              <a:t> (questionnaire)</a:t>
            </a:r>
            <a:r>
              <a:rPr lang="en-PH" sz="4400" dirty="0"/>
              <a:t> at </a:t>
            </a:r>
            <a:r>
              <a:rPr lang="en-PH" sz="4400" dirty="0" err="1"/>
              <a:t>ginagamitan</a:t>
            </a:r>
            <a:r>
              <a:rPr lang="en-PH" sz="4400" dirty="0"/>
              <a:t> ng </a:t>
            </a:r>
            <a:r>
              <a:rPr lang="en-PH" sz="4400" b="1" dirty="0" err="1"/>
              <a:t>estadistikang</a:t>
            </a:r>
            <a:r>
              <a:rPr lang="en-PH" sz="4400" b="1" dirty="0"/>
              <a:t> </a:t>
            </a:r>
            <a:r>
              <a:rPr lang="en-PH" sz="4400" b="1" dirty="0" err="1"/>
              <a:t>pagsusuri</a:t>
            </a:r>
            <a:r>
              <a:rPr lang="en-PH" sz="4400" dirty="0"/>
              <a:t> </a:t>
            </a:r>
            <a:r>
              <a:rPr lang="en-PH" sz="4400" dirty="0" err="1"/>
              <a:t>upang</a:t>
            </a:r>
            <a:r>
              <a:rPr lang="en-PH" sz="4400" dirty="0"/>
              <a:t> </a:t>
            </a:r>
            <a:r>
              <a:rPr lang="en-PH" sz="4400" dirty="0" err="1"/>
              <a:t>pag-aralan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impormasyong</a:t>
            </a:r>
            <a:r>
              <a:rPr lang="en-PH" sz="4400" dirty="0"/>
              <a:t> </a:t>
            </a:r>
            <a:r>
              <a:rPr lang="en-PH" sz="4400" dirty="0" err="1"/>
              <a:t>nakuha</a:t>
            </a:r>
            <a:r>
              <a:rPr lang="en-PH" sz="4400" dirty="0"/>
              <a:t>.</a:t>
            </a:r>
            <a:endParaRPr lang="en-US" sz="28800" dirty="0">
              <a:solidFill>
                <a:srgbClr val="FFFFFF"/>
              </a:solidFill>
              <a:latin typeface="Bryndan Write"/>
              <a:ea typeface="Bryndan Write"/>
              <a:cs typeface="Bryndan Write"/>
              <a:sym typeface="Bryndan Writ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Pamamaraang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Eksperimental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26164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7420" y="1064043"/>
            <a:ext cx="14949745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2307" y="3142878"/>
            <a:ext cx="12357595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400" dirty="0"/>
              <a:t>Ang </a:t>
            </a:r>
            <a:r>
              <a:rPr lang="en-PH" sz="4400" b="1" dirty="0" err="1"/>
              <a:t>Balidad</a:t>
            </a:r>
            <a:r>
              <a:rPr lang="en-PH" sz="4400" b="1" dirty="0"/>
              <a:t> (Validity)</a:t>
            </a:r>
            <a:r>
              <a:rPr lang="en-PH" sz="4400" dirty="0"/>
              <a:t> ay </a:t>
            </a:r>
            <a:r>
              <a:rPr lang="en-PH" sz="4400" dirty="0" err="1"/>
              <a:t>sumusukat</a:t>
            </a:r>
            <a:r>
              <a:rPr lang="en-PH" sz="4400" dirty="0"/>
              <a:t> kung </a:t>
            </a:r>
            <a:r>
              <a:rPr lang="en-PH" sz="4400" b="1" dirty="0" err="1"/>
              <a:t>tumpak</a:t>
            </a:r>
            <a:r>
              <a:rPr lang="en-PH" sz="4400" dirty="0"/>
              <a:t> bang </a:t>
            </a:r>
            <a:r>
              <a:rPr lang="en-PH" sz="4400" dirty="0" err="1"/>
              <a:t>nasusuri</a:t>
            </a:r>
            <a:r>
              <a:rPr lang="en-PH" sz="4400" dirty="0"/>
              <a:t> ng </a:t>
            </a:r>
            <a:r>
              <a:rPr lang="en-PH" sz="4400" dirty="0" err="1"/>
              <a:t>pag-aaral</a:t>
            </a:r>
            <a:r>
              <a:rPr lang="en-PH" sz="4400" dirty="0"/>
              <a:t> ang </a:t>
            </a:r>
            <a:r>
              <a:rPr lang="en-PH" sz="4400" dirty="0" err="1"/>
              <a:t>nais</a:t>
            </a:r>
            <a:r>
              <a:rPr lang="en-PH" sz="4400" dirty="0"/>
              <a:t> </a:t>
            </a:r>
            <a:r>
              <a:rPr lang="en-PH" sz="4400" dirty="0" err="1"/>
              <a:t>nitong</a:t>
            </a:r>
            <a:r>
              <a:rPr lang="en-PH" sz="4400" dirty="0"/>
              <a:t> </a:t>
            </a:r>
            <a:r>
              <a:rPr lang="en-PH" sz="4400" dirty="0" err="1"/>
              <a:t>sukatin</a:t>
            </a:r>
            <a:r>
              <a:rPr lang="en-PH" sz="4400" dirty="0"/>
              <a:t>. </a:t>
            </a:r>
            <a:r>
              <a:rPr lang="en-PH" sz="4400" dirty="0" err="1"/>
              <a:t>Halimbawa</a:t>
            </a:r>
            <a:r>
              <a:rPr lang="en-PH" sz="4400" dirty="0"/>
              <a:t>, kung </a:t>
            </a:r>
            <a:r>
              <a:rPr lang="en-PH" sz="4400" dirty="0" err="1"/>
              <a:t>sinusukat</a:t>
            </a:r>
            <a:r>
              <a:rPr lang="en-PH" sz="4400" dirty="0"/>
              <a:t> ang </a:t>
            </a:r>
            <a:r>
              <a:rPr lang="en-PH" sz="4400" dirty="0" err="1"/>
              <a:t>epekto</a:t>
            </a:r>
            <a:r>
              <a:rPr lang="en-PH" sz="4400" dirty="0"/>
              <a:t> ng social media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pagboto</a:t>
            </a:r>
            <a:r>
              <a:rPr lang="en-PH" sz="4400" dirty="0"/>
              <a:t>, </a:t>
            </a:r>
            <a:r>
              <a:rPr lang="en-PH" sz="4400" dirty="0" err="1"/>
              <a:t>kailangang</a:t>
            </a:r>
            <a:r>
              <a:rPr lang="en-PH" sz="4400" dirty="0"/>
              <a:t> </a:t>
            </a:r>
            <a:r>
              <a:rPr lang="en-PH" sz="4400" dirty="0" err="1"/>
              <a:t>tiyakin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tanong</a:t>
            </a:r>
            <a:r>
              <a:rPr lang="en-PH" sz="4400" dirty="0"/>
              <a:t> ay </a:t>
            </a:r>
            <a:r>
              <a:rPr lang="en-PH" sz="4400" dirty="0" err="1"/>
              <a:t>talagang</a:t>
            </a:r>
            <a:r>
              <a:rPr lang="en-PH" sz="4400" dirty="0"/>
              <a:t> </a:t>
            </a:r>
            <a:r>
              <a:rPr lang="en-PH" sz="4400" b="1" dirty="0"/>
              <a:t>may </a:t>
            </a:r>
            <a:r>
              <a:rPr lang="en-PH" sz="4400" b="1" dirty="0" err="1"/>
              <a:t>kinalaman</a:t>
            </a:r>
            <a:r>
              <a:rPr lang="en-PH" sz="4400" b="1" dirty="0"/>
              <a:t> </a:t>
            </a:r>
            <a:r>
              <a:rPr lang="en-PH" sz="4400" b="1" dirty="0" err="1"/>
              <a:t>sa</a:t>
            </a:r>
            <a:r>
              <a:rPr lang="en-PH" sz="4400" b="1" dirty="0"/>
              <a:t> </a:t>
            </a:r>
            <a:r>
              <a:rPr lang="en-PH" sz="4400" b="1" dirty="0" err="1"/>
              <a:t>desisyon</a:t>
            </a:r>
            <a:r>
              <a:rPr lang="en-PH" sz="4400" b="1" dirty="0"/>
              <a:t> </a:t>
            </a:r>
            <a:r>
              <a:rPr lang="en-PH" sz="4400" b="1" dirty="0" err="1"/>
              <a:t>sa</a:t>
            </a:r>
            <a:r>
              <a:rPr lang="en-PH" sz="4400" b="1" dirty="0"/>
              <a:t> </a:t>
            </a:r>
            <a:r>
              <a:rPr lang="en-PH" sz="4400" b="1" dirty="0" err="1"/>
              <a:t>pagboto</a:t>
            </a:r>
            <a:r>
              <a:rPr lang="en-PH" sz="4400" dirty="0"/>
              <a:t> at </a:t>
            </a:r>
            <a:r>
              <a:rPr lang="en-PH" sz="4400" dirty="0" err="1"/>
              <a:t>hindi</a:t>
            </a:r>
            <a:r>
              <a:rPr lang="en-PH" sz="4400" dirty="0"/>
              <a:t> </a:t>
            </a:r>
            <a:r>
              <a:rPr lang="en-PH" sz="4400" dirty="0" err="1"/>
              <a:t>tungkol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ibang</a:t>
            </a:r>
            <a:r>
              <a:rPr lang="en-PH" sz="4400" dirty="0"/>
              <a:t> </a:t>
            </a:r>
            <a:r>
              <a:rPr lang="en-PH" sz="4400" dirty="0" err="1"/>
              <a:t>bagay</a:t>
            </a:r>
            <a:endParaRPr lang="en-US" sz="28800" dirty="0">
              <a:solidFill>
                <a:srgbClr val="FFFFFF"/>
              </a:solidFill>
              <a:latin typeface="Bryndan Write"/>
              <a:ea typeface="Bryndan Write"/>
              <a:cs typeface="Bryndan Write"/>
              <a:sym typeface="Bryndan Writ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Mahahalagang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Pamantayan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Disenyo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Pag-</a:t>
            </a: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aaral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72744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7420" y="1064043"/>
            <a:ext cx="14949745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773669" y="2844893"/>
            <a:ext cx="12357595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400" dirty="0"/>
              <a:t>Ang </a:t>
            </a:r>
            <a:r>
              <a:rPr lang="en-PH" sz="4400" b="1" dirty="0" err="1"/>
              <a:t>Pagiging</a:t>
            </a:r>
            <a:r>
              <a:rPr lang="en-PH" sz="4400" b="1" dirty="0"/>
              <a:t> </a:t>
            </a:r>
            <a:r>
              <a:rPr lang="en-PH" sz="4400" b="1" dirty="0" err="1"/>
              <a:t>Makatotohanan</a:t>
            </a:r>
            <a:r>
              <a:rPr lang="en-PH" sz="4400" b="1" dirty="0"/>
              <a:t> (Reliability)</a:t>
            </a:r>
            <a:r>
              <a:rPr lang="en-PH" sz="4400" dirty="0"/>
              <a:t> ay </a:t>
            </a:r>
            <a:r>
              <a:rPr lang="en-PH" sz="4400" dirty="0" err="1"/>
              <a:t>sumusukat</a:t>
            </a:r>
            <a:r>
              <a:rPr lang="en-PH" sz="4400" dirty="0"/>
              <a:t> kung </a:t>
            </a:r>
            <a:r>
              <a:rPr lang="en-PH" sz="4400" b="1" dirty="0" err="1"/>
              <a:t>konsistente</a:t>
            </a:r>
            <a:r>
              <a:rPr lang="en-PH" sz="4400" dirty="0"/>
              <a:t> at </a:t>
            </a:r>
            <a:r>
              <a:rPr lang="en-PH" sz="4400" b="1" dirty="0" err="1"/>
              <a:t>ulit-ulit</a:t>
            </a:r>
            <a:r>
              <a:rPr lang="en-PH" sz="4400" dirty="0"/>
              <a:t> ang </a:t>
            </a:r>
            <a:r>
              <a:rPr lang="en-PH" sz="4400" dirty="0" err="1"/>
              <a:t>resulta</a:t>
            </a:r>
            <a:r>
              <a:rPr lang="en-PH" sz="4400" dirty="0"/>
              <a:t> ng </a:t>
            </a:r>
            <a:r>
              <a:rPr lang="en-PH" sz="4400" dirty="0" err="1"/>
              <a:t>isang</a:t>
            </a:r>
            <a:r>
              <a:rPr lang="en-PH" sz="4400" dirty="0"/>
              <a:t> </a:t>
            </a:r>
            <a:r>
              <a:rPr lang="en-PH" sz="4400" dirty="0" err="1"/>
              <a:t>pag-aaral</a:t>
            </a:r>
            <a:r>
              <a:rPr lang="en-PH" sz="4400" dirty="0"/>
              <a:t>. </a:t>
            </a:r>
            <a:r>
              <a:rPr lang="en-PH" sz="4400" dirty="0" err="1"/>
              <a:t>Ibig</a:t>
            </a:r>
            <a:r>
              <a:rPr lang="en-PH" sz="4400" dirty="0"/>
              <a:t> </a:t>
            </a:r>
            <a:r>
              <a:rPr lang="en-PH" sz="4400" dirty="0" err="1"/>
              <a:t>sabihin</a:t>
            </a:r>
            <a:r>
              <a:rPr lang="en-PH" sz="4400" dirty="0"/>
              <a:t>, kung </a:t>
            </a:r>
            <a:r>
              <a:rPr lang="en-PH" sz="4400" b="1" dirty="0" err="1"/>
              <a:t>uulitin</a:t>
            </a:r>
            <a:r>
              <a:rPr lang="en-PH" sz="4400" b="1" dirty="0"/>
              <a:t> ang </a:t>
            </a:r>
            <a:r>
              <a:rPr lang="en-PH" sz="4400" b="1" dirty="0" err="1"/>
              <a:t>pag-aaral</a:t>
            </a:r>
            <a:r>
              <a:rPr lang="en-PH" sz="4400" dirty="0"/>
              <a:t>, </a:t>
            </a:r>
            <a:r>
              <a:rPr lang="en-PH" sz="4400" dirty="0" err="1"/>
              <a:t>dapat</a:t>
            </a:r>
            <a:r>
              <a:rPr lang="en-PH" sz="4400" dirty="0"/>
              <a:t> </a:t>
            </a:r>
            <a:r>
              <a:rPr lang="en-PH" sz="4400" b="1" dirty="0" err="1"/>
              <a:t>pareho</a:t>
            </a:r>
            <a:r>
              <a:rPr lang="en-PH" sz="4400" dirty="0"/>
              <a:t> ang </a:t>
            </a:r>
            <a:r>
              <a:rPr lang="en-PH" sz="4400" dirty="0" err="1"/>
              <a:t>kalalabasan</a:t>
            </a:r>
            <a:r>
              <a:rPr lang="en-PH" sz="4400" dirty="0"/>
              <a:t>. </a:t>
            </a:r>
            <a:r>
              <a:rPr lang="en-PH" sz="4400" dirty="0" err="1"/>
              <a:t>Halimbawa</a:t>
            </a:r>
            <a:r>
              <a:rPr lang="en-PH" sz="4400" dirty="0"/>
              <a:t>, </a:t>
            </a:r>
            <a:r>
              <a:rPr lang="en-PH" sz="4400" dirty="0" err="1"/>
              <a:t>gamit</a:t>
            </a:r>
            <a:r>
              <a:rPr lang="en-PH" sz="4400" dirty="0"/>
              <a:t> ang </a:t>
            </a:r>
            <a:r>
              <a:rPr lang="en-PH" sz="4400" b="1" dirty="0"/>
              <a:t>Test-retest</a:t>
            </a:r>
            <a:r>
              <a:rPr lang="en-PH" sz="4400" dirty="0"/>
              <a:t>, </a:t>
            </a:r>
            <a:r>
              <a:rPr lang="en-PH" sz="4400" dirty="0" err="1"/>
              <a:t>sinusuri</a:t>
            </a:r>
            <a:r>
              <a:rPr lang="en-PH" sz="4400" dirty="0"/>
              <a:t> kung </a:t>
            </a:r>
            <a:r>
              <a:rPr lang="en-PH" sz="4400" dirty="0" err="1"/>
              <a:t>pareho</a:t>
            </a:r>
            <a:r>
              <a:rPr lang="en-PH" sz="4400" dirty="0"/>
              <a:t> ang </a:t>
            </a:r>
            <a:r>
              <a:rPr lang="en-PH" sz="4400" dirty="0" err="1"/>
              <a:t>sagot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respondente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magkaparehong</a:t>
            </a:r>
            <a:r>
              <a:rPr lang="en-PH" sz="4400" dirty="0"/>
              <a:t> </a:t>
            </a:r>
            <a:r>
              <a:rPr lang="en-PH" sz="4400" dirty="0" err="1"/>
              <a:t>tanong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magkaibang</a:t>
            </a:r>
            <a:r>
              <a:rPr lang="en-PH" sz="4400" dirty="0"/>
              <a:t> </a:t>
            </a:r>
            <a:r>
              <a:rPr lang="en-PH" sz="4400" dirty="0" err="1"/>
              <a:t>oras</a:t>
            </a:r>
            <a:r>
              <a:rPr lang="en-PH" sz="4400" dirty="0"/>
              <a:t>. </a:t>
            </a:r>
            <a:r>
              <a:rPr lang="en-PH" sz="4400" dirty="0" err="1"/>
              <a:t>Maaari</a:t>
            </a:r>
            <a:r>
              <a:rPr lang="en-PH" sz="4400" dirty="0"/>
              <a:t> ring </a:t>
            </a:r>
            <a:r>
              <a:rPr lang="en-PH" sz="4400" dirty="0" err="1"/>
              <a:t>gamitin</a:t>
            </a:r>
            <a:r>
              <a:rPr lang="en-PH" sz="4400" dirty="0"/>
              <a:t> ang </a:t>
            </a:r>
            <a:r>
              <a:rPr lang="en-PH" sz="4400" b="1" dirty="0"/>
              <a:t>Cronbach's alpha</a:t>
            </a:r>
            <a:r>
              <a:rPr lang="en-PH" sz="4400" dirty="0"/>
              <a:t> para </a:t>
            </a:r>
            <a:r>
              <a:rPr lang="en-PH" sz="4400" dirty="0" err="1"/>
              <a:t>suriin</a:t>
            </a:r>
            <a:r>
              <a:rPr lang="en-PH" sz="4400" dirty="0"/>
              <a:t> ang </a:t>
            </a:r>
            <a:r>
              <a:rPr lang="en-PH" sz="4400" dirty="0" err="1"/>
              <a:t>pagkakapare-pareho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tanong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talatanungan</a:t>
            </a:r>
            <a:r>
              <a:rPr lang="en-PH" sz="4400" dirty="0"/>
              <a:t>.</a:t>
            </a:r>
            <a:endParaRPr lang="en-US" sz="28800" dirty="0">
              <a:solidFill>
                <a:srgbClr val="FFFFFF"/>
              </a:solidFill>
              <a:latin typeface="Bryndan Write"/>
              <a:ea typeface="Bryndan Write"/>
              <a:cs typeface="Bryndan Write"/>
              <a:sym typeface="Bryndan Writ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Mahahalagang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Pamantayan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Disenyo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Pag-</a:t>
            </a: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aaral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71059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7420" y="1064043"/>
            <a:ext cx="14949745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2307" y="3142878"/>
            <a:ext cx="12357595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400" dirty="0"/>
              <a:t>Ang </a:t>
            </a:r>
            <a:r>
              <a:rPr lang="en-PH" sz="4400" b="1" dirty="0" err="1"/>
              <a:t>Balidad</a:t>
            </a:r>
            <a:r>
              <a:rPr lang="en-PH" sz="4400" b="1" dirty="0"/>
              <a:t> (Validity)</a:t>
            </a:r>
            <a:r>
              <a:rPr lang="en-PH" sz="4400" dirty="0"/>
              <a:t> ay </a:t>
            </a:r>
            <a:r>
              <a:rPr lang="en-PH" sz="4400" dirty="0" err="1"/>
              <a:t>sumusukat</a:t>
            </a:r>
            <a:r>
              <a:rPr lang="en-PH" sz="4400" dirty="0"/>
              <a:t> kung </a:t>
            </a:r>
            <a:r>
              <a:rPr lang="en-PH" sz="4400" b="1" dirty="0" err="1"/>
              <a:t>tumpak</a:t>
            </a:r>
            <a:r>
              <a:rPr lang="en-PH" sz="4400" dirty="0"/>
              <a:t> bang </a:t>
            </a:r>
            <a:r>
              <a:rPr lang="en-PH" sz="4400" dirty="0" err="1"/>
              <a:t>nasusuri</a:t>
            </a:r>
            <a:r>
              <a:rPr lang="en-PH" sz="4400" dirty="0"/>
              <a:t> ng </a:t>
            </a:r>
            <a:r>
              <a:rPr lang="en-PH" sz="4400" dirty="0" err="1"/>
              <a:t>pag-aaral</a:t>
            </a:r>
            <a:r>
              <a:rPr lang="en-PH" sz="4400" dirty="0"/>
              <a:t> ang </a:t>
            </a:r>
            <a:r>
              <a:rPr lang="en-PH" sz="4400" dirty="0" err="1"/>
              <a:t>nais</a:t>
            </a:r>
            <a:r>
              <a:rPr lang="en-PH" sz="4400" dirty="0"/>
              <a:t> </a:t>
            </a:r>
            <a:r>
              <a:rPr lang="en-PH" sz="4400" dirty="0" err="1"/>
              <a:t>nitong</a:t>
            </a:r>
            <a:r>
              <a:rPr lang="en-PH" sz="4400" dirty="0"/>
              <a:t> </a:t>
            </a:r>
            <a:r>
              <a:rPr lang="en-PH" sz="4400" dirty="0" err="1"/>
              <a:t>sukatin</a:t>
            </a:r>
            <a:r>
              <a:rPr lang="en-PH" sz="4400" dirty="0"/>
              <a:t>. </a:t>
            </a:r>
            <a:r>
              <a:rPr lang="en-PH" sz="4400" dirty="0" err="1"/>
              <a:t>Halimbawa</a:t>
            </a:r>
            <a:r>
              <a:rPr lang="en-PH" sz="4400" dirty="0"/>
              <a:t>, kung </a:t>
            </a:r>
            <a:r>
              <a:rPr lang="en-PH" sz="4400" dirty="0" err="1"/>
              <a:t>sinusukat</a:t>
            </a:r>
            <a:r>
              <a:rPr lang="en-PH" sz="4400" dirty="0"/>
              <a:t> ang </a:t>
            </a:r>
            <a:r>
              <a:rPr lang="en-PH" sz="4400" dirty="0" err="1"/>
              <a:t>epekto</a:t>
            </a:r>
            <a:r>
              <a:rPr lang="en-PH" sz="4400" dirty="0"/>
              <a:t> ng social media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pagboto</a:t>
            </a:r>
            <a:r>
              <a:rPr lang="en-PH" sz="4400" dirty="0"/>
              <a:t>, </a:t>
            </a:r>
            <a:r>
              <a:rPr lang="en-PH" sz="4400" dirty="0" err="1"/>
              <a:t>kailangang</a:t>
            </a:r>
            <a:r>
              <a:rPr lang="en-PH" sz="4400" dirty="0"/>
              <a:t> </a:t>
            </a:r>
            <a:r>
              <a:rPr lang="en-PH" sz="4400" dirty="0" err="1"/>
              <a:t>tiyakin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tanong</a:t>
            </a:r>
            <a:r>
              <a:rPr lang="en-PH" sz="4400" dirty="0"/>
              <a:t> ay </a:t>
            </a:r>
            <a:r>
              <a:rPr lang="en-PH" sz="4400" dirty="0" err="1"/>
              <a:t>talagang</a:t>
            </a:r>
            <a:r>
              <a:rPr lang="en-PH" sz="4400" dirty="0"/>
              <a:t> </a:t>
            </a:r>
            <a:r>
              <a:rPr lang="en-PH" sz="4400" b="1" dirty="0"/>
              <a:t>may </a:t>
            </a:r>
            <a:r>
              <a:rPr lang="en-PH" sz="4400" b="1" dirty="0" err="1"/>
              <a:t>kinalaman</a:t>
            </a:r>
            <a:r>
              <a:rPr lang="en-PH" sz="4400" b="1" dirty="0"/>
              <a:t> </a:t>
            </a:r>
            <a:r>
              <a:rPr lang="en-PH" sz="4400" b="1" dirty="0" err="1"/>
              <a:t>sa</a:t>
            </a:r>
            <a:r>
              <a:rPr lang="en-PH" sz="4400" b="1" dirty="0"/>
              <a:t> </a:t>
            </a:r>
            <a:r>
              <a:rPr lang="en-PH" sz="4400" b="1" dirty="0" err="1"/>
              <a:t>desisyon</a:t>
            </a:r>
            <a:r>
              <a:rPr lang="en-PH" sz="4400" b="1" dirty="0"/>
              <a:t> </a:t>
            </a:r>
            <a:r>
              <a:rPr lang="en-PH" sz="4400" b="1" dirty="0" err="1"/>
              <a:t>sa</a:t>
            </a:r>
            <a:r>
              <a:rPr lang="en-PH" sz="4400" b="1" dirty="0"/>
              <a:t> </a:t>
            </a:r>
            <a:r>
              <a:rPr lang="en-PH" sz="4400" b="1" dirty="0" err="1"/>
              <a:t>pagboto</a:t>
            </a:r>
            <a:r>
              <a:rPr lang="en-PH" sz="4400" dirty="0"/>
              <a:t> at </a:t>
            </a:r>
            <a:r>
              <a:rPr lang="en-PH" sz="4400" dirty="0" err="1"/>
              <a:t>hindi</a:t>
            </a:r>
            <a:r>
              <a:rPr lang="en-PH" sz="4400" dirty="0"/>
              <a:t> </a:t>
            </a:r>
            <a:r>
              <a:rPr lang="en-PH" sz="4400" dirty="0" err="1"/>
              <a:t>tungkol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ibang</a:t>
            </a:r>
            <a:r>
              <a:rPr lang="en-PH" sz="4400" dirty="0"/>
              <a:t> </a:t>
            </a:r>
            <a:r>
              <a:rPr lang="en-PH" sz="4400" dirty="0" err="1"/>
              <a:t>bagay</a:t>
            </a:r>
            <a:endParaRPr lang="en-US" sz="28800" dirty="0">
              <a:solidFill>
                <a:srgbClr val="FFFFFF"/>
              </a:solidFill>
              <a:latin typeface="Bryndan Write"/>
              <a:ea typeface="Bryndan Write"/>
              <a:cs typeface="Bryndan Write"/>
              <a:sym typeface="Bryndan Writ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Mahahalagang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Pamantayan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Disenyo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Pag-</a:t>
            </a:r>
            <a:r>
              <a:rPr lang="en-PH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aaral</a:t>
            </a:r>
            <a:r>
              <a:rPr lang="en-PH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10992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7420" y="1064043"/>
            <a:ext cx="14949745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2307" y="3142878"/>
            <a:ext cx="12357595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400" dirty="0"/>
              <a:t>Ang </a:t>
            </a:r>
            <a:r>
              <a:rPr lang="en-PH" sz="4400" b="1" dirty="0" err="1"/>
              <a:t>Iba't</a:t>
            </a:r>
            <a:r>
              <a:rPr lang="en-PH" sz="4400" b="1" dirty="0"/>
              <a:t> </a:t>
            </a:r>
            <a:r>
              <a:rPr lang="en-PH" sz="4400" b="1" dirty="0" err="1"/>
              <a:t>Ibang</a:t>
            </a:r>
            <a:r>
              <a:rPr lang="en-PH" sz="4400" b="1" dirty="0"/>
              <a:t> Uri ng </a:t>
            </a:r>
            <a:r>
              <a:rPr lang="en-PH" sz="4400" b="1" dirty="0" err="1"/>
              <a:t>Epekto</a:t>
            </a:r>
            <a:r>
              <a:rPr lang="en-PH" sz="4400" b="1" dirty="0"/>
              <a:t> ng Media</a:t>
            </a:r>
            <a:r>
              <a:rPr lang="en-PH" sz="4400" dirty="0"/>
              <a:t> ay </a:t>
            </a:r>
            <a:r>
              <a:rPr lang="en-PH" sz="4400" dirty="0" err="1"/>
              <a:t>depende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b="1" dirty="0" err="1"/>
              <a:t>mensahe</a:t>
            </a:r>
            <a:r>
              <a:rPr lang="en-PH" sz="4400" dirty="0"/>
              <a:t>, </a:t>
            </a:r>
            <a:r>
              <a:rPr lang="en-PH" sz="4400" b="1" dirty="0" err="1"/>
              <a:t>midyum</a:t>
            </a:r>
            <a:r>
              <a:rPr lang="en-PH" sz="4400" dirty="0"/>
              <a:t>, </a:t>
            </a:r>
            <a:r>
              <a:rPr lang="en-PH" sz="4400" b="1" dirty="0" err="1"/>
              <a:t>manunood</a:t>
            </a:r>
            <a:r>
              <a:rPr lang="en-PH" sz="4400" dirty="0"/>
              <a:t>, at </a:t>
            </a:r>
            <a:r>
              <a:rPr lang="en-PH" sz="4400" b="1" dirty="0" err="1"/>
              <a:t>tipo</a:t>
            </a:r>
            <a:r>
              <a:rPr lang="en-PH" sz="4400" b="1" dirty="0"/>
              <a:t> ng </a:t>
            </a:r>
            <a:r>
              <a:rPr lang="en-PH" sz="4400" b="1" dirty="0" err="1"/>
              <a:t>epekto</a:t>
            </a:r>
            <a:r>
              <a:rPr lang="en-PH" sz="4400" dirty="0"/>
              <a:t>. Ayon kina </a:t>
            </a:r>
            <a:r>
              <a:rPr lang="en-PH" sz="4400" b="1" dirty="0"/>
              <a:t>Jack McLeod at </a:t>
            </a:r>
            <a:r>
              <a:rPr lang="en-PH" sz="4400" b="1" dirty="0" err="1"/>
              <a:t>Bayron</a:t>
            </a:r>
            <a:r>
              <a:rPr lang="en-PH" sz="4400" b="1" dirty="0"/>
              <a:t> Reeves (1980)</a:t>
            </a:r>
            <a:r>
              <a:rPr lang="en-PH" sz="4400" dirty="0"/>
              <a:t>, </a:t>
            </a:r>
            <a:r>
              <a:rPr lang="en-PH" sz="4400" dirty="0" err="1"/>
              <a:t>walang</a:t>
            </a:r>
            <a:r>
              <a:rPr lang="en-PH" sz="4400" dirty="0"/>
              <a:t> </a:t>
            </a:r>
            <a:r>
              <a:rPr lang="en-PH" sz="4400" dirty="0" err="1"/>
              <a:t>simpleng</a:t>
            </a:r>
            <a:r>
              <a:rPr lang="en-PH" sz="4400" dirty="0"/>
              <a:t> </a:t>
            </a:r>
            <a:r>
              <a:rPr lang="en-PH" sz="4400" dirty="0" err="1"/>
              <a:t>sagot</a:t>
            </a:r>
            <a:r>
              <a:rPr lang="en-PH" sz="4400" dirty="0"/>
              <a:t> kung ang media ay </a:t>
            </a:r>
            <a:r>
              <a:rPr lang="en-PH" sz="4400" dirty="0" err="1"/>
              <a:t>nakaaapekto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tao</a:t>
            </a:r>
            <a:r>
              <a:rPr lang="en-PH" sz="4400" dirty="0"/>
              <a:t> </a:t>
            </a:r>
            <a:r>
              <a:rPr lang="en-PH" sz="4400" dirty="0" err="1"/>
              <a:t>dahil</a:t>
            </a:r>
            <a:r>
              <a:rPr lang="en-PH" sz="4400" dirty="0"/>
              <a:t> </a:t>
            </a:r>
            <a:r>
              <a:rPr lang="en-PH" sz="4400" b="1" dirty="0" err="1"/>
              <a:t>iba-iba</a:t>
            </a:r>
            <a:r>
              <a:rPr lang="en-PH" sz="4400" b="1" dirty="0"/>
              <a:t> ang </a:t>
            </a:r>
            <a:r>
              <a:rPr lang="en-PH" sz="4400" b="1" dirty="0" err="1"/>
              <a:t>epekto</a:t>
            </a:r>
            <a:r>
              <a:rPr lang="en-PH" sz="4400" dirty="0"/>
              <a:t> </a:t>
            </a:r>
            <a:r>
              <a:rPr lang="en-PH" sz="4400" dirty="0" err="1"/>
              <a:t>depende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kung </a:t>
            </a:r>
            <a:r>
              <a:rPr lang="en-PH" sz="4400" dirty="0" err="1"/>
              <a:t>ano</a:t>
            </a:r>
            <a:r>
              <a:rPr lang="en-PH" sz="4400" dirty="0"/>
              <a:t> ang </a:t>
            </a:r>
            <a:r>
              <a:rPr lang="en-PH" sz="4400" dirty="0" err="1"/>
              <a:t>hinahanap</a:t>
            </a:r>
            <a:r>
              <a:rPr lang="en-PH" sz="4400" dirty="0"/>
              <a:t> o </a:t>
            </a:r>
            <a:r>
              <a:rPr lang="en-PH" sz="4400" dirty="0" err="1"/>
              <a:t>inaasahan</a:t>
            </a:r>
            <a:r>
              <a:rPr lang="en-PH" sz="4400" dirty="0"/>
              <a:t> ng </a:t>
            </a:r>
            <a:r>
              <a:rPr lang="en-PH" sz="4400" dirty="0" err="1"/>
              <a:t>tumatanggap</a:t>
            </a:r>
            <a:r>
              <a:rPr lang="en-PH" sz="4400" dirty="0"/>
              <a:t> ng </a:t>
            </a:r>
            <a:r>
              <a:rPr lang="en-PH" sz="4400" dirty="0" err="1"/>
              <a:t>mensahe</a:t>
            </a:r>
            <a:r>
              <a:rPr lang="en-PH" sz="4400" dirty="0"/>
              <a:t>.</a:t>
            </a:r>
            <a:endParaRPr lang="en-US" sz="28800" dirty="0">
              <a:solidFill>
                <a:srgbClr val="FFFFFF"/>
              </a:solidFill>
              <a:latin typeface="Bryndan Write"/>
              <a:ea typeface="Bryndan Write"/>
              <a:cs typeface="Bryndan Write"/>
              <a:sym typeface="Bryndan Writ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3600" b="1" dirty="0" err="1"/>
              <a:t>Iba't</a:t>
            </a:r>
            <a:r>
              <a:rPr lang="en-PH" sz="3600" b="1" dirty="0"/>
              <a:t> </a:t>
            </a:r>
            <a:r>
              <a:rPr lang="en-PH" sz="3600" b="1" dirty="0" err="1"/>
              <a:t>Ibang</a:t>
            </a:r>
            <a:r>
              <a:rPr lang="en-PH" sz="3600" b="1" dirty="0"/>
              <a:t> Uri ng </a:t>
            </a:r>
            <a:r>
              <a:rPr lang="en-PH" sz="3600" b="1" dirty="0" err="1"/>
              <a:t>Epekto</a:t>
            </a:r>
            <a:r>
              <a:rPr lang="en-PH" sz="3600" b="1" dirty="0"/>
              <a:t> ng Media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191883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7420" y="1064043"/>
            <a:ext cx="14949745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2307" y="3142878"/>
            <a:ext cx="12357595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400" dirty="0"/>
              <a:t>Ang </a:t>
            </a:r>
            <a:r>
              <a:rPr lang="en-PH" sz="4400" b="1" dirty="0"/>
              <a:t>Micro-level </a:t>
            </a:r>
            <a:r>
              <a:rPr lang="en-PH" sz="4400" b="1" dirty="0" err="1"/>
              <a:t>na</a:t>
            </a:r>
            <a:r>
              <a:rPr lang="en-PH" sz="4400" b="1" dirty="0"/>
              <a:t> </a:t>
            </a:r>
            <a:r>
              <a:rPr lang="en-PH" sz="4400" b="1" dirty="0" err="1"/>
              <a:t>epekto</a:t>
            </a:r>
            <a:r>
              <a:rPr lang="en-PH" sz="4400" b="1" dirty="0"/>
              <a:t> ng media</a:t>
            </a:r>
            <a:r>
              <a:rPr lang="en-PH" sz="4400" dirty="0"/>
              <a:t> ay </a:t>
            </a:r>
            <a:r>
              <a:rPr lang="en-PH" sz="4400" dirty="0" err="1"/>
              <a:t>tumutukoy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b="1" dirty="0" err="1"/>
              <a:t>epekto</a:t>
            </a:r>
            <a:r>
              <a:rPr lang="en-PH" sz="4400" b="1" dirty="0"/>
              <a:t> </a:t>
            </a:r>
            <a:r>
              <a:rPr lang="en-PH" sz="4400" b="1" dirty="0" err="1"/>
              <a:t>sa</a:t>
            </a:r>
            <a:r>
              <a:rPr lang="en-PH" sz="4400" b="1" dirty="0"/>
              <a:t> </a:t>
            </a:r>
            <a:r>
              <a:rPr lang="en-PH" sz="4400" b="1" dirty="0" err="1"/>
              <a:t>bawat</a:t>
            </a:r>
            <a:r>
              <a:rPr lang="en-PH" sz="4400" b="1" dirty="0"/>
              <a:t> </a:t>
            </a:r>
            <a:r>
              <a:rPr lang="en-PH" sz="4400" b="1" dirty="0" err="1"/>
              <a:t>indibidwal</a:t>
            </a:r>
            <a:r>
              <a:rPr lang="en-PH" sz="4400" dirty="0"/>
              <a:t>, </a:t>
            </a:r>
            <a:r>
              <a:rPr lang="en-PH" sz="4400" dirty="0" err="1"/>
              <a:t>tulad</a:t>
            </a:r>
            <a:r>
              <a:rPr lang="en-PH" sz="4400" dirty="0"/>
              <a:t> ng </a:t>
            </a:r>
            <a:r>
              <a:rPr lang="en-PH" sz="4400" b="1" dirty="0" err="1"/>
              <a:t>pisyolohikal</a:t>
            </a:r>
            <a:r>
              <a:rPr lang="en-PH" sz="4400" b="1" dirty="0"/>
              <a:t> </a:t>
            </a:r>
            <a:r>
              <a:rPr lang="en-PH" sz="4400" b="1" dirty="0" err="1"/>
              <a:t>na</a:t>
            </a:r>
            <a:r>
              <a:rPr lang="en-PH" sz="4400" b="1" dirty="0"/>
              <a:t> </a:t>
            </a:r>
            <a:r>
              <a:rPr lang="en-PH" sz="4400" b="1" dirty="0" err="1"/>
              <a:t>reaksyon</a:t>
            </a:r>
            <a:r>
              <a:rPr lang="en-PH" sz="4400" dirty="0"/>
              <a:t> (</a:t>
            </a:r>
            <a:r>
              <a:rPr lang="en-PH" sz="4400" dirty="0" err="1"/>
              <a:t>hal</a:t>
            </a:r>
            <a:r>
              <a:rPr lang="en-PH" sz="4400" dirty="0"/>
              <a:t>. </a:t>
            </a:r>
            <a:r>
              <a:rPr lang="en-PH" sz="4400" dirty="0" err="1"/>
              <a:t>pagbilis</a:t>
            </a:r>
            <a:r>
              <a:rPr lang="en-PH" sz="4400" dirty="0"/>
              <a:t> ng </a:t>
            </a:r>
            <a:r>
              <a:rPr lang="en-PH" sz="4400" dirty="0" err="1"/>
              <a:t>tibok</a:t>
            </a:r>
            <a:r>
              <a:rPr lang="en-PH" sz="4400" dirty="0"/>
              <a:t> ng </a:t>
            </a:r>
            <a:r>
              <a:rPr lang="en-PH" sz="4400" dirty="0" err="1"/>
              <a:t>puso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kapanapanabik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palabas</a:t>
            </a:r>
            <a:r>
              <a:rPr lang="en-PH" sz="4400" dirty="0"/>
              <a:t>). </a:t>
            </a:r>
            <a:r>
              <a:rPr lang="en-PH" sz="4400" dirty="0" err="1"/>
              <a:t>Samantala</a:t>
            </a:r>
            <a:r>
              <a:rPr lang="en-PH" sz="4400" dirty="0"/>
              <a:t>, ang </a:t>
            </a:r>
            <a:r>
              <a:rPr lang="en-PH" sz="4400" b="1" dirty="0"/>
              <a:t>Macro-level </a:t>
            </a:r>
            <a:r>
              <a:rPr lang="en-PH" sz="4400" b="1" dirty="0" err="1"/>
              <a:t>na</a:t>
            </a:r>
            <a:r>
              <a:rPr lang="en-PH" sz="4400" b="1" dirty="0"/>
              <a:t> </a:t>
            </a:r>
            <a:r>
              <a:rPr lang="en-PH" sz="4400" b="1" dirty="0" err="1"/>
              <a:t>epekto</a:t>
            </a:r>
            <a:r>
              <a:rPr lang="en-PH" sz="4400" dirty="0"/>
              <a:t> ay </a:t>
            </a:r>
            <a:r>
              <a:rPr lang="en-PH" sz="4400" dirty="0" err="1"/>
              <a:t>nakakaapekto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b="1" dirty="0"/>
              <a:t>mas </a:t>
            </a:r>
            <a:r>
              <a:rPr lang="en-PH" sz="4400" b="1" dirty="0" err="1"/>
              <a:t>malawak</a:t>
            </a:r>
            <a:r>
              <a:rPr lang="en-PH" sz="4400" b="1" dirty="0"/>
              <a:t> </a:t>
            </a:r>
            <a:r>
              <a:rPr lang="en-PH" sz="4400" b="1" dirty="0" err="1"/>
              <a:t>na</a:t>
            </a:r>
            <a:r>
              <a:rPr lang="en-PH" sz="4400" b="1" dirty="0"/>
              <a:t> </a:t>
            </a:r>
            <a:r>
              <a:rPr lang="en-PH" sz="4400" b="1" dirty="0" err="1"/>
              <a:t>grupo</a:t>
            </a:r>
            <a:r>
              <a:rPr lang="en-PH" sz="4400" b="1" dirty="0"/>
              <a:t> o </a:t>
            </a:r>
            <a:r>
              <a:rPr lang="en-PH" sz="4400" b="1" dirty="0" err="1"/>
              <a:t>komunidad</a:t>
            </a:r>
            <a:r>
              <a:rPr lang="en-PH" sz="4400" dirty="0"/>
              <a:t>, </a:t>
            </a:r>
            <a:r>
              <a:rPr lang="en-PH" sz="4400" dirty="0" err="1"/>
              <a:t>gaya</a:t>
            </a:r>
            <a:r>
              <a:rPr lang="en-PH" sz="4400" dirty="0"/>
              <a:t> ng </a:t>
            </a:r>
            <a:r>
              <a:rPr lang="en-PH" sz="4400" dirty="0" err="1"/>
              <a:t>pagbabago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b="1" dirty="0" err="1"/>
              <a:t>opinyong</a:t>
            </a:r>
            <a:r>
              <a:rPr lang="en-PH" sz="4400" b="1" dirty="0"/>
              <a:t> </a:t>
            </a:r>
            <a:r>
              <a:rPr lang="en-PH" sz="4400" b="1" dirty="0" err="1"/>
              <a:t>pampubliko</a:t>
            </a:r>
            <a:r>
              <a:rPr lang="en-PH" sz="4400" dirty="0"/>
              <a:t> o </a:t>
            </a:r>
            <a:r>
              <a:rPr lang="en-PH" sz="4400" b="1" dirty="0" err="1"/>
              <a:t>kultura</a:t>
            </a:r>
            <a:r>
              <a:rPr lang="en-PH" sz="4400" dirty="0"/>
              <a:t>.</a:t>
            </a:r>
            <a:endParaRPr lang="en-US" sz="28800" dirty="0">
              <a:solidFill>
                <a:srgbClr val="FFFFFF"/>
              </a:solidFill>
              <a:latin typeface="Bryndan Write"/>
              <a:ea typeface="Bryndan Write"/>
              <a:cs typeface="Bryndan Write"/>
              <a:sym typeface="Bryndan Writ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3600" b="1" dirty="0" err="1"/>
              <a:t>Iba't</a:t>
            </a:r>
            <a:r>
              <a:rPr lang="en-PH" sz="3600" b="1" dirty="0"/>
              <a:t> </a:t>
            </a:r>
            <a:r>
              <a:rPr lang="en-PH" sz="3600" b="1" dirty="0" err="1"/>
              <a:t>Ibang</a:t>
            </a:r>
            <a:r>
              <a:rPr lang="en-PH" sz="3600" b="1" dirty="0"/>
              <a:t> Uri ng </a:t>
            </a:r>
            <a:r>
              <a:rPr lang="en-PH" sz="3600" b="1" dirty="0" err="1"/>
              <a:t>Epekto</a:t>
            </a:r>
            <a:r>
              <a:rPr lang="en-PH" sz="3600" b="1" dirty="0"/>
              <a:t> ng Media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065371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7420" y="1064043"/>
            <a:ext cx="14949745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2307" y="3142878"/>
            <a:ext cx="12357595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400" dirty="0"/>
              <a:t>Ang </a:t>
            </a:r>
            <a:r>
              <a:rPr lang="en-PH" sz="4400" b="1" dirty="0" err="1"/>
              <a:t>Tiyak</a:t>
            </a:r>
            <a:r>
              <a:rPr lang="en-PH" sz="4400" b="1" dirty="0"/>
              <a:t> </a:t>
            </a:r>
            <a:r>
              <a:rPr lang="en-PH" sz="4400" b="1" dirty="0" err="1"/>
              <a:t>na</a:t>
            </a:r>
            <a:r>
              <a:rPr lang="en-PH" sz="4400" b="1" dirty="0"/>
              <a:t> </a:t>
            </a:r>
            <a:r>
              <a:rPr lang="en-PH" sz="4400" b="1" dirty="0" err="1"/>
              <a:t>Nilalaman</a:t>
            </a:r>
            <a:r>
              <a:rPr lang="en-PH" sz="4400" b="1" dirty="0"/>
              <a:t> (Content-specific)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epekto</a:t>
            </a:r>
            <a:r>
              <a:rPr lang="en-PH" sz="4400" dirty="0"/>
              <a:t> ng media ay </a:t>
            </a:r>
            <a:r>
              <a:rPr lang="en-PH" sz="4400" dirty="0" err="1"/>
              <a:t>sumusukat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b="1" dirty="0" err="1"/>
              <a:t>impluwensya</a:t>
            </a:r>
            <a:r>
              <a:rPr lang="en-PH" sz="4400" b="1" dirty="0"/>
              <a:t> ng </a:t>
            </a:r>
            <a:r>
              <a:rPr lang="en-PH" sz="4400" b="1" dirty="0" err="1"/>
              <a:t>partikular</a:t>
            </a:r>
            <a:r>
              <a:rPr lang="en-PH" sz="4400" b="1" dirty="0"/>
              <a:t> </a:t>
            </a:r>
            <a:r>
              <a:rPr lang="en-PH" sz="4400" b="1" dirty="0" err="1"/>
              <a:t>na</a:t>
            </a:r>
            <a:r>
              <a:rPr lang="en-PH" sz="4400" b="1" dirty="0"/>
              <a:t> </a:t>
            </a:r>
            <a:r>
              <a:rPr lang="en-PH" sz="4400" b="1" dirty="0" err="1"/>
              <a:t>nilalaman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b="1" dirty="0" err="1"/>
              <a:t>pag-uugali</a:t>
            </a:r>
            <a:r>
              <a:rPr lang="en-PH" sz="4400" b="1" dirty="0"/>
              <a:t> o kilos ng </a:t>
            </a:r>
            <a:r>
              <a:rPr lang="en-PH" sz="4400" b="1" dirty="0" err="1"/>
              <a:t>manunood</a:t>
            </a:r>
            <a:r>
              <a:rPr lang="en-PH" sz="4400" dirty="0"/>
              <a:t>. </a:t>
            </a:r>
            <a:r>
              <a:rPr lang="en-PH" sz="4400" dirty="0" err="1"/>
              <a:t>Halimbawa</a:t>
            </a:r>
            <a:r>
              <a:rPr lang="en-PH" sz="4400" dirty="0"/>
              <a:t>, ang </a:t>
            </a:r>
            <a:r>
              <a:rPr lang="en-PH" sz="4400" dirty="0" err="1"/>
              <a:t>madalas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panonood</a:t>
            </a:r>
            <a:r>
              <a:rPr lang="en-PH" sz="4400" dirty="0"/>
              <a:t> ng </a:t>
            </a:r>
            <a:r>
              <a:rPr lang="en-PH" sz="4400" b="1" dirty="0" err="1"/>
              <a:t>karahasan</a:t>
            </a:r>
            <a:r>
              <a:rPr lang="en-PH" sz="4400" b="1" dirty="0"/>
              <a:t> </a:t>
            </a:r>
            <a:r>
              <a:rPr lang="en-PH" sz="4400" b="1" dirty="0" err="1"/>
              <a:t>sa</a:t>
            </a:r>
            <a:r>
              <a:rPr lang="en-PH" sz="4400" b="1" dirty="0"/>
              <a:t> TV</a:t>
            </a:r>
            <a:r>
              <a:rPr lang="en-PH" sz="4400" dirty="0"/>
              <a:t> ay </a:t>
            </a:r>
            <a:r>
              <a:rPr lang="en-PH" sz="4400" dirty="0" err="1"/>
              <a:t>maaaring</a:t>
            </a:r>
            <a:r>
              <a:rPr lang="en-PH" sz="4400" dirty="0"/>
              <a:t> </a:t>
            </a:r>
            <a:r>
              <a:rPr lang="en-PH" sz="4400" dirty="0" err="1"/>
              <a:t>makaapekto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b="1" dirty="0" err="1"/>
              <a:t>agresibong</a:t>
            </a:r>
            <a:r>
              <a:rPr lang="en-PH" sz="4400" b="1" dirty="0"/>
              <a:t> kilos</a:t>
            </a:r>
            <a:r>
              <a:rPr lang="en-PH" sz="4400" dirty="0"/>
              <a:t> ng </a:t>
            </a:r>
            <a:r>
              <a:rPr lang="en-PH" sz="4400" dirty="0" err="1"/>
              <a:t>manonood</a:t>
            </a:r>
            <a:r>
              <a:rPr lang="en-PH" sz="4400" dirty="0"/>
              <a:t>.</a:t>
            </a:r>
            <a:endParaRPr lang="en-US" sz="28800" dirty="0">
              <a:solidFill>
                <a:srgbClr val="FFFFFF"/>
              </a:solidFill>
              <a:latin typeface="Bryndan Write"/>
              <a:ea typeface="Bryndan Write"/>
              <a:cs typeface="Bryndan Write"/>
              <a:sym typeface="Bryndan Writ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3600" b="1" dirty="0" err="1"/>
              <a:t>Iba't</a:t>
            </a:r>
            <a:r>
              <a:rPr lang="en-PH" sz="3600" b="1" dirty="0"/>
              <a:t> </a:t>
            </a:r>
            <a:r>
              <a:rPr lang="en-PH" sz="3600" b="1" dirty="0" err="1"/>
              <a:t>Ibang</a:t>
            </a:r>
            <a:r>
              <a:rPr lang="en-PH" sz="3600" b="1" dirty="0"/>
              <a:t> Uri ng </a:t>
            </a:r>
            <a:r>
              <a:rPr lang="en-PH" sz="3600" b="1" dirty="0" err="1"/>
              <a:t>Epekto</a:t>
            </a:r>
            <a:r>
              <a:rPr lang="en-PH" sz="3600" b="1" dirty="0"/>
              <a:t> ng Media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55846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7420" y="1064043"/>
            <a:ext cx="14949745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2307" y="3142878"/>
            <a:ext cx="12357595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400" dirty="0"/>
              <a:t>Ang </a:t>
            </a:r>
            <a:r>
              <a:rPr lang="en-PH" sz="4400" b="1" dirty="0"/>
              <a:t>Alteration</a:t>
            </a:r>
            <a:r>
              <a:rPr lang="en-PH" sz="4400" dirty="0"/>
              <a:t> ay </a:t>
            </a:r>
            <a:r>
              <a:rPr lang="en-PH" sz="4400" dirty="0" err="1"/>
              <a:t>epekto</a:t>
            </a:r>
            <a:r>
              <a:rPr lang="en-PH" sz="4400" dirty="0"/>
              <a:t> ng media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nagdudulot</a:t>
            </a:r>
            <a:r>
              <a:rPr lang="en-PH" sz="4400" dirty="0"/>
              <a:t> ng </a:t>
            </a:r>
            <a:r>
              <a:rPr lang="en-PH" sz="4400" b="1" dirty="0" err="1"/>
              <a:t>pagbabago</a:t>
            </a:r>
            <a:r>
              <a:rPr lang="en-PH" sz="4400" b="1" dirty="0"/>
              <a:t> </a:t>
            </a:r>
            <a:r>
              <a:rPr lang="en-PH" sz="4400" b="1" dirty="0" err="1"/>
              <a:t>sa</a:t>
            </a:r>
            <a:r>
              <a:rPr lang="en-PH" sz="4400" b="1" dirty="0"/>
              <a:t> </a:t>
            </a:r>
            <a:r>
              <a:rPr lang="en-PH" sz="4400" b="1" dirty="0" err="1"/>
              <a:t>pananaw</a:t>
            </a:r>
            <a:r>
              <a:rPr lang="en-PH" sz="4400" dirty="0"/>
              <a:t> o </a:t>
            </a:r>
            <a:r>
              <a:rPr lang="en-PH" sz="4400" b="1" dirty="0" err="1"/>
              <a:t>pagtangkilik</a:t>
            </a:r>
            <a:r>
              <a:rPr lang="en-PH" sz="4400" b="1" dirty="0"/>
              <a:t> </a:t>
            </a:r>
            <a:r>
              <a:rPr lang="en-PH" sz="4400" b="1" dirty="0" err="1"/>
              <a:t>sa</a:t>
            </a:r>
            <a:r>
              <a:rPr lang="en-PH" sz="4400" b="1" dirty="0"/>
              <a:t> </a:t>
            </a:r>
            <a:r>
              <a:rPr lang="en-PH" sz="4400" b="1" dirty="0" err="1"/>
              <a:t>isang</a:t>
            </a:r>
            <a:r>
              <a:rPr lang="en-PH" sz="4400" b="1" dirty="0"/>
              <a:t> </a:t>
            </a:r>
            <a:r>
              <a:rPr lang="en-PH" sz="4400" b="1" dirty="0" err="1"/>
              <a:t>pulitiko</a:t>
            </a:r>
            <a:r>
              <a:rPr lang="en-PH" sz="4400" b="1" dirty="0"/>
              <a:t> o </a:t>
            </a:r>
            <a:r>
              <a:rPr lang="en-PH" sz="4400" b="1" dirty="0" err="1"/>
              <a:t>produkto</a:t>
            </a:r>
            <a:r>
              <a:rPr lang="en-PH" sz="4400" dirty="0"/>
              <a:t>. </a:t>
            </a:r>
            <a:r>
              <a:rPr lang="en-PH" sz="4400" dirty="0" err="1"/>
              <a:t>Maaari</a:t>
            </a:r>
            <a:r>
              <a:rPr lang="en-PH" sz="4400" dirty="0"/>
              <a:t> </a:t>
            </a:r>
            <a:r>
              <a:rPr lang="en-PH" sz="4400" dirty="0" err="1"/>
              <a:t>rin</a:t>
            </a:r>
            <a:r>
              <a:rPr lang="en-PH" sz="4400" dirty="0"/>
              <a:t> </a:t>
            </a:r>
            <a:r>
              <a:rPr lang="en-PH" sz="4400" dirty="0" err="1"/>
              <a:t>nitong</a:t>
            </a:r>
            <a:r>
              <a:rPr lang="en-PH" sz="4400" dirty="0"/>
              <a:t> </a:t>
            </a:r>
            <a:r>
              <a:rPr lang="en-PH" sz="4400" b="1" dirty="0" err="1"/>
              <a:t>panatilihin</a:t>
            </a:r>
            <a:r>
              <a:rPr lang="en-PH" sz="4400" b="1" dirty="0"/>
              <a:t> ang </a:t>
            </a:r>
            <a:r>
              <a:rPr lang="en-PH" sz="4400" b="1" dirty="0" err="1"/>
              <a:t>kasalukuyang</a:t>
            </a:r>
            <a:r>
              <a:rPr lang="en-PH" sz="4400" b="1" dirty="0"/>
              <a:t> </a:t>
            </a:r>
            <a:r>
              <a:rPr lang="en-PH" sz="4400" b="1" dirty="0" err="1"/>
              <a:t>desisyon</a:t>
            </a:r>
            <a:r>
              <a:rPr lang="en-PH" sz="4400" dirty="0"/>
              <a:t> o </a:t>
            </a:r>
            <a:r>
              <a:rPr lang="en-PH" sz="4400" b="1" dirty="0" err="1"/>
              <a:t>palakasin</a:t>
            </a:r>
            <a:r>
              <a:rPr lang="en-PH" sz="4400" b="1" dirty="0"/>
              <a:t> ang status quo at </a:t>
            </a:r>
            <a:r>
              <a:rPr lang="en-PH" sz="4400" b="1" dirty="0" err="1"/>
              <a:t>istabilidad</a:t>
            </a:r>
            <a:r>
              <a:rPr lang="en-PH" sz="4400" b="1" dirty="0"/>
              <a:t> (stability)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lipunan</a:t>
            </a:r>
            <a:r>
              <a:rPr lang="en-PH" sz="4400" dirty="0"/>
              <a:t>.</a:t>
            </a:r>
            <a:endParaRPr lang="en-US" sz="28800" dirty="0">
              <a:solidFill>
                <a:srgbClr val="FFFFFF"/>
              </a:solidFill>
              <a:latin typeface="Bryndan Write"/>
              <a:ea typeface="Bryndan Write"/>
              <a:cs typeface="Bryndan Write"/>
              <a:sym typeface="Bryndan Writ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3600" b="1" dirty="0" err="1"/>
              <a:t>Iba't</a:t>
            </a:r>
            <a:r>
              <a:rPr lang="en-PH" sz="3600" b="1" dirty="0"/>
              <a:t> </a:t>
            </a:r>
            <a:r>
              <a:rPr lang="en-PH" sz="3600" b="1" dirty="0" err="1"/>
              <a:t>Ibang</a:t>
            </a:r>
            <a:r>
              <a:rPr lang="en-PH" sz="3600" b="1" dirty="0"/>
              <a:t> Uri ng </a:t>
            </a:r>
            <a:r>
              <a:rPr lang="en-PH" sz="3600" b="1" dirty="0" err="1"/>
              <a:t>Epekto</a:t>
            </a:r>
            <a:r>
              <a:rPr lang="en-PH" sz="3600" b="1" dirty="0"/>
              <a:t> ng Media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742394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6961" y="1301965"/>
            <a:ext cx="14949745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56950" y="2384977"/>
            <a:ext cx="12357595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400" dirty="0"/>
              <a:t>Normative Media</a:t>
            </a:r>
          </a:p>
          <a:p>
            <a:r>
              <a:rPr lang="en-PH" sz="4400" dirty="0"/>
              <a:t>Ang </a:t>
            </a:r>
            <a:r>
              <a:rPr lang="en-PH" sz="4400" b="1" dirty="0" err="1"/>
              <a:t>Teorya</a:t>
            </a:r>
            <a:r>
              <a:rPr lang="en-PH" sz="4400" b="1" dirty="0"/>
              <a:t> </a:t>
            </a:r>
            <a:r>
              <a:rPr lang="en-PH" sz="4400" b="1" dirty="0" err="1"/>
              <a:t>sa</a:t>
            </a:r>
            <a:r>
              <a:rPr lang="en-PH" sz="4400" b="1" dirty="0"/>
              <a:t> Media (Media Theory)</a:t>
            </a:r>
            <a:r>
              <a:rPr lang="en-PH" sz="4400" dirty="0"/>
              <a:t> ay </a:t>
            </a:r>
            <a:r>
              <a:rPr lang="en-PH" sz="4400" dirty="0" err="1"/>
              <a:t>tumutukoy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b="1" dirty="0" err="1"/>
              <a:t>komplikadong</a:t>
            </a:r>
            <a:r>
              <a:rPr lang="en-PH" sz="4400" b="1" dirty="0"/>
              <a:t> </a:t>
            </a:r>
            <a:r>
              <a:rPr lang="en-PH" sz="4400" b="1" dirty="0" err="1"/>
              <a:t>prinsipyo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nag-</a:t>
            </a:r>
            <a:r>
              <a:rPr lang="en-PH" sz="4400" dirty="0" err="1"/>
              <a:t>uugnay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b="1" dirty="0"/>
              <a:t>media at </a:t>
            </a:r>
            <a:r>
              <a:rPr lang="en-PH" sz="4400" b="1" dirty="0" err="1"/>
              <a:t>lipunan</a:t>
            </a:r>
            <a:r>
              <a:rPr lang="en-PH" sz="4400" dirty="0"/>
              <a:t>, at may </a:t>
            </a:r>
            <a:r>
              <a:rPr lang="en-PH" sz="4400" dirty="0" err="1"/>
              <a:t>kinalaman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b="1" dirty="0" err="1"/>
              <a:t>sosyo-politikal</a:t>
            </a:r>
            <a:r>
              <a:rPr lang="en-PH" sz="4400" dirty="0"/>
              <a:t> at </a:t>
            </a:r>
            <a:r>
              <a:rPr lang="en-PH" sz="4400" b="1" dirty="0" err="1"/>
              <a:t>piliosopikal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aspekto</a:t>
            </a:r>
            <a:r>
              <a:rPr lang="en-PH" sz="4400" dirty="0"/>
              <a:t> ng </a:t>
            </a:r>
            <a:r>
              <a:rPr lang="en-PH" sz="4400" dirty="0" err="1"/>
              <a:t>kanilang</a:t>
            </a:r>
            <a:r>
              <a:rPr lang="en-PH" sz="4400" dirty="0"/>
              <a:t> </a:t>
            </a:r>
            <a:r>
              <a:rPr lang="en-PH" sz="4400" dirty="0" err="1"/>
              <a:t>relasyon</a:t>
            </a:r>
            <a:r>
              <a:rPr lang="en-PH" sz="4400" dirty="0"/>
              <a:t>. </a:t>
            </a:r>
            <a:r>
              <a:rPr lang="en-PH" sz="4400" dirty="0" err="1"/>
              <a:t>Nakapaloob</a:t>
            </a:r>
            <a:r>
              <a:rPr lang="en-PH" sz="4400" dirty="0"/>
              <a:t> </a:t>
            </a:r>
            <a:r>
              <a:rPr lang="en-PH" sz="4400" dirty="0" err="1"/>
              <a:t>dito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b="1" dirty="0" err="1"/>
              <a:t>teoryang</a:t>
            </a:r>
            <a:r>
              <a:rPr lang="en-PH" sz="4400" b="1" dirty="0"/>
              <a:t> normative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nagpapakita</a:t>
            </a:r>
            <a:r>
              <a:rPr lang="en-PH" sz="4400" dirty="0"/>
              <a:t> ng </a:t>
            </a:r>
            <a:r>
              <a:rPr lang="en-PH" sz="4400" dirty="0" err="1"/>
              <a:t>potensyal</a:t>
            </a:r>
            <a:r>
              <a:rPr lang="en-PH" sz="4400" dirty="0"/>
              <a:t> ng media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b="1" dirty="0" err="1"/>
              <a:t>lipunan</a:t>
            </a:r>
            <a:r>
              <a:rPr lang="en-PH" sz="4400" dirty="0"/>
              <a:t> at kung </a:t>
            </a:r>
            <a:r>
              <a:rPr lang="en-PH" sz="4400" dirty="0" err="1"/>
              <a:t>paano</a:t>
            </a:r>
            <a:r>
              <a:rPr lang="en-PH" sz="4400" dirty="0"/>
              <a:t> </a:t>
            </a:r>
            <a:r>
              <a:rPr lang="en-PH" sz="4400" dirty="0" err="1"/>
              <a:t>nito</a:t>
            </a:r>
            <a:r>
              <a:rPr lang="en-PH" sz="4400" dirty="0"/>
              <a:t> </a:t>
            </a:r>
            <a:r>
              <a:rPr lang="en-PH" sz="4400" dirty="0" err="1"/>
              <a:t>maaaring</a:t>
            </a:r>
            <a:r>
              <a:rPr lang="en-PH" sz="4400" dirty="0"/>
              <a:t> </a:t>
            </a:r>
            <a:r>
              <a:rPr lang="en-PH" sz="4400" dirty="0" err="1"/>
              <a:t>mapabuti</a:t>
            </a:r>
            <a:r>
              <a:rPr lang="en-PH" sz="4400" dirty="0"/>
              <a:t> ang </a:t>
            </a:r>
            <a:r>
              <a:rPr lang="en-PH" sz="4400" dirty="0" err="1"/>
              <a:t>kaayusan</a:t>
            </a:r>
            <a:r>
              <a:rPr lang="en-PH" sz="4400" dirty="0"/>
              <a:t> at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aspeto</a:t>
            </a:r>
            <a:r>
              <a:rPr lang="en-PH" sz="4400" dirty="0"/>
              <a:t> ng </a:t>
            </a:r>
            <a:r>
              <a:rPr lang="en-PH" sz="4400" dirty="0" err="1"/>
              <a:t>buhay</a:t>
            </a:r>
            <a:r>
              <a:rPr lang="en-PH" sz="4400" dirty="0"/>
              <a:t> ng </a:t>
            </a:r>
            <a:r>
              <a:rPr lang="en-PH" sz="4400" dirty="0" err="1"/>
              <a:t>tao</a:t>
            </a:r>
            <a:r>
              <a:rPr lang="en-PH" sz="4400" dirty="0"/>
              <a:t>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-342900"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Teorya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may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Kaugnayan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Media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583629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6961" y="1301965"/>
            <a:ext cx="14949745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357595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400" dirty="0"/>
              <a:t>Normative Media</a:t>
            </a:r>
          </a:p>
          <a:p>
            <a:r>
              <a:rPr lang="en-PH" sz="4400" dirty="0" err="1"/>
              <a:t>Narito</a:t>
            </a:r>
            <a:r>
              <a:rPr lang="en-PH" sz="4400" dirty="0"/>
              <a:t> ang </a:t>
            </a:r>
            <a:r>
              <a:rPr lang="en-PH" sz="4400" dirty="0" err="1"/>
              <a:t>ilang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pangunahing</a:t>
            </a:r>
            <a:r>
              <a:rPr lang="en-PH" sz="4400" dirty="0"/>
              <a:t> </a:t>
            </a:r>
            <a:r>
              <a:rPr lang="en-PH" sz="4400" dirty="0" err="1"/>
              <a:t>anyo</a:t>
            </a:r>
            <a:r>
              <a:rPr lang="en-PH" sz="4400" dirty="0"/>
              <a:t> ng </a:t>
            </a:r>
            <a:r>
              <a:rPr lang="en-PH" sz="4400" b="1" dirty="0"/>
              <a:t>normative theory ng media</a:t>
            </a:r>
            <a:r>
              <a:rPr lang="en-PH" sz="4400" dirty="0"/>
              <a:t>:</a:t>
            </a:r>
          </a:p>
          <a:p>
            <a:pPr>
              <a:buFont typeface="+mj-lt"/>
              <a:buAutoNum type="arabicPeriod"/>
            </a:pPr>
            <a:r>
              <a:rPr lang="en-PH" sz="4400" b="1" dirty="0" err="1"/>
              <a:t>Teoryang</a:t>
            </a:r>
            <a:r>
              <a:rPr lang="en-PH" sz="4400" b="1" dirty="0"/>
              <a:t> Authoritarian</a:t>
            </a:r>
            <a:r>
              <a:rPr lang="en-PH" sz="4400" dirty="0"/>
              <a:t> - </a:t>
            </a:r>
            <a:r>
              <a:rPr lang="en-PH" sz="4400" dirty="0" err="1"/>
              <a:t>Binibigyan</a:t>
            </a:r>
            <a:r>
              <a:rPr lang="en-PH" sz="4400" dirty="0"/>
              <a:t> ng </a:t>
            </a:r>
            <a:r>
              <a:rPr lang="en-PH" sz="4400" dirty="0" err="1"/>
              <a:t>kontrol</a:t>
            </a:r>
            <a:r>
              <a:rPr lang="en-PH" sz="4400" dirty="0"/>
              <a:t> ang </a:t>
            </a:r>
            <a:r>
              <a:rPr lang="en-PH" sz="4400" dirty="0" err="1"/>
              <a:t>estado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media </a:t>
            </a:r>
            <a:r>
              <a:rPr lang="en-PH" sz="4400" dirty="0" err="1"/>
              <a:t>upang</a:t>
            </a:r>
            <a:r>
              <a:rPr lang="en-PH" sz="4400" dirty="0"/>
              <a:t> </a:t>
            </a:r>
            <a:r>
              <a:rPr lang="en-PH" sz="4400" dirty="0" err="1"/>
              <a:t>mapanatili</a:t>
            </a:r>
            <a:r>
              <a:rPr lang="en-PH" sz="4400" dirty="0"/>
              <a:t> ang </a:t>
            </a:r>
            <a:r>
              <a:rPr lang="en-PH" sz="4400" dirty="0" err="1"/>
              <a:t>kaayusan</a:t>
            </a:r>
            <a:r>
              <a:rPr lang="en-PH" sz="4400" dirty="0"/>
              <a:t> at </a:t>
            </a:r>
            <a:r>
              <a:rPr lang="en-PH" sz="4400" dirty="0" err="1"/>
              <a:t>kapangyarihan</a:t>
            </a:r>
            <a:r>
              <a:rPr lang="en-PH" sz="4400" dirty="0"/>
              <a:t>.</a:t>
            </a:r>
          </a:p>
          <a:p>
            <a:pPr>
              <a:buFont typeface="+mj-lt"/>
              <a:buAutoNum type="arabicPeriod"/>
            </a:pPr>
            <a:r>
              <a:rPr lang="en-PH" sz="4400" b="1" dirty="0"/>
              <a:t>Free Press</a:t>
            </a:r>
            <a:r>
              <a:rPr lang="en-PH" sz="4400" dirty="0"/>
              <a:t> - </a:t>
            </a:r>
            <a:r>
              <a:rPr lang="en-PH" sz="4400" dirty="0" err="1"/>
              <a:t>Tinuturing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malaya</a:t>
            </a:r>
            <a:r>
              <a:rPr lang="en-PH" sz="4400" dirty="0"/>
              <a:t> ang media </a:t>
            </a:r>
            <a:r>
              <a:rPr lang="en-PH" sz="4400" dirty="0" err="1"/>
              <a:t>mula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kontrol</a:t>
            </a:r>
            <a:r>
              <a:rPr lang="en-PH" sz="4400" dirty="0"/>
              <a:t> ng </a:t>
            </a:r>
            <a:r>
              <a:rPr lang="en-PH" sz="4400" dirty="0" err="1"/>
              <a:t>gobyerno</a:t>
            </a:r>
            <a:r>
              <a:rPr lang="en-PH" sz="4400" dirty="0"/>
              <a:t> at </a:t>
            </a:r>
            <a:r>
              <a:rPr lang="en-PH" sz="4400" dirty="0" err="1"/>
              <a:t>nagbibigay</a:t>
            </a:r>
            <a:r>
              <a:rPr lang="en-PH" sz="4400" dirty="0"/>
              <a:t> ng </a:t>
            </a:r>
            <a:r>
              <a:rPr lang="en-PH" sz="4400" dirty="0" err="1"/>
              <a:t>makatarungang</a:t>
            </a:r>
            <a:r>
              <a:rPr lang="en-PH" sz="4400" dirty="0"/>
              <a:t> </a:t>
            </a:r>
            <a:r>
              <a:rPr lang="en-PH" sz="4400" dirty="0" err="1"/>
              <a:t>impormasyon</a:t>
            </a:r>
            <a:r>
              <a:rPr lang="en-PH" sz="44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-342900"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Teorya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may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Kaugnayan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Media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359466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000" dirty="0"/>
              <a:t>Normative Media</a:t>
            </a:r>
          </a:p>
          <a:p>
            <a:pPr marL="742950" indent="-742950">
              <a:buFont typeface="+mj-lt"/>
              <a:buAutoNum type="arabicPeriod" startAt="3"/>
            </a:pPr>
            <a:r>
              <a:rPr lang="en-PH" sz="4000" b="1" dirty="0"/>
              <a:t>Social Responsibility</a:t>
            </a:r>
            <a:r>
              <a:rPr lang="en-PH" sz="4000" dirty="0"/>
              <a:t> - </a:t>
            </a:r>
            <a:r>
              <a:rPr lang="en-PH" sz="4000" dirty="0" err="1"/>
              <a:t>Nagtatangkang</a:t>
            </a:r>
            <a:r>
              <a:rPr lang="en-PH" sz="4000" dirty="0"/>
              <a:t> </a:t>
            </a:r>
            <a:r>
              <a:rPr lang="en-PH" sz="4000" dirty="0" err="1"/>
              <a:t>balansehin</a:t>
            </a:r>
            <a:r>
              <a:rPr lang="en-PH" sz="4000" dirty="0"/>
              <a:t> ang </a:t>
            </a:r>
            <a:r>
              <a:rPr lang="en-PH" sz="4000" dirty="0" err="1"/>
              <a:t>kalayaan</a:t>
            </a:r>
            <a:r>
              <a:rPr lang="en-PH" sz="4000" dirty="0"/>
              <a:t> ng media at ang </a:t>
            </a:r>
            <a:r>
              <a:rPr lang="en-PH" sz="4000" dirty="0" err="1"/>
              <a:t>responsibilidad</a:t>
            </a:r>
            <a:r>
              <a:rPr lang="en-PH" sz="4000" dirty="0"/>
              <a:t> </a:t>
            </a:r>
            <a:r>
              <a:rPr lang="en-PH" sz="4000" dirty="0" err="1"/>
              <a:t>nito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lipunan</a:t>
            </a:r>
            <a:r>
              <a:rPr lang="en-PH" sz="4000" dirty="0"/>
              <a:t> </a:t>
            </a: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magsulong</a:t>
            </a:r>
            <a:r>
              <a:rPr lang="en-PH" sz="4000" dirty="0"/>
              <a:t> ng </a:t>
            </a:r>
            <a:r>
              <a:rPr lang="en-PH" sz="4000" dirty="0" err="1"/>
              <a:t>kabutihang</a:t>
            </a:r>
            <a:r>
              <a:rPr lang="en-PH" sz="4000" dirty="0"/>
              <a:t> </a:t>
            </a:r>
            <a:r>
              <a:rPr lang="en-PH" sz="4000" dirty="0" err="1"/>
              <a:t>panlahat</a:t>
            </a:r>
            <a:r>
              <a:rPr lang="en-PH" sz="4000" dirty="0"/>
              <a:t>.</a:t>
            </a:r>
          </a:p>
          <a:p>
            <a:pPr marL="742950" indent="-742950">
              <a:buFont typeface="+mj-lt"/>
              <a:buAutoNum type="arabicPeriod" startAt="3"/>
            </a:pPr>
            <a:r>
              <a:rPr lang="en-PH" sz="4000" b="1" dirty="0"/>
              <a:t>Development Media</a:t>
            </a:r>
            <a:r>
              <a:rPr lang="en-PH" sz="4000" dirty="0"/>
              <a:t> - </a:t>
            </a:r>
            <a:r>
              <a:rPr lang="en-PH" sz="4000" dirty="0" err="1"/>
              <a:t>Ginagamit</a:t>
            </a:r>
            <a:r>
              <a:rPr lang="en-PH" sz="4000" dirty="0"/>
              <a:t> ang media </a:t>
            </a: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magsulong</a:t>
            </a:r>
            <a:r>
              <a:rPr lang="en-PH" sz="4000" dirty="0"/>
              <a:t> ng </a:t>
            </a:r>
            <a:r>
              <a:rPr lang="en-PH" sz="4000" b="1" dirty="0" err="1"/>
              <a:t>pambansang</a:t>
            </a:r>
            <a:r>
              <a:rPr lang="en-PH" sz="4000" b="1" dirty="0"/>
              <a:t> </a:t>
            </a:r>
            <a:r>
              <a:rPr lang="en-PH" sz="4000" b="1" dirty="0" err="1"/>
              <a:t>pag-unlad</a:t>
            </a:r>
            <a:r>
              <a:rPr lang="en-PH" sz="4000" dirty="0"/>
              <a:t> at </a:t>
            </a:r>
            <a:r>
              <a:rPr lang="en-PH" sz="4000" dirty="0" err="1"/>
              <a:t>pagbabago</a:t>
            </a:r>
            <a:r>
              <a:rPr lang="en-PH" sz="4000" dirty="0"/>
              <a:t>.</a:t>
            </a:r>
          </a:p>
          <a:p>
            <a:pPr marL="742950" indent="-742950">
              <a:buFont typeface="+mj-lt"/>
              <a:buAutoNum type="arabicPeriod" startAt="3"/>
            </a:pPr>
            <a:r>
              <a:rPr lang="en-PH" sz="4000" b="1" dirty="0"/>
              <a:t>Alternative Media</a:t>
            </a:r>
            <a:r>
              <a:rPr lang="en-PH" sz="4000" dirty="0"/>
              <a:t> - </a:t>
            </a:r>
            <a:r>
              <a:rPr lang="en-PH" sz="4000" dirty="0" err="1"/>
              <a:t>Nagbibigay</a:t>
            </a:r>
            <a:r>
              <a:rPr lang="en-PH" sz="4000" dirty="0"/>
              <a:t> ng </a:t>
            </a:r>
            <a:r>
              <a:rPr lang="en-PH" sz="4000" dirty="0" err="1"/>
              <a:t>alternatibong</a:t>
            </a:r>
            <a:r>
              <a:rPr lang="en-PH" sz="4000" dirty="0"/>
              <a:t> </a:t>
            </a:r>
            <a:r>
              <a:rPr lang="en-PH" sz="4000" dirty="0" err="1"/>
              <a:t>pananaw</a:t>
            </a:r>
            <a:r>
              <a:rPr lang="en-PH" sz="4000" dirty="0"/>
              <a:t> at </a:t>
            </a:r>
            <a:r>
              <a:rPr lang="en-PH" sz="4000" dirty="0" err="1"/>
              <a:t>tinutuligsa</a:t>
            </a:r>
            <a:r>
              <a:rPr lang="en-PH" sz="4000" dirty="0"/>
              <a:t> ang mainstream media, </a:t>
            </a:r>
            <a:r>
              <a:rPr lang="en-PH" sz="4000" dirty="0" err="1"/>
              <a:t>kadalasan</a:t>
            </a:r>
            <a:r>
              <a:rPr lang="en-PH" sz="4000" dirty="0"/>
              <a:t> ay </a:t>
            </a: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magbigay</a:t>
            </a:r>
            <a:r>
              <a:rPr lang="en-PH" sz="4000" dirty="0"/>
              <a:t> ng </a:t>
            </a:r>
            <a:r>
              <a:rPr lang="en-PH" sz="4000" dirty="0" err="1"/>
              <a:t>tinig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hindi</a:t>
            </a:r>
            <a:r>
              <a:rPr lang="en-PH" sz="4000" dirty="0"/>
              <a:t> </a:t>
            </a:r>
            <a:r>
              <a:rPr lang="en-PH" sz="4000" dirty="0" err="1"/>
              <a:t>naririnig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tradisyonal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media.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-342900"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Teorya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may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Kaugnayan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Media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294503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000" dirty="0"/>
              <a:t>Ang </a:t>
            </a:r>
            <a:r>
              <a:rPr lang="en-PH" sz="4000" b="1" dirty="0"/>
              <a:t>Direct Effects Model</a:t>
            </a:r>
            <a:r>
              <a:rPr lang="en-PH" sz="4000" dirty="0"/>
              <a:t> ay </a:t>
            </a:r>
            <a:r>
              <a:rPr lang="en-PH" sz="4000" dirty="0" err="1"/>
              <a:t>nagsasaad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ang </a:t>
            </a:r>
            <a:r>
              <a:rPr lang="en-PH" sz="4000" b="1" dirty="0" err="1"/>
              <a:t>mensahe</a:t>
            </a:r>
            <a:r>
              <a:rPr lang="en-PH" sz="4000" b="1" dirty="0"/>
              <a:t> ng media</a:t>
            </a:r>
            <a:r>
              <a:rPr lang="en-PH" sz="4000" dirty="0"/>
              <a:t> ay may </a:t>
            </a:r>
            <a:r>
              <a:rPr lang="en-PH" sz="4000" b="1" dirty="0" err="1"/>
              <a:t>direktang</a:t>
            </a:r>
            <a:r>
              <a:rPr lang="en-PH" sz="4000" b="1" dirty="0"/>
              <a:t> </a:t>
            </a:r>
            <a:r>
              <a:rPr lang="en-PH" sz="4000" b="1" dirty="0" err="1"/>
              <a:t>impluwensya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b="1" dirty="0" err="1"/>
              <a:t>pag-uugali</a:t>
            </a:r>
            <a:r>
              <a:rPr lang="en-PH" sz="4000" dirty="0"/>
              <a:t> ng </a:t>
            </a:r>
            <a:r>
              <a:rPr lang="en-PH" sz="4000" dirty="0" err="1"/>
              <a:t>tao</a:t>
            </a:r>
            <a:r>
              <a:rPr lang="en-PH" sz="4000" dirty="0"/>
              <a:t>,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tinatanggap</a:t>
            </a:r>
            <a:r>
              <a:rPr lang="en-PH" sz="4000" dirty="0"/>
              <a:t> ng </a:t>
            </a:r>
            <a:r>
              <a:rPr lang="en-PH" sz="4000" b="1" dirty="0"/>
              <a:t>passive audience</a:t>
            </a:r>
            <a:r>
              <a:rPr lang="en-PH" sz="4000" dirty="0"/>
              <a:t>. </a:t>
            </a:r>
            <a:r>
              <a:rPr lang="en-PH" sz="4000" dirty="0" err="1"/>
              <a:t>Halimbawa</a:t>
            </a:r>
            <a:r>
              <a:rPr lang="en-PH" sz="4000" dirty="0"/>
              <a:t>, ang </a:t>
            </a:r>
            <a:r>
              <a:rPr lang="en-PH" sz="4000" dirty="0" err="1"/>
              <a:t>balita</a:t>
            </a:r>
            <a:r>
              <a:rPr lang="en-PH" sz="4000" dirty="0"/>
              <a:t> </a:t>
            </a:r>
            <a:r>
              <a:rPr lang="en-PH" sz="4000" dirty="0" err="1"/>
              <a:t>tungkol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b="1" dirty="0" err="1"/>
              <a:t>pagkagunaw</a:t>
            </a:r>
            <a:r>
              <a:rPr lang="en-PH" sz="4000" b="1" dirty="0"/>
              <a:t> ng </a:t>
            </a:r>
            <a:r>
              <a:rPr lang="en-PH" sz="4000" b="1" dirty="0" err="1"/>
              <a:t>mundo</a:t>
            </a:r>
            <a:r>
              <a:rPr lang="en-PH" sz="4000" dirty="0"/>
              <a:t> ay </a:t>
            </a:r>
            <a:r>
              <a:rPr lang="en-PH" sz="4000" dirty="0" err="1"/>
              <a:t>maaaring</a:t>
            </a:r>
            <a:r>
              <a:rPr lang="en-PH" sz="4000" dirty="0"/>
              <a:t> </a:t>
            </a:r>
            <a:r>
              <a:rPr lang="en-PH" sz="4000" dirty="0" err="1"/>
              <a:t>magdulot</a:t>
            </a:r>
            <a:r>
              <a:rPr lang="en-PH" sz="4000" dirty="0"/>
              <a:t> ng </a:t>
            </a:r>
            <a:r>
              <a:rPr lang="en-PH" sz="4000" b="1" dirty="0" err="1"/>
              <a:t>pagpapakamatay</a:t>
            </a:r>
            <a:r>
              <a:rPr lang="en-PH" sz="4000" dirty="0"/>
              <a:t>, at ang </a:t>
            </a:r>
            <a:r>
              <a:rPr lang="en-PH" sz="4000" b="1" dirty="0" err="1"/>
              <a:t>pagkaubos</a:t>
            </a:r>
            <a:r>
              <a:rPr lang="en-PH" sz="4000" b="1" dirty="0"/>
              <a:t> ng </a:t>
            </a:r>
            <a:r>
              <a:rPr lang="en-PH" sz="4000" b="1" dirty="0" err="1"/>
              <a:t>pagkain</a:t>
            </a:r>
            <a:r>
              <a:rPr lang="en-PH" sz="4000" dirty="0"/>
              <a:t> ay </a:t>
            </a:r>
            <a:r>
              <a:rPr lang="en-PH" sz="4000" dirty="0" err="1"/>
              <a:t>maaaring</a:t>
            </a:r>
            <a:r>
              <a:rPr lang="en-PH" sz="4000" dirty="0"/>
              <a:t> </a:t>
            </a:r>
            <a:r>
              <a:rPr lang="en-PH" sz="4000" dirty="0" err="1"/>
              <a:t>magdulot</a:t>
            </a:r>
            <a:r>
              <a:rPr lang="en-PH" sz="4000" dirty="0"/>
              <a:t> ng </a:t>
            </a:r>
            <a:r>
              <a:rPr lang="en-PH" sz="4000" b="1" dirty="0" err="1"/>
              <a:t>panick</a:t>
            </a:r>
            <a:r>
              <a:rPr lang="en-PH" sz="4000" b="1" dirty="0"/>
              <a:t> buying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Epekto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Media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54220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000" dirty="0"/>
              <a:t>Ang </a:t>
            </a:r>
            <a:r>
              <a:rPr lang="en-PH" sz="4000" b="1" dirty="0"/>
              <a:t>Agenda-Setting Theory</a:t>
            </a:r>
            <a:r>
              <a:rPr lang="en-PH" sz="4000" dirty="0"/>
              <a:t> ay </a:t>
            </a:r>
            <a:r>
              <a:rPr lang="en-PH" sz="4000" dirty="0" err="1"/>
              <a:t>nagsasaad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ang </a:t>
            </a:r>
            <a:r>
              <a:rPr lang="en-PH" sz="4000" b="1" dirty="0"/>
              <a:t>mass media</a:t>
            </a:r>
            <a:r>
              <a:rPr lang="en-PH" sz="4000" dirty="0"/>
              <a:t> ang may </a:t>
            </a:r>
            <a:r>
              <a:rPr lang="en-PH" sz="4000" b="1" dirty="0" err="1"/>
              <a:t>kontrol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usaping</a:t>
            </a:r>
            <a:r>
              <a:rPr lang="en-PH" sz="4000" dirty="0"/>
              <a:t> </a:t>
            </a:r>
            <a:r>
              <a:rPr lang="en-PH" sz="4000" dirty="0" err="1"/>
              <a:t>binibigyan</a:t>
            </a:r>
            <a:r>
              <a:rPr lang="en-PH" sz="4000" dirty="0"/>
              <a:t> ng </a:t>
            </a:r>
            <a:r>
              <a:rPr lang="en-PH" sz="4000" b="1" dirty="0" err="1"/>
              <a:t>pansin</a:t>
            </a:r>
            <a:r>
              <a:rPr lang="en-PH" sz="4000" b="1" dirty="0"/>
              <a:t> ng </a:t>
            </a:r>
            <a:r>
              <a:rPr lang="en-PH" sz="4000" b="1" dirty="0" err="1"/>
              <a:t>publiko</a:t>
            </a:r>
            <a:r>
              <a:rPr lang="en-PH" sz="4000" dirty="0"/>
              <a:t>, </a:t>
            </a:r>
            <a:r>
              <a:rPr lang="en-PH" sz="4000" dirty="0" err="1"/>
              <a:t>hindi</a:t>
            </a:r>
            <a:r>
              <a:rPr lang="en-PH" sz="4000" dirty="0"/>
              <a:t> ang </a:t>
            </a:r>
            <a:r>
              <a:rPr lang="en-PH" sz="4000" dirty="0" err="1"/>
              <a:t>pananaw</a:t>
            </a:r>
            <a:r>
              <a:rPr lang="en-PH" sz="4000" dirty="0"/>
              <a:t> ng </a:t>
            </a:r>
            <a:r>
              <a:rPr lang="en-PH" sz="4000" dirty="0" err="1"/>
              <a:t>publiko</a:t>
            </a:r>
            <a:r>
              <a:rPr lang="en-PH" sz="4000" dirty="0"/>
              <a:t> ang </a:t>
            </a:r>
            <a:r>
              <a:rPr lang="en-PH" sz="4000" dirty="0" err="1"/>
              <a:t>tumutukoy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usapin</a:t>
            </a:r>
            <a:r>
              <a:rPr lang="en-PH" sz="4000" dirty="0"/>
              <a:t>. Sa </a:t>
            </a:r>
            <a:r>
              <a:rPr lang="en-PH" sz="4000" dirty="0" err="1"/>
              <a:t>ilalim</a:t>
            </a:r>
            <a:r>
              <a:rPr lang="en-PH" sz="4000" dirty="0"/>
              <a:t> ng </a:t>
            </a:r>
            <a:r>
              <a:rPr lang="en-PH" sz="4000" dirty="0" err="1"/>
              <a:t>teoryang</a:t>
            </a:r>
            <a:r>
              <a:rPr lang="en-PH" sz="4000" dirty="0"/>
              <a:t> </a:t>
            </a:r>
            <a:r>
              <a:rPr lang="en-PH" sz="4000" dirty="0" err="1"/>
              <a:t>ito</a:t>
            </a:r>
            <a:r>
              <a:rPr lang="en-PH" sz="4000" dirty="0"/>
              <a:t>,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isyung</a:t>
            </a:r>
            <a:r>
              <a:rPr lang="en-PH" sz="4000" dirty="0"/>
              <a:t> </a:t>
            </a:r>
            <a:r>
              <a:rPr lang="en-PH" sz="4000" dirty="0" err="1"/>
              <a:t>madalas</a:t>
            </a:r>
            <a:r>
              <a:rPr lang="en-PH" sz="4000" dirty="0"/>
              <a:t> </a:t>
            </a:r>
            <a:r>
              <a:rPr lang="en-PH" sz="4000" b="1" dirty="0" err="1"/>
              <a:t>pagtuunan</a:t>
            </a:r>
            <a:r>
              <a:rPr lang="en-PH" sz="4000" b="1" dirty="0"/>
              <a:t> ng media</a:t>
            </a:r>
            <a:r>
              <a:rPr lang="en-PH" sz="4000" dirty="0"/>
              <a:t> ay </a:t>
            </a:r>
            <a:r>
              <a:rPr lang="en-PH" sz="4000" dirty="0" err="1"/>
              <a:t>nagiging</a:t>
            </a:r>
            <a:r>
              <a:rPr lang="en-PH" sz="4000" dirty="0"/>
              <a:t> </a:t>
            </a:r>
            <a:r>
              <a:rPr lang="en-PH" sz="4000" b="1" dirty="0" err="1"/>
              <a:t>prinsipal</a:t>
            </a:r>
            <a:r>
              <a:rPr lang="en-PH" sz="4000" b="1" dirty="0"/>
              <a:t> </a:t>
            </a:r>
            <a:r>
              <a:rPr lang="en-PH" sz="4000" b="1" dirty="0" err="1"/>
              <a:t>na</a:t>
            </a:r>
            <a:r>
              <a:rPr lang="en-PH" sz="4000" b="1" dirty="0"/>
              <a:t> </a:t>
            </a:r>
            <a:r>
              <a:rPr lang="en-PH" sz="4000" b="1" dirty="0" err="1"/>
              <a:t>usapin</a:t>
            </a:r>
            <a:r>
              <a:rPr lang="en-PH" sz="4000" b="1" dirty="0"/>
              <a:t> ng </a:t>
            </a:r>
            <a:r>
              <a:rPr lang="en-PH" sz="4000" b="1" dirty="0" err="1"/>
              <a:t>lipunan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Epekto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Media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23460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000" dirty="0"/>
              <a:t>Ang </a:t>
            </a:r>
            <a:r>
              <a:rPr lang="en-PH" sz="4000" b="1" dirty="0" err="1"/>
              <a:t>Teorya</a:t>
            </a:r>
            <a:r>
              <a:rPr lang="en-PH" sz="4000" b="1" dirty="0"/>
              <a:t> ng Uses at Gratifications</a:t>
            </a:r>
            <a:r>
              <a:rPr lang="en-PH" sz="4000" dirty="0"/>
              <a:t> ay </a:t>
            </a:r>
            <a:r>
              <a:rPr lang="en-PH" sz="4000" dirty="0" err="1"/>
              <a:t>nagsasaad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b="1" dirty="0"/>
              <a:t>consumer ng media</a:t>
            </a:r>
            <a:r>
              <a:rPr lang="en-PH" sz="4000" dirty="0"/>
              <a:t> ay </a:t>
            </a:r>
            <a:r>
              <a:rPr lang="en-PH" sz="4000" b="1" dirty="0" err="1"/>
              <a:t>aktibong</a:t>
            </a:r>
            <a:r>
              <a:rPr lang="en-PH" sz="4000" b="1" dirty="0"/>
              <a:t> </a:t>
            </a:r>
            <a:r>
              <a:rPr lang="en-PH" sz="4000" b="1" dirty="0" err="1"/>
              <a:t>pumipili</a:t>
            </a:r>
            <a:r>
              <a:rPr lang="en-PH" sz="4000" dirty="0"/>
              <a:t> ng media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kanilang</a:t>
            </a:r>
            <a:r>
              <a:rPr lang="en-PH" sz="4000" dirty="0"/>
              <a:t> </a:t>
            </a:r>
            <a:r>
              <a:rPr lang="en-PH" sz="4000" dirty="0" err="1"/>
              <a:t>gagamitin</a:t>
            </a:r>
            <a:r>
              <a:rPr lang="en-PH" sz="4000" dirty="0"/>
              <a:t> </a:t>
            </a: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matugunan</a:t>
            </a:r>
            <a:r>
              <a:rPr lang="en-PH" sz="4000" dirty="0"/>
              <a:t> ang </a:t>
            </a:r>
            <a:r>
              <a:rPr lang="en-PH" sz="4000" dirty="0" err="1"/>
              <a:t>kanilang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b="1" dirty="0" err="1"/>
              <a:t>pangangailangan</a:t>
            </a:r>
            <a:r>
              <a:rPr lang="en-PH" sz="4000" b="1" dirty="0"/>
              <a:t> at </a:t>
            </a:r>
            <a:r>
              <a:rPr lang="en-PH" sz="4000" b="1" dirty="0" err="1"/>
              <a:t>kagustuhan</a:t>
            </a:r>
            <a:r>
              <a:rPr lang="en-PH" sz="4000" dirty="0"/>
              <a:t>. </a:t>
            </a:r>
            <a:r>
              <a:rPr lang="en-PH" sz="4000" dirty="0" err="1"/>
              <a:t>Halimbawa</a:t>
            </a:r>
            <a:r>
              <a:rPr lang="en-PH" sz="4000" dirty="0"/>
              <a:t>, ang </a:t>
            </a:r>
            <a:r>
              <a:rPr lang="en-PH" sz="4000" dirty="0" err="1"/>
              <a:t>ugnayan</a:t>
            </a:r>
            <a:r>
              <a:rPr lang="en-PH" sz="4000" dirty="0"/>
              <a:t> ng </a:t>
            </a:r>
            <a:r>
              <a:rPr lang="en-PH" sz="4000" b="1" dirty="0"/>
              <a:t>media at </a:t>
            </a:r>
            <a:r>
              <a:rPr lang="en-PH" sz="4000" b="1" dirty="0" err="1"/>
              <a:t>karahasan</a:t>
            </a:r>
            <a:r>
              <a:rPr lang="en-PH" sz="4000" dirty="0"/>
              <a:t> ay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halimbawa</a:t>
            </a:r>
            <a:r>
              <a:rPr lang="en-PH" sz="4000" dirty="0"/>
              <a:t> kung </a:t>
            </a:r>
            <a:r>
              <a:rPr lang="en-PH" sz="4000" dirty="0" err="1"/>
              <a:t>paano</a:t>
            </a:r>
            <a:r>
              <a:rPr lang="en-PH" sz="4000" dirty="0"/>
              <a:t> </a:t>
            </a:r>
            <a:r>
              <a:rPr lang="en-PH" sz="4000" dirty="0" err="1"/>
              <a:t>ginagamit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tao</a:t>
            </a:r>
            <a:r>
              <a:rPr lang="en-PH" sz="4000" dirty="0"/>
              <a:t> ang media para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iba't</a:t>
            </a:r>
            <a:r>
              <a:rPr lang="en-PH" sz="4000" dirty="0"/>
              <a:t> </a:t>
            </a:r>
            <a:r>
              <a:rPr lang="en-PH" sz="4000" dirty="0" err="1"/>
              <a:t>ibang</a:t>
            </a:r>
            <a:r>
              <a:rPr lang="en-PH" sz="4000" dirty="0"/>
              <a:t> </a:t>
            </a:r>
            <a:r>
              <a:rPr lang="en-PH" sz="4000" dirty="0" err="1"/>
              <a:t>layunin</a:t>
            </a:r>
            <a:r>
              <a:rPr lang="en-PH" sz="4000" dirty="0"/>
              <a:t>, </a:t>
            </a:r>
            <a:r>
              <a:rPr lang="en-PH" sz="4000" dirty="0" err="1"/>
              <a:t>tulad</a:t>
            </a:r>
            <a:r>
              <a:rPr lang="en-PH" sz="4000" dirty="0"/>
              <a:t> ng </a:t>
            </a:r>
            <a:r>
              <a:rPr lang="en-PH" sz="4000" dirty="0" err="1"/>
              <a:t>aliw</a:t>
            </a:r>
            <a:r>
              <a:rPr lang="en-PH" sz="4000" dirty="0"/>
              <a:t> o </a:t>
            </a:r>
            <a:r>
              <a:rPr lang="en-PH" sz="4000" dirty="0" err="1"/>
              <a:t>impormasyon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Epekto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Media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988434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000" dirty="0"/>
              <a:t>Ang </a:t>
            </a:r>
            <a:r>
              <a:rPr lang="en-PH" sz="4000" b="1" dirty="0"/>
              <a:t>Symbolic Interactionism</a:t>
            </a:r>
            <a:r>
              <a:rPr lang="en-PH" sz="4000" dirty="0"/>
              <a:t> ay </a:t>
            </a:r>
            <a:r>
              <a:rPr lang="en-PH" sz="4000" dirty="0" err="1"/>
              <a:t>teoryang</a:t>
            </a:r>
            <a:r>
              <a:rPr lang="en-PH" sz="4000" dirty="0"/>
              <a:t> </a:t>
            </a:r>
            <a:r>
              <a:rPr lang="en-PH" sz="4000" dirty="0" err="1"/>
              <a:t>nagsasaad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ang </a:t>
            </a:r>
            <a:r>
              <a:rPr lang="en-PH" sz="4000" b="1" dirty="0" err="1"/>
              <a:t>pagbuo</a:t>
            </a:r>
            <a:r>
              <a:rPr lang="en-PH" sz="4000" b="1" dirty="0"/>
              <a:t> ng </a:t>
            </a:r>
            <a:r>
              <a:rPr lang="en-PH" sz="4000" b="1" dirty="0" err="1"/>
              <a:t>sarili</a:t>
            </a:r>
            <a:r>
              <a:rPr lang="en-PH" sz="4000" dirty="0"/>
              <a:t> ng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tao</a:t>
            </a:r>
            <a:r>
              <a:rPr lang="en-PH" sz="4000" dirty="0"/>
              <a:t> ay </a:t>
            </a:r>
            <a:r>
              <a:rPr lang="en-PH" sz="4000" dirty="0" err="1"/>
              <a:t>nakabatay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b="1" dirty="0" err="1"/>
              <a:t>interaksyon</a:t>
            </a:r>
            <a:r>
              <a:rPr lang="en-PH" sz="4000" dirty="0"/>
              <a:t> </a:t>
            </a:r>
            <a:r>
              <a:rPr lang="en-PH" sz="4000" dirty="0" err="1"/>
              <a:t>nito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ibang</a:t>
            </a:r>
            <a:r>
              <a:rPr lang="en-PH" sz="4000" dirty="0"/>
              <a:t> </a:t>
            </a:r>
            <a:r>
              <a:rPr lang="en-PH" sz="4000" dirty="0" err="1"/>
              <a:t>tao</a:t>
            </a:r>
            <a:r>
              <a:rPr lang="en-PH" sz="4000" dirty="0"/>
              <a:t>.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b="1" dirty="0" err="1"/>
              <a:t>simbolo</a:t>
            </a:r>
            <a:r>
              <a:rPr lang="en-PH" sz="4000" dirty="0"/>
              <a:t> o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bagay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may </a:t>
            </a:r>
            <a:r>
              <a:rPr lang="en-PH" sz="4000" b="1" dirty="0" err="1"/>
              <a:t>kultural</a:t>
            </a:r>
            <a:r>
              <a:rPr lang="en-PH" sz="4000" b="1" dirty="0"/>
              <a:t> </a:t>
            </a:r>
            <a:r>
              <a:rPr lang="en-PH" sz="4000" b="1" dirty="0" err="1"/>
              <a:t>na</a:t>
            </a:r>
            <a:r>
              <a:rPr lang="en-PH" sz="4000" b="1" dirty="0"/>
              <a:t> </a:t>
            </a:r>
            <a:r>
              <a:rPr lang="en-PH" sz="4000" b="1" dirty="0" err="1"/>
              <a:t>kahulugan</a:t>
            </a:r>
            <a:r>
              <a:rPr lang="en-PH" sz="4000" dirty="0"/>
              <a:t> ay </a:t>
            </a:r>
            <a:r>
              <a:rPr lang="en-PH" sz="4000" dirty="0" err="1"/>
              <a:t>ginagamit</a:t>
            </a:r>
            <a:r>
              <a:rPr lang="en-PH" sz="4000" dirty="0"/>
              <a:t> </a:t>
            </a: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magkaroon</a:t>
            </a:r>
            <a:r>
              <a:rPr lang="en-PH" sz="4000" dirty="0"/>
              <a:t> ng </a:t>
            </a:r>
            <a:r>
              <a:rPr lang="en-PH" sz="4000" dirty="0" err="1"/>
              <a:t>epektibong</a:t>
            </a:r>
            <a:r>
              <a:rPr lang="en-PH" sz="4000" dirty="0"/>
              <a:t> </a:t>
            </a:r>
            <a:r>
              <a:rPr lang="en-PH" sz="4000" dirty="0" err="1"/>
              <a:t>komunikasyon</a:t>
            </a:r>
            <a:r>
              <a:rPr lang="en-PH" sz="4000" dirty="0"/>
              <a:t>. Sa </a:t>
            </a:r>
            <a:r>
              <a:rPr lang="en-PH" sz="4000" dirty="0" err="1"/>
              <a:t>pamamagitan</a:t>
            </a:r>
            <a:r>
              <a:rPr lang="en-PH" sz="4000" dirty="0"/>
              <a:t> ng </a:t>
            </a:r>
            <a:r>
              <a:rPr lang="en-PH" sz="4000" dirty="0" err="1"/>
              <a:t>teoryang</a:t>
            </a:r>
            <a:r>
              <a:rPr lang="en-PH" sz="4000" dirty="0"/>
              <a:t> </a:t>
            </a:r>
            <a:r>
              <a:rPr lang="en-PH" sz="4000" dirty="0" err="1"/>
              <a:t>ito</a:t>
            </a:r>
            <a:r>
              <a:rPr lang="en-PH" sz="4000" dirty="0"/>
              <a:t>, </a:t>
            </a:r>
            <a:r>
              <a:rPr lang="en-PH" sz="4000" dirty="0" err="1"/>
              <a:t>nakikita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mananaliksik</a:t>
            </a:r>
            <a:r>
              <a:rPr lang="en-PH" sz="4000" dirty="0"/>
              <a:t> kung </a:t>
            </a:r>
            <a:r>
              <a:rPr lang="en-PH" sz="4000" dirty="0" err="1"/>
              <a:t>paano</a:t>
            </a:r>
            <a:r>
              <a:rPr lang="en-PH" sz="4000" dirty="0"/>
              <a:t> </a:t>
            </a:r>
            <a:r>
              <a:rPr lang="en-PH" sz="4000" b="1" dirty="0" err="1"/>
              <a:t>binubuo</a:t>
            </a:r>
            <a:r>
              <a:rPr lang="en-PH" sz="4000" b="1" dirty="0"/>
              <a:t> ng media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b="1" dirty="0"/>
              <a:t>shared symbols</a:t>
            </a:r>
            <a:r>
              <a:rPr lang="en-PH" sz="4000" dirty="0"/>
              <a:t> at kung </a:t>
            </a:r>
            <a:r>
              <a:rPr lang="en-PH" sz="4000" dirty="0" err="1"/>
              <a:t>paano</a:t>
            </a:r>
            <a:r>
              <a:rPr lang="en-PH" sz="4000" dirty="0"/>
              <a:t> </a:t>
            </a:r>
            <a:r>
              <a:rPr lang="en-PH" sz="4000" dirty="0" err="1"/>
              <a:t>nito</a:t>
            </a:r>
            <a:r>
              <a:rPr lang="en-PH" sz="4000" dirty="0"/>
              <a:t> </a:t>
            </a:r>
            <a:r>
              <a:rPr lang="en-PH" sz="4000" b="1" dirty="0" err="1"/>
              <a:t>naimpluwensyahan</a:t>
            </a:r>
            <a:r>
              <a:rPr lang="en-PH" sz="4000" b="1" dirty="0"/>
              <a:t> ang </a:t>
            </a:r>
            <a:r>
              <a:rPr lang="en-PH" sz="4000" b="1" dirty="0" err="1"/>
              <a:t>lipunan</a:t>
            </a:r>
            <a:r>
              <a:rPr lang="en-PH" sz="4000" dirty="0"/>
              <a:t> at ang </a:t>
            </a:r>
            <a:r>
              <a:rPr lang="en-PH" sz="4000" b="1" dirty="0" err="1"/>
              <a:t>paniniwala</a:t>
            </a:r>
            <a:r>
              <a:rPr lang="en-PH" sz="4000" b="1" dirty="0"/>
              <a:t> ng </a:t>
            </a:r>
            <a:r>
              <a:rPr lang="en-PH" sz="4000" b="1" dirty="0" err="1"/>
              <a:t>bawat</a:t>
            </a:r>
            <a:r>
              <a:rPr lang="en-PH" sz="4000" b="1" dirty="0"/>
              <a:t> isa</a:t>
            </a:r>
            <a:r>
              <a:rPr lang="en-PH" sz="4000" dirty="0"/>
              <a:t>. </a:t>
            </a:r>
            <a:r>
              <a:rPr lang="en-PH" sz="4000" dirty="0" err="1"/>
              <a:t>Halimbawa</a:t>
            </a:r>
            <a:r>
              <a:rPr lang="en-PH" sz="4000" dirty="0"/>
              <a:t>, ang </a:t>
            </a:r>
            <a:r>
              <a:rPr lang="en-PH" sz="4000" dirty="0" err="1"/>
              <a:t>pagsusuot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b="1" dirty="0"/>
              <a:t>brand</a:t>
            </a:r>
            <a:r>
              <a:rPr lang="en-PH" sz="4000" dirty="0"/>
              <a:t> </a:t>
            </a:r>
            <a:r>
              <a:rPr lang="en-PH" sz="4000" dirty="0" err="1"/>
              <a:t>tulad</a:t>
            </a:r>
            <a:r>
              <a:rPr lang="en-PH" sz="4000" dirty="0"/>
              <a:t> ng </a:t>
            </a:r>
            <a:r>
              <a:rPr lang="en-PH" sz="4000" b="1" dirty="0"/>
              <a:t>La </a:t>
            </a:r>
            <a:r>
              <a:rPr lang="en-PH" sz="4000" b="1" dirty="0" err="1"/>
              <a:t>Coste</a:t>
            </a:r>
            <a:r>
              <a:rPr lang="en-PH" sz="4000" dirty="0"/>
              <a:t> o </a:t>
            </a:r>
            <a:r>
              <a:rPr lang="en-PH" sz="4000" b="1" dirty="0"/>
              <a:t>Louis Vuitton</a:t>
            </a:r>
            <a:r>
              <a:rPr lang="en-PH" sz="4000" dirty="0"/>
              <a:t> ay </a:t>
            </a:r>
            <a:r>
              <a:rPr lang="en-PH" sz="4000" dirty="0" err="1"/>
              <a:t>nagsisilbing</a:t>
            </a:r>
            <a:r>
              <a:rPr lang="en-PH" sz="4000" dirty="0"/>
              <a:t> </a:t>
            </a:r>
            <a:r>
              <a:rPr lang="en-PH" sz="4000" b="1" dirty="0"/>
              <a:t>status symbol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lipunan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Epekto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Media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682175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72067" y="1161611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595497" y="2378670"/>
            <a:ext cx="12600255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3600" dirty="0"/>
              <a:t>Ang </a:t>
            </a:r>
            <a:r>
              <a:rPr lang="en-PH" sz="3600" b="1" dirty="0" err="1"/>
              <a:t>Teoryang</a:t>
            </a:r>
            <a:r>
              <a:rPr lang="en-PH" sz="3600" b="1" dirty="0"/>
              <a:t> Spiral of Silence</a:t>
            </a:r>
            <a:r>
              <a:rPr lang="en-PH" sz="3600" dirty="0"/>
              <a:t> ay </a:t>
            </a:r>
            <a:r>
              <a:rPr lang="en-PH" sz="3600" dirty="0" err="1"/>
              <a:t>nagpapaliwanag</a:t>
            </a:r>
            <a:r>
              <a:rPr lang="en-PH" sz="3600" dirty="0"/>
              <a:t> kung </a:t>
            </a:r>
            <a:r>
              <a:rPr lang="en-PH" sz="3600" dirty="0" err="1"/>
              <a:t>paano</a:t>
            </a:r>
            <a:r>
              <a:rPr lang="en-PH" sz="3600" dirty="0"/>
              <a:t> </a:t>
            </a:r>
            <a:r>
              <a:rPr lang="en-PH" sz="3600" dirty="0" err="1"/>
              <a:t>naaapektuhan</a:t>
            </a:r>
            <a:r>
              <a:rPr lang="en-PH" sz="3600" dirty="0"/>
              <a:t> ng </a:t>
            </a:r>
            <a:r>
              <a:rPr lang="en-PH" sz="3600" dirty="0" err="1"/>
              <a:t>takot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social isolation ang </a:t>
            </a:r>
            <a:r>
              <a:rPr lang="en-PH" sz="3600" dirty="0" err="1"/>
              <a:t>pagpapahayag</a:t>
            </a:r>
            <a:r>
              <a:rPr lang="en-PH" sz="3600" dirty="0"/>
              <a:t> ng </a:t>
            </a:r>
            <a:r>
              <a:rPr lang="en-PH" sz="3600" dirty="0" err="1"/>
              <a:t>opinyon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. Ayon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teoryang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,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may </a:t>
            </a:r>
            <a:r>
              <a:rPr lang="en-PH" sz="3600" b="1" dirty="0"/>
              <a:t>minority opinion</a:t>
            </a:r>
            <a:r>
              <a:rPr lang="en-PH" sz="3600" dirty="0"/>
              <a:t> (o </a:t>
            </a:r>
            <a:r>
              <a:rPr lang="en-PH" sz="3600" dirty="0" err="1"/>
              <a:t>kakaibang</a:t>
            </a:r>
            <a:r>
              <a:rPr lang="en-PH" sz="3600" dirty="0"/>
              <a:t> </a:t>
            </a:r>
            <a:r>
              <a:rPr lang="en-PH" sz="3600" dirty="0" err="1"/>
              <a:t>pananaw</a:t>
            </a:r>
            <a:r>
              <a:rPr lang="en-PH" sz="3600" dirty="0"/>
              <a:t>) ay </a:t>
            </a:r>
            <a:r>
              <a:rPr lang="en-PH" sz="3600" dirty="0" err="1"/>
              <a:t>madalas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pinipiling</a:t>
            </a:r>
            <a:r>
              <a:rPr lang="en-PH" sz="3600" dirty="0"/>
              <a:t> </a:t>
            </a:r>
            <a:r>
              <a:rPr lang="en-PH" sz="3600" dirty="0" err="1"/>
              <a:t>manahimik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maiwasang</a:t>
            </a:r>
            <a:r>
              <a:rPr lang="en-PH" sz="3600" dirty="0"/>
              <a:t> </a:t>
            </a:r>
            <a:r>
              <a:rPr lang="en-PH" sz="3600" dirty="0" err="1"/>
              <a:t>maalis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grupo</a:t>
            </a:r>
            <a:r>
              <a:rPr lang="en-PH" sz="3600" dirty="0"/>
              <a:t> o </a:t>
            </a:r>
            <a:r>
              <a:rPr lang="en-PH" sz="3600" dirty="0" err="1"/>
              <a:t>husgahan</a:t>
            </a:r>
            <a:r>
              <a:rPr lang="en-PH" sz="3600" dirty="0"/>
              <a:t> ng </a:t>
            </a:r>
            <a:r>
              <a:rPr lang="en-PH" sz="3600" dirty="0" err="1"/>
              <a:t>lipunan</a:t>
            </a:r>
            <a:r>
              <a:rPr lang="en-PH" sz="3600" dirty="0"/>
              <a:t>. Ang media ay may </a:t>
            </a:r>
            <a:r>
              <a:rPr lang="en-PH" sz="3600" dirty="0" err="1"/>
              <a:t>malaking</a:t>
            </a:r>
            <a:r>
              <a:rPr lang="en-PH" sz="3600" dirty="0"/>
              <a:t> </a:t>
            </a:r>
            <a:r>
              <a:rPr lang="en-PH" sz="3600" dirty="0" err="1"/>
              <a:t>papel</a:t>
            </a:r>
            <a:r>
              <a:rPr lang="en-PH" sz="3600" dirty="0"/>
              <a:t> </a:t>
            </a:r>
            <a:r>
              <a:rPr lang="en-PH" sz="3600" dirty="0" err="1"/>
              <a:t>dito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ang </a:t>
            </a:r>
            <a:r>
              <a:rPr lang="en-PH" sz="3600" dirty="0" err="1"/>
              <a:t>nagtatampok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dominanteng</a:t>
            </a:r>
            <a:r>
              <a:rPr lang="en-PH" sz="3600" dirty="0"/>
              <a:t> </a:t>
            </a:r>
            <a:r>
              <a:rPr lang="en-PH" sz="3600" dirty="0" err="1"/>
              <a:t>pananaw</a:t>
            </a:r>
            <a:r>
              <a:rPr lang="en-PH" sz="3600" dirty="0"/>
              <a:t>,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nagiging</a:t>
            </a:r>
            <a:r>
              <a:rPr lang="en-PH" sz="3600" dirty="0"/>
              <a:t> </a:t>
            </a:r>
            <a:r>
              <a:rPr lang="en-PH" sz="3600" dirty="0" err="1"/>
              <a:t>dahilan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maramdaman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nasa</a:t>
            </a:r>
            <a:r>
              <a:rPr lang="en-PH" sz="3600" dirty="0"/>
              <a:t> </a:t>
            </a:r>
            <a:r>
              <a:rPr lang="en-PH" sz="3600" dirty="0" err="1"/>
              <a:t>minorya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sila</a:t>
            </a:r>
            <a:r>
              <a:rPr lang="en-PH" sz="3600" dirty="0"/>
              <a:t> ay nag-</a:t>
            </a:r>
            <a:r>
              <a:rPr lang="en-PH" sz="3600" dirty="0" err="1"/>
              <a:t>iisa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paniniwala</a:t>
            </a:r>
            <a:r>
              <a:rPr lang="en-PH" sz="3600" dirty="0"/>
              <a:t>. </a:t>
            </a:r>
            <a:r>
              <a:rPr lang="en-PH" sz="3600" dirty="0" err="1"/>
              <a:t>Kapag</a:t>
            </a:r>
            <a:r>
              <a:rPr lang="en-PH" sz="3600" dirty="0"/>
              <a:t> </a:t>
            </a:r>
            <a:r>
              <a:rPr lang="en-PH" sz="3600" dirty="0" err="1"/>
              <a:t>nanahimik</a:t>
            </a:r>
            <a:r>
              <a:rPr lang="en-PH" sz="3600" dirty="0"/>
              <a:t> ang </a:t>
            </a:r>
            <a:r>
              <a:rPr lang="en-PH" sz="3600" dirty="0" err="1"/>
              <a:t>minorya</a:t>
            </a:r>
            <a:r>
              <a:rPr lang="en-PH" sz="3600" dirty="0"/>
              <a:t>, </a:t>
            </a:r>
            <a:r>
              <a:rPr lang="en-PH" sz="3600" dirty="0" err="1"/>
              <a:t>nagkakaroon</a:t>
            </a:r>
            <a:r>
              <a:rPr lang="en-PH" sz="3600" dirty="0"/>
              <a:t> ng </a:t>
            </a:r>
            <a:r>
              <a:rPr lang="en-PH" sz="3600" b="1" dirty="0"/>
              <a:t>illusion of consensus</a:t>
            </a:r>
            <a:r>
              <a:rPr lang="en-PH" sz="3600" dirty="0"/>
              <a:t> o </a:t>
            </a:r>
            <a:r>
              <a:rPr lang="en-PH" sz="3600" dirty="0" err="1"/>
              <a:t>pakiramdam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pananaw</a:t>
            </a:r>
            <a:r>
              <a:rPr lang="en-PH" sz="3600" dirty="0"/>
              <a:t> ng </a:t>
            </a:r>
            <a:r>
              <a:rPr lang="en-PH" sz="3600" dirty="0" err="1"/>
              <a:t>mayorya</a:t>
            </a:r>
            <a:r>
              <a:rPr lang="en-PH" sz="3600" dirty="0"/>
              <a:t> ang </a:t>
            </a:r>
            <a:r>
              <a:rPr lang="en-PH" sz="3600" dirty="0" err="1"/>
              <a:t>tanggap</a:t>
            </a:r>
            <a:r>
              <a:rPr lang="en-PH" sz="3600" dirty="0"/>
              <a:t> ng lahat, </a:t>
            </a:r>
            <a:r>
              <a:rPr lang="en-PH" sz="3600" dirty="0" err="1"/>
              <a:t>kahit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naman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totoo</a:t>
            </a:r>
            <a:r>
              <a:rPr lang="en-PH" sz="36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Epekto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Media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915672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000" dirty="0"/>
              <a:t>Ang </a:t>
            </a:r>
            <a:r>
              <a:rPr lang="en-PH" sz="4000" b="1" dirty="0"/>
              <a:t>Media Logic</a:t>
            </a:r>
            <a:r>
              <a:rPr lang="en-PH" sz="4000" dirty="0"/>
              <a:t> ay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teorya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nagsasabing</a:t>
            </a:r>
            <a:r>
              <a:rPr lang="en-PH" sz="4000" dirty="0"/>
              <a:t> ang </a:t>
            </a:r>
            <a:r>
              <a:rPr lang="en-PH" sz="4000" dirty="0" err="1"/>
              <a:t>paraan</a:t>
            </a:r>
            <a:r>
              <a:rPr lang="en-PH" sz="4000" dirty="0"/>
              <a:t> ng </a:t>
            </a:r>
            <a:r>
              <a:rPr lang="en-PH" sz="4000" dirty="0" err="1"/>
              <a:t>pagpapakita</a:t>
            </a:r>
            <a:r>
              <a:rPr lang="en-PH" sz="4000" dirty="0"/>
              <a:t> at </a:t>
            </a:r>
            <a:r>
              <a:rPr lang="en-PH" sz="4000" dirty="0" err="1"/>
              <a:t>pagbabalita</a:t>
            </a:r>
            <a:r>
              <a:rPr lang="en-PH" sz="4000" dirty="0"/>
              <a:t> ng media ay may </a:t>
            </a:r>
            <a:r>
              <a:rPr lang="en-PH" sz="4000" dirty="0" err="1"/>
              <a:t>malaking</a:t>
            </a:r>
            <a:r>
              <a:rPr lang="en-PH" sz="4000" dirty="0"/>
              <a:t> </a:t>
            </a:r>
            <a:r>
              <a:rPr lang="en-PH" sz="4000" dirty="0" err="1"/>
              <a:t>impluwensya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kung </a:t>
            </a:r>
            <a:r>
              <a:rPr lang="en-PH" sz="4000" dirty="0" err="1"/>
              <a:t>paano</a:t>
            </a:r>
            <a:r>
              <a:rPr lang="en-PH" sz="4000" dirty="0"/>
              <a:t> </a:t>
            </a:r>
            <a:r>
              <a:rPr lang="en-PH" sz="4000" dirty="0" err="1"/>
              <a:t>naiintindihan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tao</a:t>
            </a:r>
            <a:r>
              <a:rPr lang="en-PH" sz="4000" dirty="0"/>
              <a:t> ang </a:t>
            </a:r>
            <a:r>
              <a:rPr lang="en-PH" sz="4000" dirty="0" err="1"/>
              <a:t>realidad</a:t>
            </a:r>
            <a:r>
              <a:rPr lang="en-PH" sz="4000" dirty="0"/>
              <a:t> o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pangyayari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mundo</a:t>
            </a:r>
            <a:r>
              <a:rPr lang="en-PH" sz="4000" dirty="0"/>
              <a:t>. </a:t>
            </a:r>
            <a:r>
              <a:rPr lang="en-PH" sz="4000" dirty="0" err="1"/>
              <a:t>Ibig</a:t>
            </a:r>
            <a:r>
              <a:rPr lang="en-PH" sz="4000" dirty="0"/>
              <a:t> </a:t>
            </a:r>
            <a:r>
              <a:rPr lang="en-PH" sz="4000" dirty="0" err="1"/>
              <a:t>sabihin</a:t>
            </a:r>
            <a:r>
              <a:rPr lang="en-PH" sz="4000" dirty="0"/>
              <a:t>, ang </a:t>
            </a:r>
            <a:r>
              <a:rPr lang="en-PH" sz="4000" b="1" dirty="0"/>
              <a:t>format at </a:t>
            </a:r>
            <a:r>
              <a:rPr lang="en-PH" sz="4000" b="1" dirty="0" err="1"/>
              <a:t>istilo</a:t>
            </a:r>
            <a:r>
              <a:rPr lang="en-PH" sz="4000" dirty="0"/>
              <a:t> ng media (</a:t>
            </a:r>
            <a:r>
              <a:rPr lang="en-PH" sz="4000" dirty="0" err="1"/>
              <a:t>halimbawa</a:t>
            </a:r>
            <a:r>
              <a:rPr lang="en-PH" sz="4000" dirty="0"/>
              <a:t>, kung </a:t>
            </a:r>
            <a:r>
              <a:rPr lang="en-PH" sz="4000" dirty="0" err="1"/>
              <a:t>paano</a:t>
            </a:r>
            <a:r>
              <a:rPr lang="en-PH" sz="4000" dirty="0"/>
              <a:t> </a:t>
            </a:r>
            <a:r>
              <a:rPr lang="en-PH" sz="4000" dirty="0" err="1"/>
              <a:t>inaayos</a:t>
            </a:r>
            <a:r>
              <a:rPr lang="en-PH" sz="4000" dirty="0"/>
              <a:t> ang </a:t>
            </a:r>
            <a:r>
              <a:rPr lang="en-PH" sz="4000" dirty="0" err="1"/>
              <a:t>balita</a:t>
            </a:r>
            <a:r>
              <a:rPr lang="en-PH" sz="4000" dirty="0"/>
              <a:t>, ang </a:t>
            </a:r>
            <a:r>
              <a:rPr lang="en-PH" sz="4000" dirty="0" err="1"/>
              <a:t>paggamit</a:t>
            </a:r>
            <a:r>
              <a:rPr lang="en-PH" sz="4000" dirty="0"/>
              <a:t> ng visuals, at ang </a:t>
            </a:r>
            <a:r>
              <a:rPr lang="en-PH" sz="4000" dirty="0" err="1"/>
              <a:t>paraan</a:t>
            </a:r>
            <a:r>
              <a:rPr lang="en-PH" sz="4000" dirty="0"/>
              <a:t> ng </a:t>
            </a:r>
            <a:r>
              <a:rPr lang="en-PH" sz="4000" dirty="0" err="1"/>
              <a:t>pagsasalaysay</a:t>
            </a:r>
            <a:r>
              <a:rPr lang="en-PH" sz="4000" dirty="0"/>
              <a:t>) ay </a:t>
            </a:r>
            <a:r>
              <a:rPr lang="en-PH" sz="4000" dirty="0" err="1"/>
              <a:t>hindi</a:t>
            </a:r>
            <a:r>
              <a:rPr lang="en-PH" sz="4000" dirty="0"/>
              <a:t> </a:t>
            </a:r>
            <a:r>
              <a:rPr lang="en-PH" sz="4000" dirty="0" err="1"/>
              <a:t>lamang</a:t>
            </a:r>
            <a:r>
              <a:rPr lang="en-PH" sz="4000" dirty="0"/>
              <a:t> </a:t>
            </a:r>
            <a:r>
              <a:rPr lang="en-PH" sz="4000" dirty="0" err="1"/>
              <a:t>naghahatid</a:t>
            </a:r>
            <a:r>
              <a:rPr lang="en-PH" sz="4000" dirty="0"/>
              <a:t> ng </a:t>
            </a:r>
            <a:r>
              <a:rPr lang="en-PH" sz="4000" dirty="0" err="1"/>
              <a:t>impormasyon</a:t>
            </a:r>
            <a:r>
              <a:rPr lang="en-PH" sz="4000" dirty="0"/>
              <a:t> </a:t>
            </a:r>
            <a:r>
              <a:rPr lang="en-PH" sz="4000" dirty="0" err="1"/>
              <a:t>kundi</a:t>
            </a:r>
            <a:r>
              <a:rPr lang="en-PH" sz="4000" dirty="0"/>
              <a:t> </a:t>
            </a:r>
            <a:r>
              <a:rPr lang="en-PH" sz="4000" dirty="0" err="1"/>
              <a:t>nagbibigay</a:t>
            </a:r>
            <a:r>
              <a:rPr lang="en-PH" sz="4000" dirty="0"/>
              <a:t> </a:t>
            </a:r>
            <a:r>
              <a:rPr lang="en-PH" sz="4000" dirty="0" err="1"/>
              <a:t>rin</a:t>
            </a:r>
            <a:r>
              <a:rPr lang="en-PH" sz="4000" dirty="0"/>
              <a:t> ng </a:t>
            </a:r>
            <a:r>
              <a:rPr lang="en-PH" sz="4000" dirty="0" err="1"/>
              <a:t>partikular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pananaw</a:t>
            </a:r>
            <a:r>
              <a:rPr lang="en-PH" sz="4000" dirty="0"/>
              <a:t> o </a:t>
            </a:r>
            <a:r>
              <a:rPr lang="en-PH" sz="4000" dirty="0" err="1"/>
              <a:t>interpretasyon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pangyayari</a:t>
            </a:r>
            <a:r>
              <a:rPr lang="en-PH" sz="4000" dirty="0"/>
              <a:t>. Dahil </a:t>
            </a:r>
            <a:r>
              <a:rPr lang="en-PH" sz="4000" dirty="0" err="1"/>
              <a:t>dito</a:t>
            </a:r>
            <a:r>
              <a:rPr lang="en-PH" sz="4000" dirty="0"/>
              <a:t>, </a:t>
            </a:r>
            <a:r>
              <a:rPr lang="en-PH" sz="4000" dirty="0" err="1"/>
              <a:t>naiimpluwensyahan</a:t>
            </a:r>
            <a:r>
              <a:rPr lang="en-PH" sz="4000" dirty="0"/>
              <a:t> ng media kung </a:t>
            </a:r>
            <a:r>
              <a:rPr lang="en-PH" sz="4000" dirty="0" err="1"/>
              <a:t>paano</a:t>
            </a:r>
            <a:r>
              <a:rPr lang="en-PH" sz="4000" dirty="0"/>
              <a:t> </a:t>
            </a:r>
            <a:r>
              <a:rPr lang="en-PH" sz="4000" dirty="0" err="1"/>
              <a:t>iniisip</a:t>
            </a:r>
            <a:r>
              <a:rPr lang="en-PH" sz="4000" dirty="0"/>
              <a:t> at </a:t>
            </a:r>
            <a:r>
              <a:rPr lang="en-PH" sz="4000" dirty="0" err="1"/>
              <a:t>tinatanggap</a:t>
            </a:r>
            <a:r>
              <a:rPr lang="en-PH" sz="4000" dirty="0"/>
              <a:t> ng </a:t>
            </a:r>
            <a:r>
              <a:rPr lang="en-PH" sz="4000" dirty="0" err="1"/>
              <a:t>publiko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isyu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lipunan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Epekto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Media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622954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000" dirty="0"/>
              <a:t>Ang </a:t>
            </a:r>
            <a:r>
              <a:rPr lang="en-PH" sz="4000" b="1" dirty="0"/>
              <a:t>Cultivation Analysis</a:t>
            </a:r>
            <a:r>
              <a:rPr lang="en-PH" sz="4000" dirty="0"/>
              <a:t> ay </a:t>
            </a:r>
            <a:r>
              <a:rPr lang="en-PH" sz="4000" dirty="0" err="1"/>
              <a:t>teoryang</a:t>
            </a:r>
            <a:r>
              <a:rPr lang="en-PH" sz="4000" dirty="0"/>
              <a:t> </a:t>
            </a:r>
            <a:r>
              <a:rPr lang="en-PH" sz="4000" dirty="0" err="1"/>
              <a:t>nagsasaad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ang </a:t>
            </a:r>
            <a:r>
              <a:rPr lang="en-PH" sz="4000" b="1" dirty="0" err="1"/>
              <a:t>madalas</a:t>
            </a:r>
            <a:r>
              <a:rPr lang="en-PH" sz="4000" b="1" dirty="0"/>
              <a:t> at </a:t>
            </a:r>
            <a:r>
              <a:rPr lang="en-PH" sz="4000" b="1" dirty="0" err="1"/>
              <a:t>matagal</a:t>
            </a:r>
            <a:r>
              <a:rPr lang="en-PH" sz="4000" b="1" dirty="0"/>
              <a:t> </a:t>
            </a:r>
            <a:r>
              <a:rPr lang="en-PH" sz="4000" b="1" dirty="0" err="1"/>
              <a:t>na</a:t>
            </a:r>
            <a:r>
              <a:rPr lang="en-PH" sz="4000" b="1" dirty="0"/>
              <a:t> </a:t>
            </a:r>
            <a:r>
              <a:rPr lang="en-PH" sz="4000" b="1" dirty="0" err="1"/>
              <a:t>paggamit</a:t>
            </a:r>
            <a:r>
              <a:rPr lang="en-PH" sz="4000" b="1" dirty="0"/>
              <a:t> ng media</a:t>
            </a:r>
            <a:r>
              <a:rPr lang="en-PH" sz="4000" dirty="0"/>
              <a:t>, </a:t>
            </a:r>
            <a:r>
              <a:rPr lang="en-PH" sz="4000" dirty="0" err="1"/>
              <a:t>lalo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ng </a:t>
            </a:r>
            <a:r>
              <a:rPr lang="en-PH" sz="4000" dirty="0" err="1"/>
              <a:t>telebisyon</a:t>
            </a:r>
            <a:r>
              <a:rPr lang="en-PH" sz="4000" dirty="0"/>
              <a:t>, ay </a:t>
            </a:r>
            <a:r>
              <a:rPr lang="en-PH" sz="4000" dirty="0" err="1"/>
              <a:t>maaaring</a:t>
            </a:r>
            <a:r>
              <a:rPr lang="en-PH" sz="4000" dirty="0"/>
              <a:t> </a:t>
            </a:r>
            <a:r>
              <a:rPr lang="en-PH" sz="4000" dirty="0" err="1"/>
              <a:t>magdulot</a:t>
            </a:r>
            <a:r>
              <a:rPr lang="en-PH" sz="4000" dirty="0"/>
              <a:t> ng </a:t>
            </a:r>
            <a:r>
              <a:rPr lang="en-PH" sz="4000" b="1" dirty="0" err="1"/>
              <a:t>illusyon</a:t>
            </a:r>
            <a:r>
              <a:rPr lang="en-PH" sz="4000" b="1" dirty="0"/>
              <a:t> ng </a:t>
            </a:r>
            <a:r>
              <a:rPr lang="en-PH" sz="4000" b="1" dirty="0" err="1"/>
              <a:t>realidad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manonood</a:t>
            </a:r>
            <a:r>
              <a:rPr lang="en-PH" sz="4000" dirty="0"/>
              <a:t>. Ayon </a:t>
            </a:r>
            <a:r>
              <a:rPr lang="en-PH" sz="4000" dirty="0" err="1"/>
              <a:t>dito</a:t>
            </a:r>
            <a:r>
              <a:rPr lang="en-PH" sz="4000" dirty="0"/>
              <a:t>, ang </a:t>
            </a:r>
            <a:r>
              <a:rPr lang="en-PH" sz="4000" dirty="0" err="1"/>
              <a:t>paulit-ulit</a:t>
            </a:r>
            <a:r>
              <a:rPr lang="en-PH" sz="4000" dirty="0"/>
              <a:t> at pare-</a:t>
            </a:r>
            <a:r>
              <a:rPr lang="en-PH" sz="4000" dirty="0" err="1"/>
              <a:t>parehong</a:t>
            </a:r>
            <a:r>
              <a:rPr lang="en-PH" sz="4000" dirty="0"/>
              <a:t> </a:t>
            </a:r>
            <a:r>
              <a:rPr lang="en-PH" sz="4000" dirty="0" err="1"/>
              <a:t>mensahe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media ay </a:t>
            </a:r>
            <a:r>
              <a:rPr lang="en-PH" sz="4000" dirty="0" err="1"/>
              <a:t>maaaring</a:t>
            </a:r>
            <a:r>
              <a:rPr lang="en-PH" sz="4000" dirty="0"/>
              <a:t> </a:t>
            </a:r>
            <a:r>
              <a:rPr lang="en-PH" sz="4000" dirty="0" err="1"/>
              <a:t>makaimpluwensya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pananaw</a:t>
            </a:r>
            <a:r>
              <a:rPr lang="en-PH" sz="4000" dirty="0"/>
              <a:t> ng </a:t>
            </a:r>
            <a:r>
              <a:rPr lang="en-PH" sz="4000" dirty="0" err="1"/>
              <a:t>tao</a:t>
            </a:r>
            <a:r>
              <a:rPr lang="en-PH" sz="4000" dirty="0"/>
              <a:t> </a:t>
            </a:r>
            <a:r>
              <a:rPr lang="en-PH" sz="4000" dirty="0" err="1"/>
              <a:t>tungkol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mundo</a:t>
            </a:r>
            <a:r>
              <a:rPr lang="en-PH" sz="4000" dirty="0"/>
              <a:t>. </a:t>
            </a:r>
            <a:r>
              <a:rPr lang="en-PH" sz="4000" dirty="0" err="1"/>
              <a:t>Halimbawa</a:t>
            </a:r>
            <a:r>
              <a:rPr lang="en-PH" sz="4000" dirty="0"/>
              <a:t>, kung ang </a:t>
            </a:r>
            <a:r>
              <a:rPr lang="en-PH" sz="4000" dirty="0" err="1"/>
              <a:t>krimen</a:t>
            </a:r>
            <a:r>
              <a:rPr lang="en-PH" sz="4000" dirty="0"/>
              <a:t> ay </a:t>
            </a:r>
            <a:r>
              <a:rPr lang="en-PH" sz="4000" dirty="0" err="1"/>
              <a:t>madalas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ipinapakita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balita</a:t>
            </a:r>
            <a:r>
              <a:rPr lang="en-PH" sz="4000" dirty="0"/>
              <a:t> o </a:t>
            </a:r>
            <a:r>
              <a:rPr lang="en-PH" sz="4000" dirty="0" err="1"/>
              <a:t>palabas</a:t>
            </a:r>
            <a:r>
              <a:rPr lang="en-PH" sz="4000" dirty="0"/>
              <a:t>, </a:t>
            </a:r>
            <a:r>
              <a:rPr lang="en-PH" sz="4000" dirty="0" err="1"/>
              <a:t>maaaring</a:t>
            </a:r>
            <a:r>
              <a:rPr lang="en-PH" sz="4000" dirty="0"/>
              <a:t> </a:t>
            </a:r>
            <a:r>
              <a:rPr lang="en-PH" sz="4000" dirty="0" err="1"/>
              <a:t>maniwala</a:t>
            </a:r>
            <a:r>
              <a:rPr lang="en-PH" sz="4000" dirty="0"/>
              <a:t> ang </a:t>
            </a:r>
            <a:r>
              <a:rPr lang="en-PH" sz="4000" dirty="0" err="1"/>
              <a:t>madalas</a:t>
            </a:r>
            <a:r>
              <a:rPr lang="en-PH" sz="4000" dirty="0"/>
              <a:t> </a:t>
            </a:r>
            <a:r>
              <a:rPr lang="en-PH" sz="4000" dirty="0" err="1"/>
              <a:t>manood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ang </a:t>
            </a:r>
            <a:r>
              <a:rPr lang="en-PH" sz="4000" dirty="0" err="1"/>
              <a:t>mundo</a:t>
            </a:r>
            <a:r>
              <a:rPr lang="en-PH" sz="4000" dirty="0"/>
              <a:t> ay mas </a:t>
            </a:r>
            <a:r>
              <a:rPr lang="en-PH" sz="4000" dirty="0" err="1"/>
              <a:t>mapanganib</a:t>
            </a:r>
            <a:r>
              <a:rPr lang="en-PH" sz="4000" dirty="0"/>
              <a:t> </a:t>
            </a:r>
            <a:r>
              <a:rPr lang="en-PH" sz="4000" dirty="0" err="1"/>
              <a:t>kaysa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totoong</a:t>
            </a:r>
            <a:r>
              <a:rPr lang="en-PH" sz="4000" dirty="0"/>
              <a:t> </a:t>
            </a:r>
            <a:r>
              <a:rPr lang="en-PH" sz="4000" dirty="0" err="1"/>
              <a:t>estadistika</a:t>
            </a:r>
            <a:r>
              <a:rPr lang="en-PH" sz="4000" dirty="0"/>
              <a:t>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Epekto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Media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903928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000" dirty="0"/>
              <a:t>Ang </a:t>
            </a:r>
            <a:r>
              <a:rPr lang="en-PH" sz="4000" b="1" dirty="0" err="1"/>
              <a:t>Pilosopiyang</a:t>
            </a:r>
            <a:r>
              <a:rPr lang="en-PH" sz="4000" b="1" dirty="0"/>
              <a:t> </a:t>
            </a:r>
            <a:r>
              <a:rPr lang="en-PH" sz="4000" b="1" dirty="0" err="1"/>
              <a:t>Pampulitika</a:t>
            </a:r>
            <a:r>
              <a:rPr lang="en-PH" sz="4000" dirty="0"/>
              <a:t> o </a:t>
            </a:r>
            <a:r>
              <a:rPr lang="en-PH" sz="4000" b="1" dirty="0"/>
              <a:t>Political Theory</a:t>
            </a:r>
            <a:r>
              <a:rPr lang="en-PH" sz="4000" dirty="0"/>
              <a:t> ay ang </a:t>
            </a:r>
            <a:r>
              <a:rPr lang="en-PH" sz="4000" dirty="0" err="1"/>
              <a:t>pag-aaral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konseptong</a:t>
            </a:r>
            <a:r>
              <a:rPr lang="en-PH" sz="4000" dirty="0"/>
              <a:t> </a:t>
            </a:r>
            <a:r>
              <a:rPr lang="en-PH" sz="4000" b="1" dirty="0" err="1"/>
              <a:t>pampulitika</a:t>
            </a:r>
            <a:r>
              <a:rPr lang="en-PH" sz="4000" dirty="0"/>
              <a:t> </a:t>
            </a:r>
            <a:r>
              <a:rPr lang="en-PH" sz="4000" dirty="0" err="1"/>
              <a:t>tulad</a:t>
            </a:r>
            <a:r>
              <a:rPr lang="en-PH" sz="4000" dirty="0"/>
              <a:t> ng </a:t>
            </a:r>
            <a:r>
              <a:rPr lang="en-PH" sz="4000" b="1" dirty="0" err="1"/>
              <a:t>kalayaan</a:t>
            </a:r>
            <a:r>
              <a:rPr lang="en-PH" sz="4000" b="1" dirty="0"/>
              <a:t>, </a:t>
            </a:r>
            <a:r>
              <a:rPr lang="en-PH" sz="4000" b="1" dirty="0" err="1"/>
              <a:t>katarungan</a:t>
            </a:r>
            <a:r>
              <a:rPr lang="en-PH" sz="4000" b="1" dirty="0"/>
              <a:t>, </a:t>
            </a:r>
            <a:r>
              <a:rPr lang="en-PH" sz="4000" b="1" dirty="0" err="1"/>
              <a:t>karapatan</a:t>
            </a:r>
            <a:r>
              <a:rPr lang="en-PH" sz="4000" b="1" dirty="0"/>
              <a:t>, </a:t>
            </a:r>
            <a:r>
              <a:rPr lang="en-PH" sz="4000" b="1" dirty="0" err="1"/>
              <a:t>batas</a:t>
            </a:r>
            <a:r>
              <a:rPr lang="en-PH" sz="4000" b="1" dirty="0"/>
              <a:t>,</a:t>
            </a:r>
            <a:r>
              <a:rPr lang="en-PH" sz="4000" dirty="0"/>
              <a:t> at </a:t>
            </a:r>
            <a:r>
              <a:rPr lang="en-PH" sz="4000" b="1" dirty="0" err="1"/>
              <a:t>kapangyarihan</a:t>
            </a:r>
            <a:r>
              <a:rPr lang="en-PH" sz="4000" b="1" dirty="0"/>
              <a:t>.</a:t>
            </a:r>
            <a:r>
              <a:rPr lang="en-PH" sz="4000" dirty="0"/>
              <a:t> </a:t>
            </a:r>
            <a:r>
              <a:rPr lang="en-PH" sz="4000" dirty="0" err="1"/>
              <a:t>Sinusuri</a:t>
            </a:r>
            <a:r>
              <a:rPr lang="en-PH" sz="4000" dirty="0"/>
              <a:t> </a:t>
            </a:r>
            <a:r>
              <a:rPr lang="en-PH" sz="4000" dirty="0" err="1"/>
              <a:t>nito</a:t>
            </a:r>
            <a:r>
              <a:rPr lang="en-PH" sz="4000" dirty="0"/>
              <a:t> ang </a:t>
            </a:r>
            <a:r>
              <a:rPr lang="en-PH" sz="4000" dirty="0" err="1"/>
              <a:t>iba't</a:t>
            </a:r>
            <a:r>
              <a:rPr lang="en-PH" sz="4000" dirty="0"/>
              <a:t> </a:t>
            </a:r>
            <a:r>
              <a:rPr lang="en-PH" sz="4000" dirty="0" err="1"/>
              <a:t>ibang</a:t>
            </a:r>
            <a:r>
              <a:rPr lang="en-PH" sz="4000" dirty="0"/>
              <a:t> </a:t>
            </a:r>
            <a:r>
              <a:rPr lang="en-PH" sz="4000" b="1" dirty="0" err="1"/>
              <a:t>paniniwala</a:t>
            </a:r>
            <a:r>
              <a:rPr lang="en-PH" sz="4000" b="1" dirty="0"/>
              <a:t> at </a:t>
            </a:r>
            <a:r>
              <a:rPr lang="en-PH" sz="4000" b="1" dirty="0" err="1"/>
              <a:t>ideolohiyang</a:t>
            </a:r>
            <a:r>
              <a:rPr lang="en-PH" sz="4000" b="1" dirty="0"/>
              <a:t> </a:t>
            </a:r>
            <a:r>
              <a:rPr lang="en-PH" sz="4000" b="1" dirty="0" err="1"/>
              <a:t>pampulitika</a:t>
            </a:r>
            <a:r>
              <a:rPr lang="en-PH" sz="4000" dirty="0"/>
              <a:t> </a:t>
            </a:r>
            <a:r>
              <a:rPr lang="en-PH" sz="4000" dirty="0" err="1"/>
              <a:t>tulad</a:t>
            </a:r>
            <a:r>
              <a:rPr lang="en-PH" sz="4000" dirty="0"/>
              <a:t> ng </a:t>
            </a:r>
            <a:r>
              <a:rPr lang="en-PH" sz="4000" b="1" dirty="0" err="1"/>
              <a:t>demokrasya</a:t>
            </a:r>
            <a:r>
              <a:rPr lang="en-PH" sz="4000" dirty="0"/>
              <a:t> at </a:t>
            </a:r>
            <a:r>
              <a:rPr lang="en-PH" sz="4000" b="1" dirty="0" err="1"/>
              <a:t>sosyalismo</a:t>
            </a:r>
            <a:r>
              <a:rPr lang="en-PH" sz="4000" dirty="0"/>
              <a:t> </a:t>
            </a: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maunawaan</a:t>
            </a:r>
            <a:r>
              <a:rPr lang="en-PH" sz="4000" dirty="0"/>
              <a:t> kung </a:t>
            </a:r>
            <a:r>
              <a:rPr lang="en-PH" sz="4000" dirty="0" err="1"/>
              <a:t>paano</a:t>
            </a:r>
            <a:r>
              <a:rPr lang="en-PH" sz="4000" dirty="0"/>
              <a:t> </a:t>
            </a:r>
            <a:r>
              <a:rPr lang="en-PH" sz="4000" dirty="0" err="1"/>
              <a:t>dapat</a:t>
            </a:r>
            <a:r>
              <a:rPr lang="en-PH" sz="4000" dirty="0"/>
              <a:t> </a:t>
            </a:r>
            <a:r>
              <a:rPr lang="en-PH" sz="4000" dirty="0" err="1"/>
              <a:t>isagawa</a:t>
            </a:r>
            <a:r>
              <a:rPr lang="en-PH" sz="4000" dirty="0"/>
              <a:t> ang </a:t>
            </a:r>
            <a:r>
              <a:rPr lang="en-PH" sz="4000" dirty="0" err="1"/>
              <a:t>politika</a:t>
            </a:r>
            <a:r>
              <a:rPr lang="en-PH" sz="4000" dirty="0"/>
              <a:t> para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kabutihan</a:t>
            </a:r>
            <a:r>
              <a:rPr lang="en-PH" sz="4000" dirty="0"/>
              <a:t> ng </a:t>
            </a:r>
            <a:r>
              <a:rPr lang="en-PH" sz="4000" dirty="0" err="1"/>
              <a:t>lipunan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Politika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337879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000" b="1" dirty="0"/>
              <a:t>Thomas Aquinas </a:t>
            </a:r>
            <a:r>
              <a:rPr lang="en-PH" sz="4000" dirty="0"/>
              <a:t>– </a:t>
            </a:r>
            <a:r>
              <a:rPr lang="en-PH" sz="4000" dirty="0" err="1"/>
              <a:t>Inugnay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turo</a:t>
            </a:r>
            <a:r>
              <a:rPr lang="en-PH" sz="4000" dirty="0"/>
              <a:t> ng </a:t>
            </a:r>
            <a:r>
              <a:rPr lang="en-PH" sz="4000" dirty="0" err="1"/>
              <a:t>Kristiyanismo</a:t>
            </a:r>
            <a:r>
              <a:rPr lang="en-PH" sz="4000" dirty="0"/>
              <a:t> at Aristotelian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kanyang</a:t>
            </a:r>
            <a:r>
              <a:rPr lang="en-PH" sz="4000" dirty="0"/>
              <a:t> Treatise on Law. Ayon </a:t>
            </a:r>
            <a:r>
              <a:rPr lang="en-PH" sz="4000" dirty="0" err="1"/>
              <a:t>sa</a:t>
            </a:r>
            <a:r>
              <a:rPr lang="en-PH" sz="4000" dirty="0"/>
              <a:t> kanya, ang </a:t>
            </a:r>
            <a:r>
              <a:rPr lang="en-PH" sz="4000" dirty="0" err="1"/>
              <a:t>biyaya</a:t>
            </a:r>
            <a:r>
              <a:rPr lang="en-PH" sz="4000" dirty="0"/>
              <a:t> ng </a:t>
            </a:r>
            <a:r>
              <a:rPr lang="en-PH" sz="4000" dirty="0" err="1"/>
              <a:t>Maykapal</a:t>
            </a:r>
            <a:r>
              <a:rPr lang="en-PH" sz="4000" dirty="0"/>
              <a:t> ang </a:t>
            </a:r>
            <a:r>
              <a:rPr lang="en-PH" sz="4000" dirty="0" err="1"/>
              <a:t>pinakamataas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karunungan</a:t>
            </a:r>
            <a:r>
              <a:rPr lang="en-PH" sz="4000" dirty="0"/>
              <a:t>,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makikita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batas</a:t>
            </a:r>
            <a:r>
              <a:rPr lang="en-PH" sz="4000" dirty="0"/>
              <a:t> ng </a:t>
            </a:r>
            <a:r>
              <a:rPr lang="en-PH" sz="4000" dirty="0" err="1"/>
              <a:t>tao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pamamagitan</a:t>
            </a:r>
            <a:r>
              <a:rPr lang="en-PH" sz="4000" dirty="0"/>
              <a:t> ng banal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kabutihan</a:t>
            </a:r>
            <a:r>
              <a:rPr lang="en-PH" sz="4000" dirty="0"/>
              <a:t>,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nagiging</a:t>
            </a:r>
            <a:r>
              <a:rPr lang="en-PH" sz="4000" dirty="0"/>
              <a:t> </a:t>
            </a:r>
            <a:r>
              <a:rPr lang="en-PH" sz="4000" dirty="0" err="1"/>
              <a:t>daan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makatwirang</a:t>
            </a:r>
            <a:r>
              <a:rPr lang="en-PH" sz="4000" dirty="0"/>
              <a:t> </a:t>
            </a:r>
            <a:r>
              <a:rPr lang="en-PH" sz="4000" dirty="0" err="1"/>
              <a:t>pamamahala</a:t>
            </a:r>
            <a:r>
              <a:rPr lang="en-PH" sz="4000" dirty="0"/>
              <a:t>.</a:t>
            </a:r>
          </a:p>
          <a:p>
            <a:pPr algn="just"/>
            <a:r>
              <a:rPr lang="en-PH" sz="4000" b="1" dirty="0"/>
              <a:t>Aristotle</a:t>
            </a:r>
            <a:r>
              <a:rPr lang="en-PH" sz="4000" dirty="0"/>
              <a:t> – Ayon </a:t>
            </a:r>
            <a:r>
              <a:rPr lang="en-PH" sz="4000" dirty="0" err="1"/>
              <a:t>sa</a:t>
            </a:r>
            <a:r>
              <a:rPr lang="en-PH" sz="4000" dirty="0"/>
              <a:t> kanya, ang </a:t>
            </a:r>
            <a:r>
              <a:rPr lang="en-PH" sz="4000" dirty="0" err="1"/>
              <a:t>tao</a:t>
            </a:r>
            <a:r>
              <a:rPr lang="en-PH" sz="4000" dirty="0"/>
              <a:t> ay "</a:t>
            </a:r>
            <a:r>
              <a:rPr lang="en-PH" sz="4000" dirty="0" err="1"/>
              <a:t>hayop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lipunan</a:t>
            </a:r>
            <a:r>
              <a:rPr lang="en-PH" sz="4000" dirty="0"/>
              <a:t>" (social animals) at ang polis (</a:t>
            </a:r>
            <a:r>
              <a:rPr lang="en-PH" sz="4000" dirty="0" err="1"/>
              <a:t>Sinaunang</a:t>
            </a:r>
            <a:r>
              <a:rPr lang="en-PH" sz="4000" dirty="0"/>
              <a:t> </a:t>
            </a:r>
            <a:r>
              <a:rPr lang="en-PH" sz="4000" dirty="0" err="1"/>
              <a:t>Syudad</a:t>
            </a:r>
            <a:r>
              <a:rPr lang="en-PH" sz="4000" dirty="0"/>
              <a:t>-Estado ng </a:t>
            </a:r>
            <a:r>
              <a:rPr lang="en-PH" sz="4000" dirty="0" err="1"/>
              <a:t>Griyego</a:t>
            </a:r>
            <a:r>
              <a:rPr lang="en-PH" sz="4000" dirty="0"/>
              <a:t>) ay </a:t>
            </a:r>
            <a:r>
              <a:rPr lang="en-PH" sz="4000" dirty="0" err="1"/>
              <a:t>umiiral</a:t>
            </a:r>
            <a:r>
              <a:rPr lang="en-PH" sz="4000" dirty="0"/>
              <a:t> </a:t>
            </a: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magdala</a:t>
            </a:r>
            <a:r>
              <a:rPr lang="en-PH" sz="4000" dirty="0"/>
              <a:t> ng </a:t>
            </a:r>
            <a:r>
              <a:rPr lang="en-PH" sz="4000" dirty="0" err="1"/>
              <a:t>kabutihan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buhay</a:t>
            </a:r>
            <a:r>
              <a:rPr lang="en-PH" sz="4000" dirty="0"/>
              <a:t>. Ang </a:t>
            </a:r>
            <a:r>
              <a:rPr lang="en-PH" sz="4000" dirty="0" err="1"/>
              <a:t>kanyang</a:t>
            </a:r>
            <a:r>
              <a:rPr lang="en-PH" sz="4000" dirty="0"/>
              <a:t> </a:t>
            </a:r>
            <a:r>
              <a:rPr lang="en-PH" sz="4000" dirty="0" err="1"/>
              <a:t>teoryang</a:t>
            </a:r>
            <a:r>
              <a:rPr lang="en-PH" sz="4000" dirty="0"/>
              <a:t> </a:t>
            </a:r>
            <a:r>
              <a:rPr lang="en-PH" sz="4000" dirty="0" err="1"/>
              <a:t>pampulitika</a:t>
            </a:r>
            <a:r>
              <a:rPr lang="en-PH" sz="4000" dirty="0"/>
              <a:t> ay </a:t>
            </a:r>
            <a:r>
              <a:rPr lang="en-PH" sz="4000" dirty="0" err="1"/>
              <a:t>nakabatay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etika</a:t>
            </a:r>
            <a:r>
              <a:rPr lang="en-PH" sz="4000" dirty="0"/>
              <a:t> ng perfectionism.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Maimpluwensyang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Pilosopo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Politika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389871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PH" sz="4000" b="1" dirty="0"/>
              <a:t>Jeremy Bentham </a:t>
            </a:r>
            <a:r>
              <a:rPr lang="en-PH" sz="4000" dirty="0"/>
              <a:t>– </a:t>
            </a:r>
            <a:r>
              <a:rPr lang="en-PH" sz="4000" dirty="0" err="1"/>
              <a:t>Sinuri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</a:t>
            </a:r>
            <a:r>
              <a:rPr lang="en-PH" sz="4000" dirty="0" err="1"/>
              <a:t>hustisyang</a:t>
            </a:r>
            <a:r>
              <a:rPr lang="en-PH" sz="4000" dirty="0"/>
              <a:t> </a:t>
            </a:r>
            <a:r>
              <a:rPr lang="en-PH" sz="4000" dirty="0" err="1"/>
              <a:t>panlipunan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pamamagitan</a:t>
            </a:r>
            <a:r>
              <a:rPr lang="en-PH" sz="4000" dirty="0"/>
              <a:t> ng </a:t>
            </a:r>
            <a:r>
              <a:rPr lang="en-PH" sz="4000" dirty="0" err="1"/>
              <a:t>pag</a:t>
            </a:r>
            <a:r>
              <a:rPr lang="en-PH" sz="4000" dirty="0"/>
              <a:t>-maximize ng </a:t>
            </a:r>
            <a:r>
              <a:rPr lang="en-PH" sz="4000" dirty="0" err="1"/>
              <a:t>pangkalahatang</a:t>
            </a:r>
            <a:r>
              <a:rPr lang="en-PH" sz="4000" dirty="0"/>
              <a:t> </a:t>
            </a:r>
            <a:r>
              <a:rPr lang="en-PH" sz="4000" dirty="0" err="1"/>
              <a:t>benepisyo</a:t>
            </a:r>
            <a:r>
              <a:rPr lang="en-PH" sz="4000" dirty="0"/>
              <a:t> ng </a:t>
            </a:r>
            <a:r>
              <a:rPr lang="en-PH" sz="4000" dirty="0" err="1"/>
              <a:t>mamamayan</a:t>
            </a:r>
            <a:r>
              <a:rPr lang="en-PH" sz="4000" dirty="0"/>
              <a:t>.</a:t>
            </a:r>
          </a:p>
          <a:p>
            <a:pPr algn="just"/>
            <a:r>
              <a:rPr lang="en-PH" sz="4000" b="1" dirty="0"/>
              <a:t>Confucius</a:t>
            </a:r>
            <a:r>
              <a:rPr lang="en-PH" sz="4000" dirty="0"/>
              <a:t> – </a:t>
            </a:r>
            <a:r>
              <a:rPr lang="en-PH" sz="4000" dirty="0" err="1"/>
              <a:t>Inugnay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</a:t>
            </a:r>
            <a:r>
              <a:rPr lang="en-PH" sz="4000" dirty="0" err="1"/>
              <a:t>etika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kaayusang</a:t>
            </a:r>
            <a:r>
              <a:rPr lang="en-PH" sz="4000" dirty="0"/>
              <a:t> </a:t>
            </a:r>
            <a:r>
              <a:rPr lang="en-PH" sz="4000" dirty="0" err="1"/>
              <a:t>pampulitika</a:t>
            </a:r>
            <a:r>
              <a:rPr lang="en-PH" sz="4000" dirty="0"/>
              <a:t>,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binibigyang-diin</a:t>
            </a:r>
            <a:r>
              <a:rPr lang="en-PH" sz="4000" dirty="0"/>
              <a:t> ang </a:t>
            </a:r>
            <a:r>
              <a:rPr lang="en-PH" sz="4000" dirty="0" err="1"/>
              <a:t>moralidad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pamamahala</a:t>
            </a:r>
            <a:r>
              <a:rPr lang="en-PH" sz="4000" dirty="0"/>
              <a:t>.</a:t>
            </a:r>
          </a:p>
          <a:p>
            <a:pPr algn="just"/>
            <a:r>
              <a:rPr lang="en-PH" sz="4000" b="1" dirty="0"/>
              <a:t>John</a:t>
            </a:r>
            <a:r>
              <a:rPr lang="en-PH" sz="4000" dirty="0"/>
              <a:t> </a:t>
            </a:r>
            <a:r>
              <a:rPr lang="en-PH" sz="4000" b="1" dirty="0"/>
              <a:t>Dewey</a:t>
            </a:r>
            <a:r>
              <a:rPr lang="en-PH" sz="4000" dirty="0"/>
              <a:t> – Isa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nagtatag</a:t>
            </a:r>
            <a:r>
              <a:rPr lang="en-PH" sz="4000" dirty="0"/>
              <a:t> ng pragmatism, </a:t>
            </a:r>
            <a:r>
              <a:rPr lang="en-PH" sz="4000" dirty="0" err="1"/>
              <a:t>sinuri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</a:t>
            </a:r>
            <a:r>
              <a:rPr lang="en-PH" sz="4000" dirty="0" err="1"/>
              <a:t>mahalagang</a:t>
            </a:r>
            <a:r>
              <a:rPr lang="en-PH" sz="4000" dirty="0"/>
              <a:t> </a:t>
            </a:r>
            <a:r>
              <a:rPr lang="en-PH" sz="4000" dirty="0" err="1"/>
              <a:t>papel</a:t>
            </a:r>
            <a:r>
              <a:rPr lang="en-PH" sz="4000" dirty="0"/>
              <a:t> ng </a:t>
            </a:r>
            <a:r>
              <a:rPr lang="en-PH" sz="4000" dirty="0" err="1"/>
              <a:t>edukasyon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demokratikong</a:t>
            </a:r>
            <a:r>
              <a:rPr lang="en-PH" sz="4000" dirty="0"/>
              <a:t> </a:t>
            </a:r>
            <a:r>
              <a:rPr lang="en-PH" sz="4000" dirty="0" err="1"/>
              <a:t>pamahalaan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Maimpluwensyang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Pilosopo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Politika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031967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72067" y="1117120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585717" y="2316735"/>
            <a:ext cx="13065868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+mj-lt"/>
              <a:buAutoNum type="arabicPeriod" startAt="4"/>
            </a:pPr>
            <a:r>
              <a:rPr lang="en-PH" sz="4000" b="1" dirty="0"/>
              <a:t>Confucius</a:t>
            </a:r>
            <a:endParaRPr lang="en-PH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PH" sz="4000" dirty="0" err="1"/>
              <a:t>Siya</a:t>
            </a:r>
            <a:r>
              <a:rPr lang="en-PH" sz="4000" dirty="0"/>
              <a:t> ang </a:t>
            </a:r>
            <a:r>
              <a:rPr lang="en-PH" sz="4000" dirty="0" err="1"/>
              <a:t>unang</a:t>
            </a:r>
            <a:r>
              <a:rPr lang="en-PH" sz="4000" dirty="0"/>
              <a:t> nag-</a:t>
            </a:r>
            <a:r>
              <a:rPr lang="en-PH" sz="4000" dirty="0" err="1"/>
              <a:t>ugnay</a:t>
            </a:r>
            <a:r>
              <a:rPr lang="en-PH" sz="4000" dirty="0"/>
              <a:t> ng </a:t>
            </a:r>
            <a:r>
              <a:rPr lang="en-PH" sz="4000" b="1" dirty="0" err="1"/>
              <a:t>etika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b="1" dirty="0" err="1"/>
              <a:t>kaayusang</a:t>
            </a:r>
            <a:r>
              <a:rPr lang="en-PH" sz="4000" b="1" dirty="0"/>
              <a:t> </a:t>
            </a:r>
            <a:r>
              <a:rPr lang="en-PH" sz="4000" b="1" dirty="0" err="1"/>
              <a:t>pampulitika</a:t>
            </a:r>
            <a:r>
              <a:rPr lang="en-PH" sz="4000" dirty="0"/>
              <a:t>. Ayon </a:t>
            </a:r>
            <a:r>
              <a:rPr lang="en-PH" sz="4000" dirty="0" err="1"/>
              <a:t>sa</a:t>
            </a:r>
            <a:r>
              <a:rPr lang="en-PH" sz="4000" dirty="0"/>
              <a:t> kanya, ang </a:t>
            </a:r>
            <a:r>
              <a:rPr lang="en-PH" sz="4000" dirty="0" err="1"/>
              <a:t>mabuting</a:t>
            </a:r>
            <a:r>
              <a:rPr lang="en-PH" sz="4000" dirty="0"/>
              <a:t> </a:t>
            </a:r>
            <a:r>
              <a:rPr lang="en-PH" sz="4000" dirty="0" err="1"/>
              <a:t>pamamahala</a:t>
            </a:r>
            <a:r>
              <a:rPr lang="en-PH" sz="4000" dirty="0"/>
              <a:t> ay </a:t>
            </a:r>
            <a:r>
              <a:rPr lang="en-PH" sz="4000" dirty="0" err="1"/>
              <a:t>nakasalalay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moral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karakter</a:t>
            </a:r>
            <a:r>
              <a:rPr lang="en-PH" sz="4000" dirty="0"/>
              <a:t> ng </a:t>
            </a:r>
            <a:r>
              <a:rPr lang="en-PH" sz="4000" dirty="0" err="1"/>
              <a:t>pinuno</a:t>
            </a:r>
            <a:r>
              <a:rPr lang="en-PH" sz="4000" dirty="0"/>
              <a:t>. Kung ang </a:t>
            </a:r>
            <a:r>
              <a:rPr lang="en-PH" sz="4000" dirty="0" err="1"/>
              <a:t>pinuno</a:t>
            </a:r>
            <a:r>
              <a:rPr lang="en-PH" sz="4000" dirty="0"/>
              <a:t> ay </a:t>
            </a:r>
            <a:r>
              <a:rPr lang="en-PH" sz="4000" dirty="0" err="1"/>
              <a:t>mabuti</a:t>
            </a:r>
            <a:r>
              <a:rPr lang="en-PH" sz="4000" dirty="0"/>
              <a:t> at </a:t>
            </a:r>
            <a:r>
              <a:rPr lang="en-PH" sz="4000" dirty="0" err="1"/>
              <a:t>makatarungan</a:t>
            </a:r>
            <a:r>
              <a:rPr lang="en-PH" sz="4000" dirty="0"/>
              <a:t>, </a:t>
            </a:r>
            <a:r>
              <a:rPr lang="en-PH" sz="4000" dirty="0" err="1"/>
              <a:t>susunod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mamamayan</a:t>
            </a:r>
            <a:r>
              <a:rPr lang="en-PH" sz="4000" dirty="0"/>
              <a:t> at </a:t>
            </a:r>
            <a:r>
              <a:rPr lang="en-PH" sz="4000" dirty="0" err="1"/>
              <a:t>magiging</a:t>
            </a:r>
            <a:r>
              <a:rPr lang="en-PH" sz="4000" dirty="0"/>
              <a:t> </a:t>
            </a:r>
            <a:r>
              <a:rPr lang="en-PH" sz="4000" dirty="0" err="1"/>
              <a:t>maayos</a:t>
            </a:r>
            <a:r>
              <a:rPr lang="en-PH" sz="4000" dirty="0"/>
              <a:t> ang </a:t>
            </a:r>
            <a:r>
              <a:rPr lang="en-PH" sz="4000" dirty="0" err="1"/>
              <a:t>lipunan</a:t>
            </a:r>
            <a:r>
              <a:rPr lang="en-PH" sz="4000" dirty="0"/>
              <a:t>.</a:t>
            </a:r>
          </a:p>
          <a:p>
            <a:pPr>
              <a:buFont typeface="+mj-lt"/>
              <a:buAutoNum type="arabicPeriod" startAt="5"/>
            </a:pPr>
            <a:r>
              <a:rPr lang="en-PH" sz="4000" b="1" dirty="0"/>
              <a:t>John Dewey</a:t>
            </a:r>
            <a:endParaRPr lang="en-PH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PH" sz="4000" dirty="0"/>
              <a:t>Isa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nagtatag</a:t>
            </a:r>
            <a:r>
              <a:rPr lang="en-PH" sz="4000" dirty="0"/>
              <a:t> ng </a:t>
            </a:r>
            <a:r>
              <a:rPr lang="en-PH" sz="4000" b="1" dirty="0"/>
              <a:t>pragmatism</a:t>
            </a:r>
            <a:r>
              <a:rPr lang="en-PH" sz="4000" dirty="0"/>
              <a:t>,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pilosopiya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binibigyang-diin</a:t>
            </a:r>
            <a:r>
              <a:rPr lang="en-PH" sz="4000" dirty="0"/>
              <a:t> ang </a:t>
            </a:r>
            <a:r>
              <a:rPr lang="en-PH" sz="4000" dirty="0" err="1"/>
              <a:t>praktikal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aplikasyon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ideya</a:t>
            </a:r>
            <a:r>
              <a:rPr lang="en-PH" sz="4000" dirty="0"/>
              <a:t>. </a:t>
            </a:r>
            <a:r>
              <a:rPr lang="en-PH" sz="4000" dirty="0" err="1"/>
              <a:t>Itinuro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ang </a:t>
            </a:r>
            <a:r>
              <a:rPr lang="en-PH" sz="4000" b="1" dirty="0" err="1"/>
              <a:t>edukasyon</a:t>
            </a:r>
            <a:r>
              <a:rPr lang="en-PH" sz="4000" dirty="0"/>
              <a:t> ay </a:t>
            </a:r>
            <a:r>
              <a:rPr lang="en-PH" sz="4000" dirty="0" err="1"/>
              <a:t>mahalaga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b="1" dirty="0" err="1"/>
              <a:t>demokrasya</a:t>
            </a:r>
            <a:r>
              <a:rPr lang="en-PH" sz="4000" dirty="0"/>
              <a:t>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tinuturuan</a:t>
            </a:r>
            <a:r>
              <a:rPr lang="en-PH" sz="4000" dirty="0"/>
              <a:t> </a:t>
            </a:r>
            <a:r>
              <a:rPr lang="en-PH" sz="4000" dirty="0" err="1"/>
              <a:t>nito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tao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mag-</a:t>
            </a:r>
            <a:r>
              <a:rPr lang="en-PH" sz="4000" dirty="0" err="1"/>
              <a:t>isip</a:t>
            </a:r>
            <a:r>
              <a:rPr lang="en-PH" sz="4000" dirty="0"/>
              <a:t> </a:t>
            </a:r>
            <a:r>
              <a:rPr lang="en-PH" sz="4000" dirty="0" err="1"/>
              <a:t>nang</a:t>
            </a:r>
            <a:r>
              <a:rPr lang="en-PH" sz="4000" dirty="0"/>
              <a:t> </a:t>
            </a:r>
            <a:r>
              <a:rPr lang="en-PH" sz="4000" dirty="0" err="1"/>
              <a:t>kritikal</a:t>
            </a:r>
            <a:r>
              <a:rPr lang="en-PH" sz="4000" dirty="0"/>
              <a:t> at </a:t>
            </a:r>
            <a:r>
              <a:rPr lang="en-PH" sz="4000" dirty="0" err="1"/>
              <a:t>makilahok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pampublikong</a:t>
            </a:r>
            <a:r>
              <a:rPr lang="en-PH" sz="4000" dirty="0"/>
              <a:t> </a:t>
            </a:r>
            <a:r>
              <a:rPr lang="en-PH" sz="4000" dirty="0" err="1"/>
              <a:t>usapin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Maimpluwensyang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Pilosopo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Politika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324529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+mj-lt"/>
              <a:buAutoNum type="arabicPeriod" startAt="6"/>
            </a:pPr>
            <a:r>
              <a:rPr lang="en-PH" sz="4000" b="1" dirty="0"/>
              <a:t>Friedrich Hayek</a:t>
            </a:r>
            <a:endParaRPr lang="en-PH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PH" sz="4000" dirty="0" err="1"/>
              <a:t>Tinuligsa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</a:t>
            </a:r>
            <a:r>
              <a:rPr lang="en-PH" sz="4000" b="1" dirty="0" err="1"/>
              <a:t>sentral</a:t>
            </a:r>
            <a:r>
              <a:rPr lang="en-PH" sz="4000" b="1" dirty="0"/>
              <a:t> </a:t>
            </a:r>
            <a:r>
              <a:rPr lang="en-PH" sz="4000" b="1" dirty="0" err="1"/>
              <a:t>na</a:t>
            </a:r>
            <a:r>
              <a:rPr lang="en-PH" sz="4000" b="1" dirty="0"/>
              <a:t> </a:t>
            </a:r>
            <a:r>
              <a:rPr lang="en-PH" sz="4000" b="1" dirty="0" err="1"/>
              <a:t>pagpaplano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ekonomiya</a:t>
            </a:r>
            <a:r>
              <a:rPr lang="en-PH" sz="4000" dirty="0"/>
              <a:t>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hindi</a:t>
            </a:r>
            <a:r>
              <a:rPr lang="en-PH" sz="4000" dirty="0"/>
              <a:t> </a:t>
            </a:r>
            <a:r>
              <a:rPr lang="en-PH" sz="4000" dirty="0" err="1"/>
              <a:t>nito</a:t>
            </a:r>
            <a:r>
              <a:rPr lang="en-PH" sz="4000" dirty="0"/>
              <a:t> </a:t>
            </a:r>
            <a:r>
              <a:rPr lang="en-PH" sz="4000" dirty="0" err="1"/>
              <a:t>kayang</a:t>
            </a:r>
            <a:r>
              <a:rPr lang="en-PH" sz="4000" dirty="0"/>
              <a:t> </a:t>
            </a:r>
            <a:r>
              <a:rPr lang="en-PH" sz="4000" dirty="0" err="1"/>
              <a:t>tugunan</a:t>
            </a:r>
            <a:r>
              <a:rPr lang="en-PH" sz="4000" dirty="0"/>
              <a:t> ang </a:t>
            </a:r>
            <a:r>
              <a:rPr lang="en-PH" sz="4000" dirty="0" err="1"/>
              <a:t>pabago-bagong</a:t>
            </a:r>
            <a:r>
              <a:rPr lang="en-PH" sz="4000" dirty="0"/>
              <a:t> </a:t>
            </a:r>
            <a:r>
              <a:rPr lang="en-PH" sz="4000" dirty="0" err="1"/>
              <a:t>pangangailangan</a:t>
            </a:r>
            <a:r>
              <a:rPr lang="en-PH" sz="4000" dirty="0"/>
              <a:t> ng </a:t>
            </a:r>
            <a:r>
              <a:rPr lang="en-PH" sz="4000" dirty="0" err="1"/>
              <a:t>tao</a:t>
            </a:r>
            <a:r>
              <a:rPr lang="en-PH" sz="4000" dirty="0"/>
              <a:t>. </a:t>
            </a:r>
            <a:r>
              <a:rPr lang="en-PH" sz="4000" dirty="0" err="1"/>
              <a:t>Sinusuportahan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</a:t>
            </a:r>
            <a:r>
              <a:rPr lang="en-PH" sz="4000" b="1" dirty="0"/>
              <a:t>free market capitalism</a:t>
            </a:r>
            <a:r>
              <a:rPr lang="en-PH" sz="4000" dirty="0"/>
              <a:t> kung </a:t>
            </a:r>
            <a:r>
              <a:rPr lang="en-PH" sz="4000" dirty="0" err="1"/>
              <a:t>saan</a:t>
            </a:r>
            <a:r>
              <a:rPr lang="en-PH" sz="4000" dirty="0"/>
              <a:t> ang </a:t>
            </a:r>
            <a:r>
              <a:rPr lang="en-PH" sz="4000" dirty="0" err="1"/>
              <a:t>pamilihan</a:t>
            </a:r>
            <a:r>
              <a:rPr lang="en-PH" sz="4000" dirty="0"/>
              <a:t> ang nag-</a:t>
            </a:r>
            <a:r>
              <a:rPr lang="en-PH" sz="4000" dirty="0" err="1"/>
              <a:t>aayos</a:t>
            </a:r>
            <a:r>
              <a:rPr lang="en-PH" sz="4000" dirty="0"/>
              <a:t> ng </a:t>
            </a:r>
            <a:r>
              <a:rPr lang="en-PH" sz="4000" dirty="0" err="1"/>
              <a:t>ekonomiya</a:t>
            </a:r>
            <a:r>
              <a:rPr lang="en-PH" sz="4000" dirty="0"/>
              <a:t>, at ang </a:t>
            </a:r>
            <a:r>
              <a:rPr lang="en-PH" sz="4000" dirty="0" err="1"/>
              <a:t>estado</a:t>
            </a:r>
            <a:r>
              <a:rPr lang="en-PH" sz="4000" dirty="0"/>
              <a:t> ay may </a:t>
            </a:r>
            <a:r>
              <a:rPr lang="en-PH" sz="4000" dirty="0" err="1"/>
              <a:t>tungkuling</a:t>
            </a:r>
            <a:r>
              <a:rPr lang="en-PH" sz="4000" dirty="0"/>
              <a:t> </a:t>
            </a:r>
            <a:r>
              <a:rPr lang="en-PH" sz="4000" dirty="0" err="1"/>
              <a:t>panatilihin</a:t>
            </a:r>
            <a:r>
              <a:rPr lang="en-PH" sz="4000" dirty="0"/>
              <a:t> ang </a:t>
            </a:r>
            <a:r>
              <a:rPr lang="en-PH" sz="4000" dirty="0" err="1"/>
              <a:t>batas</a:t>
            </a:r>
            <a:r>
              <a:rPr lang="en-PH" sz="4000" dirty="0"/>
              <a:t> at </a:t>
            </a:r>
            <a:r>
              <a:rPr lang="en-PH" sz="4000" dirty="0" err="1"/>
              <a:t>kaayusan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Maimpluwensyang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Pilosopo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Politika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388990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000" b="1" dirty="0"/>
              <a:t>7. Thomas Hobbes</a:t>
            </a:r>
          </a:p>
          <a:p>
            <a:r>
              <a:rPr lang="en-PH" sz="4000" dirty="0"/>
              <a:t>Si Thomas Hobbes ang </a:t>
            </a:r>
            <a:r>
              <a:rPr lang="en-PH" sz="4000" dirty="0" err="1"/>
              <a:t>unang</a:t>
            </a:r>
            <a:r>
              <a:rPr lang="en-PH" sz="4000" dirty="0"/>
              <a:t> </a:t>
            </a:r>
            <a:r>
              <a:rPr lang="en-PH" sz="4000" dirty="0" err="1"/>
              <a:t>nagpaliwanag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ang </a:t>
            </a:r>
            <a:r>
              <a:rPr lang="en-PH" sz="4000" b="1" dirty="0" err="1"/>
              <a:t>kasunduan</a:t>
            </a:r>
            <a:r>
              <a:rPr lang="en-PH" sz="4000" b="1" dirty="0"/>
              <a:t> </a:t>
            </a:r>
            <a:r>
              <a:rPr lang="en-PH" sz="4000" b="1" dirty="0" err="1"/>
              <a:t>sa</a:t>
            </a:r>
            <a:r>
              <a:rPr lang="en-PH" sz="4000" b="1" dirty="0"/>
              <a:t> </a:t>
            </a:r>
            <a:r>
              <a:rPr lang="en-PH" sz="4000" b="1" dirty="0" err="1"/>
              <a:t>lipunan</a:t>
            </a:r>
            <a:r>
              <a:rPr lang="en-PH" sz="4000" b="1" dirty="0"/>
              <a:t> (social contract)</a:t>
            </a:r>
            <a:r>
              <a:rPr lang="en-PH" sz="4000" dirty="0"/>
              <a:t> ay </a:t>
            </a:r>
            <a:r>
              <a:rPr lang="en-PH" sz="4000" dirty="0" err="1"/>
              <a:t>dahilan</a:t>
            </a:r>
            <a:r>
              <a:rPr lang="en-PH" sz="4000" dirty="0"/>
              <a:t> kung </a:t>
            </a:r>
            <a:r>
              <a:rPr lang="en-PH" sz="4000" dirty="0" err="1"/>
              <a:t>bakit</a:t>
            </a:r>
            <a:r>
              <a:rPr lang="en-PH" sz="4000" dirty="0"/>
              <a:t> may </a:t>
            </a:r>
            <a:r>
              <a:rPr lang="en-PH" sz="4000" dirty="0" err="1"/>
              <a:t>kapangyarihan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namumuno</a:t>
            </a:r>
            <a:r>
              <a:rPr lang="en-PH" sz="4000" dirty="0"/>
              <a:t>. Ayon </a:t>
            </a:r>
            <a:r>
              <a:rPr lang="en-PH" sz="4000" dirty="0" err="1"/>
              <a:t>sa</a:t>
            </a:r>
            <a:r>
              <a:rPr lang="en-PH" sz="4000" dirty="0"/>
              <a:t> kanya, ang </a:t>
            </a:r>
            <a:r>
              <a:rPr lang="en-PH" sz="4000" dirty="0" err="1"/>
              <a:t>tao</a:t>
            </a:r>
            <a:r>
              <a:rPr lang="en-PH" sz="4000" dirty="0"/>
              <a:t> ay </a:t>
            </a:r>
            <a:r>
              <a:rPr lang="en-PH" sz="4000" dirty="0" err="1"/>
              <a:t>likas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makasarili</a:t>
            </a:r>
            <a:r>
              <a:rPr lang="en-PH" sz="4000" dirty="0"/>
              <a:t> at </a:t>
            </a:r>
            <a:r>
              <a:rPr lang="en-PH" sz="4000" dirty="0" err="1"/>
              <a:t>magulo</a:t>
            </a:r>
            <a:r>
              <a:rPr lang="en-PH" sz="4000" dirty="0"/>
              <a:t>, </a:t>
            </a:r>
            <a:r>
              <a:rPr lang="en-PH" sz="4000" dirty="0" err="1"/>
              <a:t>kaya't</a:t>
            </a:r>
            <a:r>
              <a:rPr lang="en-PH" sz="4000" dirty="0"/>
              <a:t> </a:t>
            </a: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magkaroon</a:t>
            </a:r>
            <a:r>
              <a:rPr lang="en-PH" sz="4000" dirty="0"/>
              <a:t> ng </a:t>
            </a:r>
            <a:r>
              <a:rPr lang="en-PH" sz="4000" dirty="0" err="1"/>
              <a:t>kaayusan</a:t>
            </a:r>
            <a:r>
              <a:rPr lang="en-PH" sz="4000" dirty="0"/>
              <a:t>, </a:t>
            </a:r>
            <a:r>
              <a:rPr lang="en-PH" sz="4000" dirty="0" err="1"/>
              <a:t>sila</a:t>
            </a:r>
            <a:r>
              <a:rPr lang="en-PH" sz="4000" dirty="0"/>
              <a:t> ay </a:t>
            </a:r>
            <a:r>
              <a:rPr lang="en-PH" sz="4000" dirty="0" err="1"/>
              <a:t>pumapayag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isuko</a:t>
            </a:r>
            <a:r>
              <a:rPr lang="en-PH" sz="4000" dirty="0"/>
              <a:t> ang </a:t>
            </a:r>
            <a:r>
              <a:rPr lang="en-PH" sz="4000" dirty="0" err="1"/>
              <a:t>ilang</a:t>
            </a:r>
            <a:r>
              <a:rPr lang="en-PH" sz="4000" dirty="0"/>
              <a:t> </a:t>
            </a:r>
            <a:r>
              <a:rPr lang="en-PH" sz="4000" dirty="0" err="1"/>
              <a:t>kalayaan</a:t>
            </a:r>
            <a:r>
              <a:rPr lang="en-PH" sz="4000" dirty="0"/>
              <a:t> </a:t>
            </a:r>
            <a:r>
              <a:rPr lang="en-PH" sz="4000" dirty="0" err="1"/>
              <a:t>kapalit</a:t>
            </a:r>
            <a:r>
              <a:rPr lang="en-PH" sz="4000" dirty="0"/>
              <a:t> ng </a:t>
            </a:r>
            <a:r>
              <a:rPr lang="en-PH" sz="4000" dirty="0" err="1"/>
              <a:t>seguridad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ilalim</a:t>
            </a:r>
            <a:r>
              <a:rPr lang="en-PH" sz="4000" dirty="0"/>
              <a:t> ng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malakas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pinuno</a:t>
            </a:r>
            <a:r>
              <a:rPr lang="en-PH" sz="4000" dirty="0"/>
              <a:t>. Ang </a:t>
            </a:r>
            <a:r>
              <a:rPr lang="en-PH" sz="4000" dirty="0" err="1"/>
              <a:t>pinunong</a:t>
            </a:r>
            <a:r>
              <a:rPr lang="en-PH" sz="4000" dirty="0"/>
              <a:t> </a:t>
            </a:r>
            <a:r>
              <a:rPr lang="en-PH" sz="4000" dirty="0" err="1"/>
              <a:t>ito</a:t>
            </a:r>
            <a:r>
              <a:rPr lang="en-PH" sz="4000" dirty="0"/>
              <a:t> ang may </a:t>
            </a:r>
            <a:r>
              <a:rPr lang="en-PH" sz="4000" b="1" dirty="0" err="1"/>
              <a:t>soberenya</a:t>
            </a:r>
            <a:r>
              <a:rPr lang="en-PH" sz="4000" b="1" dirty="0"/>
              <a:t> (sovereignty)</a:t>
            </a:r>
            <a:r>
              <a:rPr lang="en-PH" sz="4000" dirty="0"/>
              <a:t> o </a:t>
            </a:r>
            <a:r>
              <a:rPr lang="en-PH" sz="4000" dirty="0" err="1"/>
              <a:t>ganap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kapangyarihan</a:t>
            </a:r>
            <a:r>
              <a:rPr lang="en-PH" sz="4000" dirty="0"/>
              <a:t> para </a:t>
            </a:r>
            <a:r>
              <a:rPr lang="en-PH" sz="4000" dirty="0" err="1"/>
              <a:t>mapanatili</a:t>
            </a:r>
            <a:r>
              <a:rPr lang="en-PH" sz="4000" dirty="0"/>
              <a:t> ang </a:t>
            </a:r>
            <a:r>
              <a:rPr lang="en-PH" sz="4000" dirty="0" err="1"/>
              <a:t>kapayapaan</a:t>
            </a:r>
            <a:r>
              <a:rPr lang="en-PH" sz="4000" dirty="0"/>
              <a:t> at </a:t>
            </a:r>
            <a:r>
              <a:rPr lang="en-PH" sz="4000" dirty="0" err="1"/>
              <a:t>kaayusan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Maimpluwensyang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Pilosopo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Politika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907555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000" b="1" dirty="0"/>
              <a:t>8. Immanuel Kant</a:t>
            </a:r>
          </a:p>
          <a:p>
            <a:r>
              <a:rPr lang="en-PH" sz="4000" dirty="0"/>
              <a:t>Ayon kay Immanuel Kant, ang </a:t>
            </a:r>
            <a:r>
              <a:rPr lang="en-PH" sz="4000" b="1" dirty="0" err="1"/>
              <a:t>pakikilahok</a:t>
            </a:r>
            <a:r>
              <a:rPr lang="en-PH" sz="4000" b="1" dirty="0"/>
              <a:t> </a:t>
            </a:r>
            <a:r>
              <a:rPr lang="en-PH" sz="4000" b="1" dirty="0" err="1"/>
              <a:t>sa</a:t>
            </a:r>
            <a:r>
              <a:rPr lang="en-PH" sz="4000" b="1" dirty="0"/>
              <a:t> </a:t>
            </a:r>
            <a:r>
              <a:rPr lang="en-PH" sz="4000" b="1" dirty="0" err="1"/>
              <a:t>lipunan</a:t>
            </a:r>
            <a:r>
              <a:rPr lang="en-PH" sz="4000" dirty="0"/>
              <a:t> ay </a:t>
            </a:r>
            <a:r>
              <a:rPr lang="en-PH" sz="4000" dirty="0" err="1"/>
              <a:t>hindi</a:t>
            </a:r>
            <a:r>
              <a:rPr lang="en-PH" sz="4000" dirty="0"/>
              <a:t> para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sariling</a:t>
            </a:r>
            <a:r>
              <a:rPr lang="en-PH" sz="4000" dirty="0"/>
              <a:t> </a:t>
            </a:r>
            <a:r>
              <a:rPr lang="en-PH" sz="4000" dirty="0" err="1"/>
              <a:t>kapakanan</a:t>
            </a:r>
            <a:r>
              <a:rPr lang="en-PH" sz="4000" dirty="0"/>
              <a:t> </a:t>
            </a:r>
            <a:r>
              <a:rPr lang="en-PH" sz="4000" dirty="0" err="1"/>
              <a:t>kundi</a:t>
            </a:r>
            <a:r>
              <a:rPr lang="en-PH" sz="4000" dirty="0"/>
              <a:t>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ito</a:t>
            </a:r>
            <a:r>
              <a:rPr lang="en-PH" sz="4000" dirty="0"/>
              <a:t> ay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b="1" dirty="0"/>
              <a:t>moral </a:t>
            </a:r>
            <a:r>
              <a:rPr lang="en-PH" sz="4000" b="1" dirty="0" err="1"/>
              <a:t>na</a:t>
            </a:r>
            <a:r>
              <a:rPr lang="en-PH" sz="4000" b="1" dirty="0"/>
              <a:t> </a:t>
            </a:r>
            <a:r>
              <a:rPr lang="en-PH" sz="4000" b="1" dirty="0" err="1"/>
              <a:t>tungkulin</a:t>
            </a:r>
            <a:r>
              <a:rPr lang="en-PH" sz="4000" dirty="0"/>
              <a:t>. </a:t>
            </a:r>
            <a:r>
              <a:rPr lang="en-PH" sz="4000" dirty="0" err="1"/>
              <a:t>Naniniwala</a:t>
            </a:r>
            <a:r>
              <a:rPr lang="en-PH" sz="4000" dirty="0"/>
              <a:t> </a:t>
            </a:r>
            <a:r>
              <a:rPr lang="en-PH" sz="4000" dirty="0" err="1"/>
              <a:t>siya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ang </a:t>
            </a:r>
            <a:r>
              <a:rPr lang="en-PH" sz="4000" dirty="0" err="1"/>
              <a:t>tao</a:t>
            </a:r>
            <a:r>
              <a:rPr lang="en-PH" sz="4000" dirty="0"/>
              <a:t> ay may </a:t>
            </a:r>
            <a:r>
              <a:rPr lang="en-PH" sz="4000" dirty="0" err="1"/>
              <a:t>likas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moralidad</a:t>
            </a:r>
            <a:r>
              <a:rPr lang="en-PH" sz="4000" dirty="0"/>
              <a:t> at </a:t>
            </a:r>
            <a:r>
              <a:rPr lang="en-PH" sz="4000" dirty="0" err="1"/>
              <a:t>dapat</a:t>
            </a:r>
            <a:r>
              <a:rPr lang="en-PH" sz="4000" dirty="0"/>
              <a:t> </a:t>
            </a:r>
            <a:r>
              <a:rPr lang="en-PH" sz="4000" dirty="0" err="1"/>
              <a:t>kumilos</a:t>
            </a:r>
            <a:r>
              <a:rPr lang="en-PH" sz="4000" dirty="0"/>
              <a:t> para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kabutihan</a:t>
            </a:r>
            <a:r>
              <a:rPr lang="en-PH" sz="4000" dirty="0"/>
              <a:t> ng lahat. </a:t>
            </a:r>
            <a:r>
              <a:rPr lang="en-PH" sz="4000" dirty="0" err="1"/>
              <a:t>Dagdag</a:t>
            </a:r>
            <a:r>
              <a:rPr lang="en-PH" sz="4000" dirty="0"/>
              <a:t> pa </a:t>
            </a:r>
            <a:r>
              <a:rPr lang="en-PH" sz="4000" dirty="0" err="1"/>
              <a:t>rito</a:t>
            </a:r>
            <a:r>
              <a:rPr lang="en-PH" sz="4000" dirty="0"/>
              <a:t>, </a:t>
            </a:r>
            <a:r>
              <a:rPr lang="en-PH" sz="4000" dirty="0" err="1"/>
              <a:t>sinabi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makamit</a:t>
            </a:r>
            <a:r>
              <a:rPr lang="en-PH" sz="4000" dirty="0"/>
              <a:t> ang </a:t>
            </a:r>
            <a:r>
              <a:rPr lang="en-PH" sz="4000" b="1" dirty="0" err="1"/>
              <a:t>kapayapaan</a:t>
            </a:r>
            <a:r>
              <a:rPr lang="en-PH" sz="4000" b="1" dirty="0"/>
              <a:t> ng </a:t>
            </a:r>
            <a:r>
              <a:rPr lang="en-PH" sz="4000" b="1" dirty="0" err="1"/>
              <a:t>mundo</a:t>
            </a:r>
            <a:r>
              <a:rPr lang="en-PH" sz="4000" dirty="0"/>
              <a:t>, </a:t>
            </a:r>
            <a:r>
              <a:rPr lang="en-PH" sz="4000" dirty="0" err="1"/>
              <a:t>kailangang</a:t>
            </a:r>
            <a:r>
              <a:rPr lang="en-PH" sz="4000" dirty="0"/>
              <a:t> </a:t>
            </a:r>
            <a:r>
              <a:rPr lang="en-PH" sz="4000" dirty="0" err="1"/>
              <a:t>magkaroon</a:t>
            </a:r>
            <a:r>
              <a:rPr lang="en-PH" sz="4000" dirty="0"/>
              <a:t> ng </a:t>
            </a:r>
            <a:r>
              <a:rPr lang="en-PH" sz="4000" b="1" dirty="0" err="1"/>
              <a:t>internasyunal</a:t>
            </a:r>
            <a:r>
              <a:rPr lang="en-PH" sz="4000" b="1" dirty="0"/>
              <a:t> </a:t>
            </a:r>
            <a:r>
              <a:rPr lang="en-PH" sz="4000" b="1" dirty="0" err="1"/>
              <a:t>na</a:t>
            </a:r>
            <a:r>
              <a:rPr lang="en-PH" sz="4000" b="1" dirty="0"/>
              <a:t> </a:t>
            </a:r>
            <a:r>
              <a:rPr lang="en-PH" sz="4000" b="1" dirty="0" err="1"/>
              <a:t>samahan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magtataguyod</a:t>
            </a:r>
            <a:r>
              <a:rPr lang="en-PH" sz="4000" dirty="0"/>
              <a:t> ng </a:t>
            </a:r>
            <a:r>
              <a:rPr lang="en-PH" sz="4000" dirty="0" err="1"/>
              <a:t>kooperasyon</a:t>
            </a:r>
            <a:r>
              <a:rPr lang="en-PH" sz="4000" dirty="0"/>
              <a:t> at </a:t>
            </a:r>
            <a:r>
              <a:rPr lang="en-PH" sz="4000" dirty="0" err="1"/>
              <a:t>pagkakapantay-pantay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bansa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Maimpluwensyang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Pilosopo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Politika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850550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000" dirty="0"/>
              <a:t>9. John Locke</a:t>
            </a:r>
          </a:p>
          <a:p>
            <a:r>
              <a:rPr lang="en-PH" sz="4000" dirty="0" err="1"/>
              <a:t>Katulad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Hobbes, </a:t>
            </a:r>
            <a:r>
              <a:rPr lang="en-PH" sz="4000" dirty="0" err="1"/>
              <a:t>sinabi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John Locke </a:t>
            </a:r>
            <a:r>
              <a:rPr lang="en-PH" sz="4000" dirty="0" err="1"/>
              <a:t>na</a:t>
            </a:r>
            <a:r>
              <a:rPr lang="en-PH" sz="4000" dirty="0"/>
              <a:t> ang </a:t>
            </a:r>
            <a:r>
              <a:rPr lang="en-PH" sz="4000" dirty="0" err="1"/>
              <a:t>kasunduan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lipunan</a:t>
            </a:r>
            <a:r>
              <a:rPr lang="en-PH" sz="4000" dirty="0"/>
              <a:t> (social contract) ay </a:t>
            </a:r>
            <a:r>
              <a:rPr lang="en-PH" sz="4000" dirty="0" err="1"/>
              <a:t>batay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pundamental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karapatan</a:t>
            </a:r>
            <a:r>
              <a:rPr lang="en-PH" sz="4000" dirty="0"/>
              <a:t> ng </a:t>
            </a:r>
            <a:r>
              <a:rPr lang="en-PH" sz="4000" dirty="0" err="1"/>
              <a:t>tao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estado</a:t>
            </a:r>
            <a:r>
              <a:rPr lang="en-PH" sz="4000" dirty="0"/>
              <a:t> ng </a:t>
            </a:r>
            <a:r>
              <a:rPr lang="en-PH" sz="4000" dirty="0" err="1"/>
              <a:t>kalikasan</a:t>
            </a:r>
            <a:r>
              <a:rPr lang="en-PH" sz="4000" dirty="0"/>
              <a:t>. </a:t>
            </a:r>
            <a:r>
              <a:rPr lang="en-PH" sz="4000" dirty="0" err="1"/>
              <a:t>Ngunit</a:t>
            </a:r>
            <a:r>
              <a:rPr lang="en-PH" sz="4000" dirty="0"/>
              <a:t> </a:t>
            </a:r>
            <a:r>
              <a:rPr lang="en-PH" sz="4000" dirty="0" err="1"/>
              <a:t>hindi</a:t>
            </a:r>
            <a:r>
              <a:rPr lang="en-PH" sz="4000" dirty="0"/>
              <a:t> </a:t>
            </a:r>
            <a:r>
              <a:rPr lang="en-PH" sz="4000" dirty="0" err="1"/>
              <a:t>tulad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Hobbes, </a:t>
            </a:r>
            <a:r>
              <a:rPr lang="en-PH" sz="4000" dirty="0" err="1"/>
              <a:t>sinabi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Locke </a:t>
            </a:r>
            <a:r>
              <a:rPr lang="en-PH" sz="4000" dirty="0" err="1"/>
              <a:t>na</a:t>
            </a:r>
            <a:r>
              <a:rPr lang="en-PH" sz="4000" dirty="0"/>
              <a:t> ang </a:t>
            </a:r>
            <a:r>
              <a:rPr lang="en-PH" sz="4000" dirty="0" err="1"/>
              <a:t>pamahalaan</a:t>
            </a:r>
            <a:r>
              <a:rPr lang="en-PH" sz="4000" dirty="0"/>
              <a:t> ay may </a:t>
            </a:r>
            <a:r>
              <a:rPr lang="en-PH" sz="4000" dirty="0" err="1"/>
              <a:t>limitadong</a:t>
            </a:r>
            <a:r>
              <a:rPr lang="en-PH" sz="4000" dirty="0"/>
              <a:t> </a:t>
            </a:r>
            <a:r>
              <a:rPr lang="en-PH" sz="4000" dirty="0" err="1"/>
              <a:t>kapangyarihan</a:t>
            </a:r>
            <a:r>
              <a:rPr lang="en-PH" sz="4000" dirty="0"/>
              <a:t>—ang </a:t>
            </a:r>
            <a:r>
              <a:rPr lang="en-PH" sz="4000" dirty="0" err="1"/>
              <a:t>tungkulin</a:t>
            </a:r>
            <a:r>
              <a:rPr lang="en-PH" sz="4000" dirty="0"/>
              <a:t> </a:t>
            </a:r>
            <a:r>
              <a:rPr lang="en-PH" sz="4000" dirty="0" err="1"/>
              <a:t>nito</a:t>
            </a:r>
            <a:r>
              <a:rPr lang="en-PH" sz="4000" dirty="0"/>
              <a:t> ay </a:t>
            </a:r>
            <a:r>
              <a:rPr lang="en-PH" sz="4000" dirty="0" err="1"/>
              <a:t>protektahan</a:t>
            </a:r>
            <a:r>
              <a:rPr lang="en-PH" sz="4000" dirty="0"/>
              <a:t> ang </a:t>
            </a:r>
            <a:r>
              <a:rPr lang="en-PH" sz="4000" dirty="0" err="1"/>
              <a:t>buhay</a:t>
            </a:r>
            <a:r>
              <a:rPr lang="en-PH" sz="4000" dirty="0"/>
              <a:t>, </a:t>
            </a:r>
            <a:r>
              <a:rPr lang="en-PH" sz="4000" dirty="0" err="1"/>
              <a:t>kalayaan</a:t>
            </a:r>
            <a:r>
              <a:rPr lang="en-PH" sz="4000" dirty="0"/>
              <a:t>, at </a:t>
            </a:r>
            <a:r>
              <a:rPr lang="en-PH" sz="4000" dirty="0" err="1"/>
              <a:t>ari-arian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mamamayan</a:t>
            </a:r>
            <a:r>
              <a:rPr lang="en-PH" sz="4000" dirty="0"/>
              <a:t>. Kung </a:t>
            </a:r>
            <a:r>
              <a:rPr lang="en-PH" sz="4000" dirty="0" err="1"/>
              <a:t>hindi</a:t>
            </a:r>
            <a:r>
              <a:rPr lang="en-PH" sz="4000" dirty="0"/>
              <a:t> </a:t>
            </a:r>
            <a:r>
              <a:rPr lang="en-PH" sz="4000" dirty="0" err="1"/>
              <a:t>nito</a:t>
            </a:r>
            <a:r>
              <a:rPr lang="en-PH" sz="4000" dirty="0"/>
              <a:t> </a:t>
            </a:r>
            <a:r>
              <a:rPr lang="en-PH" sz="4000" dirty="0" err="1"/>
              <a:t>magampanan</a:t>
            </a:r>
            <a:r>
              <a:rPr lang="en-PH" sz="4000" dirty="0"/>
              <a:t> ang </a:t>
            </a:r>
            <a:r>
              <a:rPr lang="en-PH" sz="4000" dirty="0" err="1"/>
              <a:t>tungkuling</a:t>
            </a:r>
            <a:r>
              <a:rPr lang="en-PH" sz="4000" dirty="0"/>
              <a:t> </a:t>
            </a:r>
            <a:r>
              <a:rPr lang="en-PH" sz="4000" dirty="0" err="1"/>
              <a:t>ito</a:t>
            </a:r>
            <a:r>
              <a:rPr lang="en-PH" sz="4000" dirty="0"/>
              <a:t>, may </a:t>
            </a:r>
            <a:r>
              <a:rPr lang="en-PH" sz="4000" dirty="0" err="1"/>
              <a:t>karapatan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tao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magrebelde</a:t>
            </a:r>
            <a:r>
              <a:rPr lang="en-PH" sz="4000" dirty="0"/>
              <a:t> at </a:t>
            </a:r>
            <a:r>
              <a:rPr lang="en-PH" sz="4000" dirty="0" err="1"/>
              <a:t>palitan</a:t>
            </a:r>
            <a:r>
              <a:rPr lang="en-PH" sz="4000" dirty="0"/>
              <a:t> ang </a:t>
            </a:r>
            <a:r>
              <a:rPr lang="en-PH" sz="4000" dirty="0" err="1"/>
              <a:t>gobyerno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Maimpluwensyang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Pilosopo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Politika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411806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000" dirty="0"/>
              <a:t>10. James Madison</a:t>
            </a:r>
          </a:p>
          <a:p>
            <a:r>
              <a:rPr lang="en-PH" sz="4000" dirty="0"/>
              <a:t>Si James Madison ay </a:t>
            </a:r>
            <a:r>
              <a:rPr lang="en-PH" sz="4000" dirty="0" err="1"/>
              <a:t>kilala</a:t>
            </a:r>
            <a:r>
              <a:rPr lang="en-PH" sz="4000" dirty="0"/>
              <a:t> </a:t>
            </a:r>
            <a:r>
              <a:rPr lang="en-PH" sz="4000" dirty="0" err="1"/>
              <a:t>bilang</a:t>
            </a:r>
            <a:r>
              <a:rPr lang="en-PH" sz="4000" dirty="0"/>
              <a:t> "Ama ng </a:t>
            </a:r>
            <a:r>
              <a:rPr lang="en-PH" sz="4000" dirty="0" err="1"/>
              <a:t>Saligang</a:t>
            </a:r>
            <a:r>
              <a:rPr lang="en-PH" sz="4000" dirty="0"/>
              <a:t> Batas" at "Ama ng Bill of Rights"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Estados</a:t>
            </a:r>
            <a:r>
              <a:rPr lang="en-PH" sz="4000" dirty="0"/>
              <a:t> Unidos. </a:t>
            </a:r>
            <a:r>
              <a:rPr lang="en-PH" sz="4000" dirty="0" err="1"/>
              <a:t>Naniniwala</a:t>
            </a:r>
            <a:r>
              <a:rPr lang="en-PH" sz="4000" dirty="0"/>
              <a:t> </a:t>
            </a:r>
            <a:r>
              <a:rPr lang="en-PH" sz="4000" dirty="0" err="1"/>
              <a:t>siya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paghihiwalay</a:t>
            </a:r>
            <a:r>
              <a:rPr lang="en-PH" sz="4000" dirty="0"/>
              <a:t> ng </a:t>
            </a:r>
            <a:r>
              <a:rPr lang="en-PH" sz="4000" dirty="0" err="1"/>
              <a:t>kapangyarihan</a:t>
            </a:r>
            <a:r>
              <a:rPr lang="en-PH" sz="4000" dirty="0"/>
              <a:t> (separation of powers)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tatlong</a:t>
            </a:r>
            <a:r>
              <a:rPr lang="en-PH" sz="4000" dirty="0"/>
              <a:t> </a:t>
            </a:r>
            <a:r>
              <a:rPr lang="en-PH" sz="4000" dirty="0" err="1"/>
              <a:t>sangay</a:t>
            </a:r>
            <a:r>
              <a:rPr lang="en-PH" sz="4000" dirty="0"/>
              <a:t> ng </a:t>
            </a:r>
            <a:r>
              <a:rPr lang="en-PH" sz="4000" dirty="0" err="1"/>
              <a:t>pamahalaan</a:t>
            </a:r>
            <a:r>
              <a:rPr lang="en-PH" sz="4000" dirty="0"/>
              <a:t>—</a:t>
            </a:r>
            <a:r>
              <a:rPr lang="en-PH" sz="4000" dirty="0" err="1"/>
              <a:t>tagapagbatas</a:t>
            </a:r>
            <a:r>
              <a:rPr lang="en-PH" sz="4000" dirty="0"/>
              <a:t>, </a:t>
            </a:r>
            <a:r>
              <a:rPr lang="en-PH" sz="4000" dirty="0" err="1"/>
              <a:t>tagapagpatupad</a:t>
            </a:r>
            <a:r>
              <a:rPr lang="en-PH" sz="4000" dirty="0"/>
              <a:t>, at </a:t>
            </a:r>
            <a:r>
              <a:rPr lang="en-PH" sz="4000" dirty="0" err="1"/>
              <a:t>tagapaghukom</a:t>
            </a:r>
            <a:r>
              <a:rPr lang="en-PH" sz="4000" dirty="0"/>
              <a:t>—</a:t>
            </a: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maiwasan</a:t>
            </a:r>
            <a:r>
              <a:rPr lang="en-PH" sz="4000" dirty="0"/>
              <a:t> ang pang-</a:t>
            </a:r>
            <a:r>
              <a:rPr lang="en-PH" sz="4000" dirty="0" err="1"/>
              <a:t>aabuso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kapangyarihan</a:t>
            </a:r>
            <a:r>
              <a:rPr lang="en-PH" sz="4000" dirty="0"/>
              <a:t>. </a:t>
            </a:r>
            <a:r>
              <a:rPr lang="en-PH" sz="4000" dirty="0" err="1"/>
              <a:t>Nagmungkahi</a:t>
            </a:r>
            <a:r>
              <a:rPr lang="en-PH" sz="4000" dirty="0"/>
              <a:t> </a:t>
            </a:r>
            <a:r>
              <a:rPr lang="en-PH" sz="4000" dirty="0" err="1"/>
              <a:t>rin</a:t>
            </a:r>
            <a:r>
              <a:rPr lang="en-PH" sz="4000" dirty="0"/>
              <a:t> </a:t>
            </a:r>
            <a:r>
              <a:rPr lang="en-PH" sz="4000" dirty="0" err="1"/>
              <a:t>siya</a:t>
            </a:r>
            <a:r>
              <a:rPr lang="en-PH" sz="4000" dirty="0"/>
              <a:t> ng checks and balances </a:t>
            </a: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protektahan</a:t>
            </a:r>
            <a:r>
              <a:rPr lang="en-PH" sz="4000" dirty="0"/>
              <a:t> ang </a:t>
            </a:r>
            <a:r>
              <a:rPr lang="en-PH" sz="4000" dirty="0" err="1"/>
              <a:t>karapatan</a:t>
            </a:r>
            <a:r>
              <a:rPr lang="en-PH" sz="4000" dirty="0"/>
              <a:t> ng </a:t>
            </a:r>
            <a:r>
              <a:rPr lang="en-PH" sz="4000" dirty="0" err="1"/>
              <a:t>indibidwal</a:t>
            </a:r>
            <a:r>
              <a:rPr lang="en-PH" sz="4000" dirty="0"/>
              <a:t> </a:t>
            </a:r>
            <a:r>
              <a:rPr lang="en-PH" sz="4000" dirty="0" err="1"/>
              <a:t>laban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tiranya</a:t>
            </a:r>
            <a:r>
              <a:rPr lang="en-PH" sz="4000" dirty="0"/>
              <a:t> ng </a:t>
            </a:r>
            <a:r>
              <a:rPr lang="en-PH" sz="4000" dirty="0" err="1"/>
              <a:t>nakararami</a:t>
            </a:r>
            <a:r>
              <a:rPr lang="en-PH" sz="4000" dirty="0"/>
              <a:t> o ang </a:t>
            </a:r>
            <a:r>
              <a:rPr lang="en-PH" sz="4000" dirty="0" err="1"/>
              <a:t>pagsasamantala</a:t>
            </a:r>
            <a:r>
              <a:rPr lang="en-PH" sz="4000" dirty="0"/>
              <a:t> ng mas </a:t>
            </a:r>
            <a:r>
              <a:rPr lang="en-PH" sz="4000" dirty="0" err="1"/>
              <a:t>malalaking</a:t>
            </a:r>
            <a:r>
              <a:rPr lang="en-PH" sz="4000" dirty="0"/>
              <a:t> </a:t>
            </a:r>
            <a:r>
              <a:rPr lang="en-PH" sz="4000" dirty="0" err="1"/>
              <a:t>grupo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minorya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Maimpluwensyang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Pilosopo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Politika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436716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000" dirty="0"/>
              <a:t>11. Karl Marx</a:t>
            </a:r>
          </a:p>
          <a:p>
            <a:r>
              <a:rPr lang="en-PH" sz="4000" dirty="0"/>
              <a:t>Si Karl Marx ay </a:t>
            </a:r>
            <a:r>
              <a:rPr lang="en-PH" sz="4000" dirty="0" err="1"/>
              <a:t>nagbigay-diin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kasaysayan</a:t>
            </a:r>
            <a:r>
              <a:rPr lang="en-PH" sz="4000" dirty="0"/>
              <a:t> </a:t>
            </a:r>
            <a:r>
              <a:rPr lang="en-PH" sz="4000" dirty="0" err="1"/>
              <a:t>bilang</a:t>
            </a:r>
            <a:r>
              <a:rPr lang="en-PH" sz="4000" dirty="0"/>
              <a:t> </a:t>
            </a:r>
            <a:r>
              <a:rPr lang="en-PH" sz="4000" dirty="0" err="1"/>
              <a:t>susi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pag-unawa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lipunan</a:t>
            </a:r>
            <a:r>
              <a:rPr lang="en-PH" sz="4000" dirty="0"/>
              <a:t>, </a:t>
            </a:r>
            <a:r>
              <a:rPr lang="en-PH" sz="4000" dirty="0" err="1"/>
              <a:t>kultura</a:t>
            </a:r>
            <a:r>
              <a:rPr lang="en-PH" sz="4000" dirty="0"/>
              <a:t>, at </a:t>
            </a:r>
            <a:r>
              <a:rPr lang="en-PH" sz="4000" dirty="0" err="1"/>
              <a:t>ekonomiya</a:t>
            </a:r>
            <a:r>
              <a:rPr lang="en-PH" sz="4000" dirty="0"/>
              <a:t>. Ayon </a:t>
            </a:r>
            <a:r>
              <a:rPr lang="en-PH" sz="4000" dirty="0" err="1"/>
              <a:t>sa</a:t>
            </a:r>
            <a:r>
              <a:rPr lang="en-PH" sz="4000" dirty="0"/>
              <a:t> kanya,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paniniwala</a:t>
            </a:r>
            <a:r>
              <a:rPr lang="en-PH" sz="4000" dirty="0"/>
              <a:t> at </a:t>
            </a:r>
            <a:r>
              <a:rPr lang="en-PH" sz="4000" dirty="0" err="1"/>
              <a:t>ideolohiya</a:t>
            </a:r>
            <a:r>
              <a:rPr lang="en-PH" sz="4000" dirty="0"/>
              <a:t> ang </a:t>
            </a:r>
            <a:r>
              <a:rPr lang="en-PH" sz="4000" dirty="0" err="1"/>
              <a:t>humuhubog</a:t>
            </a:r>
            <a:r>
              <a:rPr lang="en-PH" sz="4000" dirty="0"/>
              <a:t> at </a:t>
            </a:r>
            <a:r>
              <a:rPr lang="en-PH" sz="4000" dirty="0" err="1"/>
              <a:t>kumokontrol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kilos ng </a:t>
            </a:r>
            <a:r>
              <a:rPr lang="en-PH" sz="4000" dirty="0" err="1"/>
              <a:t>lipunan</a:t>
            </a:r>
            <a:r>
              <a:rPr lang="en-PH" sz="4000" dirty="0"/>
              <a:t>. </a:t>
            </a:r>
            <a:r>
              <a:rPr lang="en-PH" sz="4000" dirty="0" err="1"/>
              <a:t>Sinuri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</a:t>
            </a:r>
            <a:r>
              <a:rPr lang="en-PH" sz="4000" dirty="0" err="1"/>
              <a:t>labanan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uri</a:t>
            </a:r>
            <a:r>
              <a:rPr lang="en-PH" sz="4000" dirty="0"/>
              <a:t> (class struggle)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pagitan</a:t>
            </a:r>
            <a:r>
              <a:rPr lang="en-PH" sz="4000" dirty="0"/>
              <a:t> ng </a:t>
            </a:r>
            <a:r>
              <a:rPr lang="en-PH" sz="4000" dirty="0" err="1"/>
              <a:t>mayayaman</a:t>
            </a:r>
            <a:r>
              <a:rPr lang="en-PH" sz="4000" dirty="0"/>
              <a:t> (bourgeoisie) at </a:t>
            </a:r>
            <a:r>
              <a:rPr lang="en-PH" sz="4000" dirty="0" err="1"/>
              <a:t>manggagawa</a:t>
            </a:r>
            <a:r>
              <a:rPr lang="en-PH" sz="4000" dirty="0"/>
              <a:t> (proletariat) </a:t>
            </a:r>
            <a:r>
              <a:rPr lang="en-PH" sz="4000" dirty="0" err="1"/>
              <a:t>bilang</a:t>
            </a:r>
            <a:r>
              <a:rPr lang="en-PH" sz="4000" dirty="0"/>
              <a:t> </a:t>
            </a:r>
            <a:r>
              <a:rPr lang="en-PH" sz="4000" dirty="0" err="1"/>
              <a:t>ugat</a:t>
            </a:r>
            <a:r>
              <a:rPr lang="en-PH" sz="4000" dirty="0"/>
              <a:t> ng </a:t>
            </a:r>
            <a:r>
              <a:rPr lang="en-PH" sz="4000" dirty="0" err="1"/>
              <a:t>hindi</a:t>
            </a:r>
            <a:r>
              <a:rPr lang="en-PH" sz="4000" dirty="0"/>
              <a:t> </a:t>
            </a:r>
            <a:r>
              <a:rPr lang="en-PH" sz="4000" dirty="0" err="1"/>
              <a:t>pagkakapantay-pantay</a:t>
            </a:r>
            <a:r>
              <a:rPr lang="en-PH" sz="4000" dirty="0"/>
              <a:t>. </a:t>
            </a:r>
            <a:r>
              <a:rPr lang="en-PH" sz="4000" dirty="0" err="1"/>
              <a:t>Naimpluwensyahan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</a:t>
            </a:r>
            <a:r>
              <a:rPr lang="en-PH" sz="4000" dirty="0" err="1"/>
              <a:t>politika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pamamagitan</a:t>
            </a:r>
            <a:r>
              <a:rPr lang="en-PH" sz="4000" dirty="0"/>
              <a:t> ng </a:t>
            </a:r>
            <a:r>
              <a:rPr lang="en-PH" sz="4000" dirty="0" err="1"/>
              <a:t>kanyang</a:t>
            </a:r>
            <a:r>
              <a:rPr lang="en-PH" sz="4000" dirty="0"/>
              <a:t> </a:t>
            </a:r>
            <a:r>
              <a:rPr lang="en-PH" sz="4000" dirty="0" err="1"/>
              <a:t>teorya</a:t>
            </a:r>
            <a:r>
              <a:rPr lang="en-PH" sz="4000" dirty="0"/>
              <a:t> ng </a:t>
            </a:r>
            <a:r>
              <a:rPr lang="en-PH" sz="4000" dirty="0" err="1"/>
              <a:t>komunismo</a:t>
            </a:r>
            <a:r>
              <a:rPr lang="en-PH" sz="4000" dirty="0"/>
              <a:t>,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naglalayong</a:t>
            </a:r>
            <a:r>
              <a:rPr lang="en-PH" sz="4000" dirty="0"/>
              <a:t> </a:t>
            </a:r>
            <a:r>
              <a:rPr lang="en-PH" sz="4000" dirty="0" err="1"/>
              <a:t>magkaroon</a:t>
            </a:r>
            <a:r>
              <a:rPr lang="en-PH" sz="4000" dirty="0"/>
              <a:t> ng </a:t>
            </a:r>
            <a:r>
              <a:rPr lang="en-PH" sz="4000" dirty="0" err="1"/>
              <a:t>lipunang</a:t>
            </a:r>
            <a:r>
              <a:rPr lang="en-PH" sz="4000" dirty="0"/>
              <a:t> </a:t>
            </a:r>
            <a:r>
              <a:rPr lang="en-PH" sz="4000" dirty="0" err="1"/>
              <a:t>walang</a:t>
            </a:r>
            <a:r>
              <a:rPr lang="en-PH" sz="4000" dirty="0"/>
              <a:t> </a:t>
            </a:r>
            <a:r>
              <a:rPr lang="en-PH" sz="4000" dirty="0" err="1"/>
              <a:t>pag-aari</a:t>
            </a:r>
            <a:r>
              <a:rPr lang="en-PH" sz="4000" dirty="0"/>
              <a:t> at </a:t>
            </a:r>
            <a:r>
              <a:rPr lang="en-PH" sz="4000" dirty="0" err="1"/>
              <a:t>pantay-pantay</a:t>
            </a:r>
            <a:r>
              <a:rPr lang="en-PH" sz="4000" dirty="0"/>
              <a:t> ang lahat.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Maimpluwensyang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Pilosopo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Politika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320516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000" dirty="0"/>
              <a:t>12. Plato</a:t>
            </a:r>
          </a:p>
          <a:p>
            <a:r>
              <a:rPr lang="en-PH" sz="4000" dirty="0"/>
              <a:t>Si Plato ay </a:t>
            </a:r>
            <a:r>
              <a:rPr lang="en-PH" sz="4000" dirty="0" err="1"/>
              <a:t>sumulat</a:t>
            </a:r>
            <a:r>
              <a:rPr lang="en-PH" sz="4000" dirty="0"/>
              <a:t> ng "The Republic," kung </a:t>
            </a:r>
            <a:r>
              <a:rPr lang="en-PH" sz="4000" dirty="0" err="1"/>
              <a:t>saan</a:t>
            </a:r>
            <a:r>
              <a:rPr lang="en-PH" sz="4000" dirty="0"/>
              <a:t> </a:t>
            </a:r>
            <a:r>
              <a:rPr lang="en-PH" sz="4000" dirty="0" err="1"/>
              <a:t>inilahad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</a:t>
            </a:r>
            <a:r>
              <a:rPr lang="en-PH" sz="4000" dirty="0" err="1"/>
              <a:t>kanyang</a:t>
            </a:r>
            <a:r>
              <a:rPr lang="en-PH" sz="4000" dirty="0"/>
              <a:t> </a:t>
            </a:r>
            <a:r>
              <a:rPr lang="en-PH" sz="4000" dirty="0" err="1"/>
              <a:t>pilosopiya</a:t>
            </a:r>
            <a:r>
              <a:rPr lang="en-PH" sz="4000" dirty="0"/>
              <a:t> ng </a:t>
            </a:r>
            <a:r>
              <a:rPr lang="en-PH" sz="4000" dirty="0" err="1"/>
              <a:t>politika</a:t>
            </a:r>
            <a:r>
              <a:rPr lang="en-PH" sz="4000" dirty="0"/>
              <a:t>. </a:t>
            </a:r>
            <a:r>
              <a:rPr lang="en-PH" sz="4000" dirty="0" err="1"/>
              <a:t>Inilarawan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ideal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estado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pinamumunuan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pilosopong</a:t>
            </a:r>
            <a:r>
              <a:rPr lang="en-PH" sz="4000" dirty="0"/>
              <a:t> </a:t>
            </a:r>
            <a:r>
              <a:rPr lang="en-PH" sz="4000" dirty="0" err="1"/>
              <a:t>hari</a:t>
            </a:r>
            <a:r>
              <a:rPr lang="en-PH" sz="4000" dirty="0"/>
              <a:t> (philosopher-kings), </a:t>
            </a:r>
            <a:r>
              <a:rPr lang="en-PH" sz="4000" dirty="0" err="1"/>
              <a:t>na</a:t>
            </a:r>
            <a:r>
              <a:rPr lang="en-PH" sz="4000" dirty="0"/>
              <a:t> may </a:t>
            </a:r>
            <a:r>
              <a:rPr lang="en-PH" sz="4000" dirty="0" err="1"/>
              <a:t>karunungan</a:t>
            </a:r>
            <a:r>
              <a:rPr lang="en-PH" sz="4000" dirty="0"/>
              <a:t> at </a:t>
            </a:r>
            <a:r>
              <a:rPr lang="en-PH" sz="4000" dirty="0" err="1"/>
              <a:t>katarungan</a:t>
            </a:r>
            <a:r>
              <a:rPr lang="en-PH" sz="4000" dirty="0"/>
              <a:t>. Ayon </a:t>
            </a:r>
            <a:r>
              <a:rPr lang="en-PH" sz="4000" dirty="0" err="1"/>
              <a:t>sa</a:t>
            </a:r>
            <a:r>
              <a:rPr lang="en-PH" sz="4000" dirty="0"/>
              <a:t> kanya, ang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lipunan</a:t>
            </a:r>
            <a:r>
              <a:rPr lang="en-PH" sz="4000" dirty="0"/>
              <a:t> ay </a:t>
            </a:r>
            <a:r>
              <a:rPr lang="en-PH" sz="4000" dirty="0" err="1"/>
              <a:t>magiging</a:t>
            </a:r>
            <a:r>
              <a:rPr lang="en-PH" sz="4000" dirty="0"/>
              <a:t> </a:t>
            </a:r>
            <a:r>
              <a:rPr lang="en-PH" sz="4000" dirty="0" err="1"/>
              <a:t>makatarungan</a:t>
            </a:r>
            <a:r>
              <a:rPr lang="en-PH" sz="4000" dirty="0"/>
              <a:t> kung ang </a:t>
            </a:r>
            <a:r>
              <a:rPr lang="en-PH" sz="4000" dirty="0" err="1"/>
              <a:t>bawat</a:t>
            </a:r>
            <a:r>
              <a:rPr lang="en-PH" sz="4000" dirty="0"/>
              <a:t> </a:t>
            </a:r>
            <a:r>
              <a:rPr lang="en-PH" sz="4000" dirty="0" err="1"/>
              <a:t>tao</a:t>
            </a:r>
            <a:r>
              <a:rPr lang="en-PH" sz="4000" dirty="0"/>
              <a:t> ay </a:t>
            </a:r>
            <a:r>
              <a:rPr lang="en-PH" sz="4000" dirty="0" err="1"/>
              <a:t>gagampan</a:t>
            </a:r>
            <a:r>
              <a:rPr lang="en-PH" sz="4000" dirty="0"/>
              <a:t> ng </a:t>
            </a:r>
            <a:r>
              <a:rPr lang="en-PH" sz="4000" dirty="0" err="1"/>
              <a:t>kanilang</a:t>
            </a:r>
            <a:r>
              <a:rPr lang="en-PH" sz="4000" dirty="0"/>
              <a:t> </a:t>
            </a:r>
            <a:r>
              <a:rPr lang="en-PH" sz="4000" dirty="0" err="1"/>
              <a:t>tamang</a:t>
            </a:r>
            <a:r>
              <a:rPr lang="en-PH" sz="4000" dirty="0"/>
              <a:t> </a:t>
            </a:r>
            <a:r>
              <a:rPr lang="en-PH" sz="4000" dirty="0" err="1"/>
              <a:t>tungkulin</a:t>
            </a:r>
            <a:r>
              <a:rPr lang="en-PH" sz="4000" dirty="0"/>
              <a:t> </a:t>
            </a:r>
            <a:r>
              <a:rPr lang="en-PH" sz="4000" dirty="0" err="1"/>
              <a:t>batay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kanilang</a:t>
            </a:r>
            <a:r>
              <a:rPr lang="en-PH" sz="4000" dirty="0"/>
              <a:t> </a:t>
            </a:r>
            <a:r>
              <a:rPr lang="en-PH" sz="4000" dirty="0" err="1"/>
              <a:t>kakayahan</a:t>
            </a:r>
            <a:r>
              <a:rPr lang="en-PH" sz="4000" dirty="0"/>
              <a:t> at </a:t>
            </a:r>
            <a:r>
              <a:rPr lang="en-PH" sz="4000" dirty="0" err="1"/>
              <a:t>talento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Maimpluwensyang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Pilosopo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Politika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629183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000" dirty="0"/>
              <a:t>13. Adam Smith</a:t>
            </a:r>
          </a:p>
          <a:p>
            <a:r>
              <a:rPr lang="en-PH" sz="4000" dirty="0"/>
              <a:t>Si Adam Smith ang </a:t>
            </a:r>
            <a:r>
              <a:rPr lang="en-PH" sz="4000" dirty="0" err="1"/>
              <a:t>kinikilalang</a:t>
            </a:r>
            <a:r>
              <a:rPr lang="en-PH" sz="4000" dirty="0"/>
              <a:t> </a:t>
            </a:r>
            <a:r>
              <a:rPr lang="en-PH" sz="4000" dirty="0" err="1"/>
              <a:t>nagtatag</a:t>
            </a:r>
            <a:r>
              <a:rPr lang="en-PH" sz="4000" dirty="0"/>
              <a:t> ng </a:t>
            </a:r>
            <a:r>
              <a:rPr lang="en-PH" sz="4000" dirty="0" err="1"/>
              <a:t>makabagong</a:t>
            </a:r>
            <a:r>
              <a:rPr lang="en-PH" sz="4000" dirty="0"/>
              <a:t> </a:t>
            </a:r>
            <a:r>
              <a:rPr lang="en-PH" sz="4000" dirty="0" err="1"/>
              <a:t>ekonomiya</a:t>
            </a:r>
            <a:r>
              <a:rPr lang="en-PH" sz="4000" dirty="0"/>
              <a:t>. </a:t>
            </a:r>
            <a:r>
              <a:rPr lang="en-PH" sz="4000" dirty="0" err="1"/>
              <a:t>Ipinaliwanag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ang </a:t>
            </a:r>
            <a:r>
              <a:rPr lang="en-PH" sz="4000" dirty="0" err="1"/>
              <a:t>sariling</a:t>
            </a:r>
            <a:r>
              <a:rPr lang="en-PH" sz="4000" dirty="0"/>
              <a:t> </a:t>
            </a:r>
            <a:r>
              <a:rPr lang="en-PH" sz="4000" dirty="0" err="1"/>
              <a:t>interes</a:t>
            </a:r>
            <a:r>
              <a:rPr lang="en-PH" sz="4000" dirty="0"/>
              <a:t> (self-interest)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manggagawa</a:t>
            </a:r>
            <a:r>
              <a:rPr lang="en-PH" sz="4000" dirty="0"/>
              <a:t> at </a:t>
            </a:r>
            <a:r>
              <a:rPr lang="en-PH" sz="4000" dirty="0" err="1"/>
              <a:t>mangangalakal</a:t>
            </a:r>
            <a:r>
              <a:rPr lang="en-PH" sz="4000" dirty="0"/>
              <a:t> ay </a:t>
            </a:r>
            <a:r>
              <a:rPr lang="en-PH" sz="4000" dirty="0" err="1"/>
              <a:t>nagdudulot</a:t>
            </a:r>
            <a:r>
              <a:rPr lang="en-PH" sz="4000" dirty="0"/>
              <a:t> ng </a:t>
            </a:r>
            <a:r>
              <a:rPr lang="en-PH" sz="4000" dirty="0" err="1"/>
              <a:t>benepisyong</a:t>
            </a:r>
            <a:r>
              <a:rPr lang="en-PH" sz="4000" dirty="0"/>
              <a:t> pang-</a:t>
            </a:r>
            <a:r>
              <a:rPr lang="en-PH" sz="4000" dirty="0" err="1"/>
              <a:t>ekonomiya</a:t>
            </a:r>
            <a:r>
              <a:rPr lang="en-PH" sz="4000" dirty="0"/>
              <a:t>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ito</a:t>
            </a:r>
            <a:r>
              <a:rPr lang="en-PH" sz="4000" dirty="0"/>
              <a:t> ay </a:t>
            </a:r>
            <a:r>
              <a:rPr lang="en-PH" sz="4000" dirty="0" err="1"/>
              <a:t>nagtutulak</a:t>
            </a:r>
            <a:r>
              <a:rPr lang="en-PH" sz="4000" dirty="0"/>
              <a:t> ng </a:t>
            </a:r>
            <a:r>
              <a:rPr lang="en-PH" sz="4000" dirty="0" err="1"/>
              <a:t>kompetisyon</a:t>
            </a:r>
            <a:r>
              <a:rPr lang="en-PH" sz="4000" dirty="0"/>
              <a:t> at </a:t>
            </a:r>
            <a:r>
              <a:rPr lang="en-PH" sz="4000" dirty="0" err="1"/>
              <a:t>episyenteng</a:t>
            </a:r>
            <a:r>
              <a:rPr lang="en-PH" sz="4000" dirty="0"/>
              <a:t> </a:t>
            </a:r>
            <a:r>
              <a:rPr lang="en-PH" sz="4000" dirty="0" err="1"/>
              <a:t>produksyon</a:t>
            </a:r>
            <a:r>
              <a:rPr lang="en-PH" sz="4000" dirty="0"/>
              <a:t>. </a:t>
            </a:r>
            <a:r>
              <a:rPr lang="en-PH" sz="4000" dirty="0" err="1"/>
              <a:t>Gayunpaman</a:t>
            </a:r>
            <a:r>
              <a:rPr lang="en-PH" sz="4000" dirty="0"/>
              <a:t>, </a:t>
            </a:r>
            <a:r>
              <a:rPr lang="en-PH" sz="4000" dirty="0" err="1"/>
              <a:t>nagbabala</a:t>
            </a:r>
            <a:r>
              <a:rPr lang="en-PH" sz="4000" dirty="0"/>
              <a:t> </a:t>
            </a:r>
            <a:r>
              <a:rPr lang="en-PH" sz="4000" dirty="0" err="1"/>
              <a:t>rin</a:t>
            </a:r>
            <a:r>
              <a:rPr lang="en-PH" sz="4000" dirty="0"/>
              <a:t> </a:t>
            </a:r>
            <a:r>
              <a:rPr lang="en-PH" sz="4000" dirty="0" err="1"/>
              <a:t>siya</a:t>
            </a:r>
            <a:r>
              <a:rPr lang="en-PH" sz="4000" dirty="0"/>
              <a:t> </a:t>
            </a:r>
            <a:r>
              <a:rPr lang="en-PH" sz="4000" dirty="0" err="1"/>
              <a:t>tungkol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epekto</a:t>
            </a:r>
            <a:r>
              <a:rPr lang="en-PH" sz="4000" dirty="0"/>
              <a:t> ng industrial labor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kapakanan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manggagawa</a:t>
            </a:r>
            <a:r>
              <a:rPr lang="en-PH" sz="4000" dirty="0"/>
              <a:t>. Sa </a:t>
            </a:r>
            <a:r>
              <a:rPr lang="en-PH" sz="4000" dirty="0" err="1"/>
              <a:t>kanyang</a:t>
            </a:r>
            <a:r>
              <a:rPr lang="en-PH" sz="4000" dirty="0"/>
              <a:t> </a:t>
            </a:r>
            <a:r>
              <a:rPr lang="en-PH" sz="4000" dirty="0" err="1"/>
              <a:t>akda</a:t>
            </a:r>
            <a:r>
              <a:rPr lang="en-PH" sz="4000" dirty="0"/>
              <a:t> </a:t>
            </a:r>
            <a:r>
              <a:rPr lang="en-PH" sz="4000" dirty="0" err="1"/>
              <a:t>tungkol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moral sentiments, </a:t>
            </a:r>
            <a:r>
              <a:rPr lang="en-PH" sz="4000" dirty="0" err="1"/>
              <a:t>ipinaliwanag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ang social bonds o </a:t>
            </a:r>
            <a:r>
              <a:rPr lang="en-PH" sz="4000" dirty="0" err="1"/>
              <a:t>ugnayan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lipunan</a:t>
            </a:r>
            <a:r>
              <a:rPr lang="en-PH" sz="4000" dirty="0"/>
              <a:t> ang </a:t>
            </a:r>
            <a:r>
              <a:rPr lang="en-PH" sz="4000" dirty="0" err="1"/>
              <a:t>nagpapalakas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gawaing</a:t>
            </a:r>
            <a:r>
              <a:rPr lang="en-PH" sz="4000" dirty="0"/>
              <a:t> pang-</a:t>
            </a:r>
            <a:r>
              <a:rPr lang="en-PH" sz="4000" dirty="0" err="1"/>
              <a:t>ekonomiya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Maimpluwensyang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Pilosopo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Politika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258803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263391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8" y="2566598"/>
            <a:ext cx="12600255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000" dirty="0"/>
              <a:t>14. Thomas Jefferson</a:t>
            </a:r>
          </a:p>
          <a:p>
            <a:r>
              <a:rPr lang="en-PH" sz="4000" dirty="0"/>
              <a:t>Si Thomas Jefferson ay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politiko</a:t>
            </a:r>
            <a:r>
              <a:rPr lang="en-PH" sz="4000" dirty="0"/>
              <a:t> at </a:t>
            </a:r>
            <a:r>
              <a:rPr lang="en-PH" sz="4000" dirty="0" err="1"/>
              <a:t>teorista</a:t>
            </a:r>
            <a:r>
              <a:rPr lang="en-PH" sz="4000" dirty="0"/>
              <a:t> </a:t>
            </a:r>
            <a:r>
              <a:rPr lang="en-PH" sz="4000" dirty="0" err="1"/>
              <a:t>noong</a:t>
            </a:r>
            <a:r>
              <a:rPr lang="en-PH" sz="4000" dirty="0"/>
              <a:t> American Enlightenment. </a:t>
            </a:r>
            <a:r>
              <a:rPr lang="en-PH" sz="4000" dirty="0" err="1"/>
              <a:t>Pinalawig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</a:t>
            </a:r>
            <a:r>
              <a:rPr lang="en-PH" sz="4000" dirty="0" err="1"/>
              <a:t>pilosopiya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Thomas Paine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pamamagitan</a:t>
            </a:r>
            <a:r>
              <a:rPr lang="en-PH" sz="4000" dirty="0"/>
              <a:t> ng Republicanism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Estados</a:t>
            </a:r>
            <a:r>
              <a:rPr lang="en-PH" sz="4000" dirty="0"/>
              <a:t> Unidos,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nagtataguyod</a:t>
            </a:r>
            <a:r>
              <a:rPr lang="en-PH" sz="4000" dirty="0"/>
              <a:t> ng </a:t>
            </a:r>
            <a:r>
              <a:rPr lang="en-PH" sz="4000" dirty="0" err="1"/>
              <a:t>pamahalaang</a:t>
            </a:r>
            <a:r>
              <a:rPr lang="en-PH" sz="4000" dirty="0"/>
              <a:t> </a:t>
            </a:r>
            <a:r>
              <a:rPr lang="en-PH" sz="4000" dirty="0" err="1"/>
              <a:t>nakasalalay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kagustuhan</a:t>
            </a:r>
            <a:r>
              <a:rPr lang="en-PH" sz="4000" dirty="0"/>
              <a:t> ng </a:t>
            </a:r>
            <a:r>
              <a:rPr lang="en-PH" sz="4000" dirty="0" err="1"/>
              <a:t>mamamayan</a:t>
            </a:r>
            <a:r>
              <a:rPr lang="en-PH" sz="4000" dirty="0"/>
              <a:t>. </a:t>
            </a:r>
            <a:r>
              <a:rPr lang="en-PH" sz="4000" dirty="0" err="1"/>
              <a:t>Siya</a:t>
            </a:r>
            <a:r>
              <a:rPr lang="en-PH" sz="4000" dirty="0"/>
              <a:t> ang </a:t>
            </a:r>
            <a:r>
              <a:rPr lang="en-PH" sz="4000" dirty="0" err="1"/>
              <a:t>pangunahing</a:t>
            </a:r>
            <a:r>
              <a:rPr lang="en-PH" sz="4000" dirty="0"/>
              <a:t> may-</a:t>
            </a:r>
            <a:r>
              <a:rPr lang="en-PH" sz="4000" dirty="0" err="1"/>
              <a:t>akda</a:t>
            </a:r>
            <a:r>
              <a:rPr lang="en-PH" sz="4000" dirty="0"/>
              <a:t> ng United States Declaration of Independence,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nagbigay-diin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karapatan</a:t>
            </a:r>
            <a:r>
              <a:rPr lang="en-PH" sz="4000" dirty="0"/>
              <a:t> ng </a:t>
            </a:r>
            <a:r>
              <a:rPr lang="en-PH" sz="4000" dirty="0" err="1"/>
              <a:t>tao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buhay</a:t>
            </a:r>
            <a:r>
              <a:rPr lang="en-PH" sz="4000" dirty="0"/>
              <a:t>, </a:t>
            </a:r>
            <a:r>
              <a:rPr lang="en-PH" sz="4000" dirty="0" err="1"/>
              <a:t>kalayaan</a:t>
            </a:r>
            <a:r>
              <a:rPr lang="en-PH" sz="4000" dirty="0"/>
              <a:t>, at </a:t>
            </a:r>
            <a:r>
              <a:rPr lang="en-PH" sz="4000" dirty="0" err="1"/>
              <a:t>paghahanap</a:t>
            </a:r>
            <a:r>
              <a:rPr lang="en-PH" sz="4000" dirty="0"/>
              <a:t> ng </a:t>
            </a:r>
            <a:r>
              <a:rPr lang="en-PH" sz="4000" dirty="0" err="1"/>
              <a:t>kaligayahan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Maimpluwensyang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Pilosopo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Politika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118833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15" y="1301965"/>
            <a:ext cx="15696268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631847" y="2566598"/>
            <a:ext cx="13337951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3600" dirty="0"/>
              <a:t>15. Dr. Jose P. Rizal</a:t>
            </a:r>
          </a:p>
          <a:p>
            <a:r>
              <a:rPr lang="en-PH" sz="3600" dirty="0"/>
              <a:t>Si Dr. Jose P. Rizal ay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ilustrado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naniniwala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sinakop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bansa</a:t>
            </a:r>
            <a:r>
              <a:rPr lang="en-PH" sz="3600" dirty="0"/>
              <a:t> </a:t>
            </a:r>
            <a:r>
              <a:rPr lang="en-PH" sz="3600" dirty="0" err="1"/>
              <a:t>tulad</a:t>
            </a:r>
            <a:r>
              <a:rPr lang="en-PH" sz="3600" dirty="0"/>
              <a:t> ng </a:t>
            </a:r>
            <a:r>
              <a:rPr lang="en-PH" sz="3600" dirty="0" err="1"/>
              <a:t>Pilipinas</a:t>
            </a:r>
            <a:r>
              <a:rPr lang="en-PH" sz="3600" dirty="0"/>
              <a:t> ay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dapat</a:t>
            </a:r>
            <a:r>
              <a:rPr lang="en-PH" sz="3600" dirty="0"/>
              <a:t> </a:t>
            </a:r>
            <a:r>
              <a:rPr lang="en-PH" sz="3600" dirty="0" err="1"/>
              <a:t>pagsamantalahan</a:t>
            </a:r>
            <a:r>
              <a:rPr lang="en-PH" sz="3600" dirty="0"/>
              <a:t>, </a:t>
            </a:r>
            <a:r>
              <a:rPr lang="en-PH" sz="3600" dirty="0" err="1"/>
              <a:t>kundi</a:t>
            </a:r>
            <a:r>
              <a:rPr lang="en-PH" sz="3600" dirty="0"/>
              <a:t> </a:t>
            </a:r>
            <a:r>
              <a:rPr lang="en-PH" sz="3600" dirty="0" err="1"/>
              <a:t>paunlarin</a:t>
            </a:r>
            <a:r>
              <a:rPr lang="en-PH" sz="3600" dirty="0"/>
              <a:t> at </a:t>
            </a:r>
            <a:r>
              <a:rPr lang="en-PH" sz="3600" dirty="0" err="1"/>
              <a:t>gawing</a:t>
            </a:r>
            <a:r>
              <a:rPr lang="en-PH" sz="3600" dirty="0"/>
              <a:t> </a:t>
            </a:r>
            <a:r>
              <a:rPr lang="en-PH" sz="3600" dirty="0" err="1"/>
              <a:t>sibilisado</a:t>
            </a:r>
            <a:r>
              <a:rPr lang="en-PH" sz="3600" dirty="0"/>
              <a:t>. </a:t>
            </a:r>
            <a:r>
              <a:rPr lang="en-PH" sz="3600" dirty="0" err="1"/>
              <a:t>Ipinaglaban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edukasyon</a:t>
            </a:r>
            <a:r>
              <a:rPr lang="en-PH" sz="3600" dirty="0"/>
              <a:t> at </a:t>
            </a:r>
            <a:r>
              <a:rPr lang="en-PH" sz="3600" dirty="0" err="1"/>
              <a:t>pagsasanay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sariling</a:t>
            </a:r>
            <a:r>
              <a:rPr lang="en-PH" sz="3600" dirty="0"/>
              <a:t> </a:t>
            </a:r>
            <a:r>
              <a:rPr lang="en-PH" sz="3600" dirty="0" err="1"/>
              <a:t>pamamahala</a:t>
            </a:r>
            <a:r>
              <a:rPr lang="en-PH" sz="3600" dirty="0"/>
              <a:t>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Pilipino. </a:t>
            </a:r>
          </a:p>
          <a:p>
            <a:r>
              <a:rPr lang="en-PH" sz="3600" dirty="0"/>
              <a:t>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pangunahing</a:t>
            </a:r>
            <a:r>
              <a:rPr lang="en-PH" sz="3600" dirty="0"/>
              <a:t> </a:t>
            </a:r>
            <a:r>
              <a:rPr lang="en-PH" sz="3600" dirty="0" err="1"/>
              <a:t>repormang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isinulong</a:t>
            </a:r>
            <a:r>
              <a:rPr lang="en-PH" sz="3600" dirty="0"/>
              <a:t> ay:</a:t>
            </a:r>
          </a:p>
          <a:p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(a) 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pagkakaroon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kinatawan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Pilipinas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Spanish Cortes at 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pamamahayag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(freedom of the press); (b)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reorganisasyon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makinarya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administrasyon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(c)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pagkakaroon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komprehensibong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pag-aaral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at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publikasyon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at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pagpapahintulot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Pilipino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magkaroon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pantay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karapatan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Espanyol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mamahala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gobyerno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(d) 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hustisya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pundasyon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lipunan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at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pamahalaan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8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Mga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Maimpluwensyang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Pilosopo</a:t>
            </a:r>
            <a:r>
              <a:rPr lang="en-PH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Politika</a:t>
            </a:r>
            <a:endParaRPr lang="en-PH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715015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1301965"/>
            <a:ext cx="16217583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122596" y="2566598"/>
            <a:ext cx="14368517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3600" dirty="0" err="1"/>
              <a:t>Teknolohiya</a:t>
            </a:r>
            <a:endParaRPr lang="en-PH" sz="3600" dirty="0"/>
          </a:p>
          <a:p>
            <a:r>
              <a:rPr lang="en-PH" sz="3600" dirty="0"/>
              <a:t>Ang </a:t>
            </a:r>
            <a:r>
              <a:rPr lang="en-PH" sz="3600" dirty="0" err="1"/>
              <a:t>teknolohiya</a:t>
            </a:r>
            <a:r>
              <a:rPr lang="en-PH" sz="3600" dirty="0"/>
              <a:t> ay ang </a:t>
            </a:r>
            <a:r>
              <a:rPr lang="en-PH" sz="3600" dirty="0" err="1"/>
              <a:t>paggamit</a:t>
            </a:r>
            <a:r>
              <a:rPr lang="en-PH" sz="3600" dirty="0"/>
              <a:t> ng </a:t>
            </a:r>
            <a:r>
              <a:rPr lang="en-PH" sz="3600" dirty="0" err="1"/>
              <a:t>siyentipikong</a:t>
            </a:r>
            <a:r>
              <a:rPr lang="en-PH" sz="3600" dirty="0"/>
              <a:t> </a:t>
            </a:r>
            <a:r>
              <a:rPr lang="en-PH" sz="3600" dirty="0" err="1"/>
              <a:t>kaalaman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makalikha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kapaki-pakinabang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kagamitan</a:t>
            </a:r>
            <a:r>
              <a:rPr lang="en-PH" sz="3600" dirty="0"/>
              <a:t>. </a:t>
            </a:r>
            <a:r>
              <a:rPr lang="en-PH" sz="3600" dirty="0" err="1"/>
              <a:t>Narito</a:t>
            </a:r>
            <a:r>
              <a:rPr lang="en-PH" sz="3600" dirty="0"/>
              <a:t> ang </a:t>
            </a:r>
            <a:r>
              <a:rPr lang="en-PH" sz="3600" dirty="0" err="1"/>
              <a:t>ilang</a:t>
            </a:r>
            <a:r>
              <a:rPr lang="en-PH" sz="3600" dirty="0"/>
              <a:t> </a:t>
            </a:r>
            <a:r>
              <a:rPr lang="en-PH" sz="3600" dirty="0" err="1"/>
              <a:t>anyo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:</a:t>
            </a:r>
          </a:p>
          <a:p>
            <a:r>
              <a:rPr lang="en-PH" sz="3600" dirty="0"/>
              <a:t>Information Technology – </a:t>
            </a:r>
            <a:r>
              <a:rPr lang="en-PH" sz="3600" dirty="0" err="1"/>
              <a:t>Tumutukoy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makina</a:t>
            </a:r>
            <a:r>
              <a:rPr lang="en-PH" sz="3600" dirty="0"/>
              <a:t> </a:t>
            </a:r>
            <a:r>
              <a:rPr lang="en-PH" sz="3600" dirty="0" err="1"/>
              <a:t>tulad</a:t>
            </a:r>
            <a:r>
              <a:rPr lang="en-PH" sz="3600" dirty="0"/>
              <a:t> ng computer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mabilis</a:t>
            </a:r>
            <a:r>
              <a:rPr lang="en-PH" sz="3600" dirty="0"/>
              <a:t> </a:t>
            </a:r>
            <a:r>
              <a:rPr lang="en-PH" sz="3600" dirty="0" err="1"/>
              <a:t>magproseso</a:t>
            </a:r>
            <a:r>
              <a:rPr lang="en-PH" sz="3600" dirty="0"/>
              <a:t> ng </a:t>
            </a:r>
            <a:r>
              <a:rPr lang="en-PH" sz="3600" dirty="0" err="1"/>
              <a:t>datos</a:t>
            </a:r>
            <a:r>
              <a:rPr lang="en-PH" sz="3600" dirty="0"/>
              <a:t> at </a:t>
            </a:r>
            <a:r>
              <a:rPr lang="en-PH" sz="3600" dirty="0" err="1"/>
              <a:t>magsagawa</a:t>
            </a:r>
            <a:r>
              <a:rPr lang="en-PH" sz="3600" dirty="0"/>
              <a:t> ng </a:t>
            </a:r>
            <a:r>
              <a:rPr lang="en-PH" sz="3600" dirty="0" err="1"/>
              <a:t>kalkulasyon</a:t>
            </a:r>
            <a:r>
              <a:rPr lang="en-PH" sz="3600" dirty="0"/>
              <a:t>.</a:t>
            </a:r>
          </a:p>
          <a:p>
            <a:r>
              <a:rPr lang="en-PH" sz="3600" dirty="0"/>
              <a:t>Networks – Mga </a:t>
            </a:r>
            <a:r>
              <a:rPr lang="en-PH" sz="3600" dirty="0" err="1"/>
              <a:t>ugnayan</a:t>
            </a:r>
            <a:r>
              <a:rPr lang="en-PH" sz="3600" dirty="0"/>
              <a:t> o links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nagpapahintulot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devices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magbahagi</a:t>
            </a:r>
            <a:r>
              <a:rPr lang="en-PH" sz="3600" dirty="0"/>
              <a:t> ng </a:t>
            </a:r>
            <a:r>
              <a:rPr lang="en-PH" sz="3600" dirty="0" err="1"/>
              <a:t>datos</a:t>
            </a:r>
            <a:r>
              <a:rPr lang="en-PH" sz="3600" dirty="0"/>
              <a:t>. </a:t>
            </a:r>
            <a:r>
              <a:rPr lang="en-PH" sz="3600" dirty="0" err="1"/>
              <a:t>Kapag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networks ay </a:t>
            </a:r>
            <a:r>
              <a:rPr lang="en-PH" sz="3600" dirty="0" err="1"/>
              <a:t>pinag-ugnay</a:t>
            </a:r>
            <a:r>
              <a:rPr lang="en-PH" sz="3600" dirty="0"/>
              <a:t>, </a:t>
            </a:r>
            <a:r>
              <a:rPr lang="en-PH" sz="3600" dirty="0" err="1"/>
              <a:t>nabubuo</a:t>
            </a:r>
            <a:r>
              <a:rPr lang="en-PH" sz="3600" dirty="0"/>
              <a:t> ang internet.</a:t>
            </a:r>
          </a:p>
          <a:p>
            <a:r>
              <a:rPr lang="en-PH" sz="3600" dirty="0"/>
              <a:t>Sensors – Mga </a:t>
            </a:r>
            <a:r>
              <a:rPr lang="en-PH" sz="3600" dirty="0" err="1"/>
              <a:t>kagamitan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nagtatala</a:t>
            </a:r>
            <a:r>
              <a:rPr lang="en-PH" sz="3600" dirty="0"/>
              <a:t> ng </a:t>
            </a:r>
            <a:r>
              <a:rPr lang="en-PH" sz="3600" dirty="0" err="1"/>
              <a:t>datos</a:t>
            </a:r>
            <a:r>
              <a:rPr lang="en-PH" sz="3600" dirty="0"/>
              <a:t> </a:t>
            </a:r>
            <a:r>
              <a:rPr lang="en-PH" sz="3600" dirty="0" err="1"/>
              <a:t>mula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kapaligiran</a:t>
            </a:r>
            <a:r>
              <a:rPr lang="en-PH" sz="3600" dirty="0"/>
              <a:t>, </a:t>
            </a:r>
            <a:r>
              <a:rPr lang="en-PH" sz="3600" dirty="0" err="1"/>
              <a:t>tulad</a:t>
            </a:r>
            <a:r>
              <a:rPr lang="en-PH" sz="3600" dirty="0"/>
              <a:t> ng camera at </a:t>
            </a:r>
            <a:r>
              <a:rPr lang="en-PH" sz="3600" dirty="0" err="1"/>
              <a:t>mikropono</a:t>
            </a:r>
            <a:r>
              <a:rPr lang="en-PH" sz="3600" dirty="0"/>
              <a:t>.</a:t>
            </a:r>
          </a:p>
          <a:p>
            <a:r>
              <a:rPr lang="en-PH" sz="3600" dirty="0"/>
              <a:t>Internet of Things (IoT) – Ang </a:t>
            </a:r>
            <a:r>
              <a:rPr lang="en-PH" sz="3600" dirty="0" err="1"/>
              <a:t>pagsasama-sama</a:t>
            </a:r>
            <a:r>
              <a:rPr lang="en-PH" sz="3600" dirty="0"/>
              <a:t> ng computer, sensors, at network </a:t>
            </a:r>
            <a:r>
              <a:rPr lang="en-PH" sz="3600" dirty="0" err="1"/>
              <a:t>sa</a:t>
            </a:r>
            <a:r>
              <a:rPr lang="en-PH" sz="3600" dirty="0"/>
              <a:t> pang-</a:t>
            </a:r>
            <a:r>
              <a:rPr lang="en-PH" sz="3600" dirty="0" err="1"/>
              <a:t>araw</a:t>
            </a:r>
            <a:r>
              <a:rPr lang="en-PH" sz="3600" dirty="0"/>
              <a:t>-</a:t>
            </a:r>
            <a:r>
              <a:rPr lang="en-PH" sz="3600" dirty="0" err="1"/>
              <a:t>araw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gamit</a:t>
            </a:r>
            <a:r>
              <a:rPr lang="en-PH" sz="3600" dirty="0"/>
              <a:t> </a:t>
            </a:r>
            <a:r>
              <a:rPr lang="en-PH" sz="3600" dirty="0" err="1"/>
              <a:t>tulad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appliances at </a:t>
            </a:r>
            <a:r>
              <a:rPr lang="en-PH" sz="3600" dirty="0" err="1"/>
              <a:t>imprastruktura</a:t>
            </a:r>
            <a:r>
              <a:rPr lang="en-PH" sz="3600" dirty="0"/>
              <a:t>.</a:t>
            </a:r>
            <a:endParaRPr lang="en-PH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Teknolohiya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383718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1301965"/>
            <a:ext cx="16217583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122596" y="2566598"/>
            <a:ext cx="14368517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000" b="1" dirty="0" err="1"/>
              <a:t>Kabutihan</a:t>
            </a:r>
            <a:r>
              <a:rPr lang="en-PH" sz="4000" b="1" dirty="0"/>
              <a:t> ng </a:t>
            </a:r>
            <a:r>
              <a:rPr lang="en-PH" sz="4000" b="1" dirty="0" err="1"/>
              <a:t>Teknolohiya</a:t>
            </a:r>
            <a:endParaRPr lang="en-PH" sz="4000" b="1" dirty="0"/>
          </a:p>
          <a:p>
            <a:pPr>
              <a:buFont typeface="+mj-lt"/>
              <a:buAutoNum type="arabicPeriod"/>
            </a:pPr>
            <a:r>
              <a:rPr lang="en-PH" sz="4000" b="1" dirty="0" err="1"/>
              <a:t>Pinadadali</a:t>
            </a:r>
            <a:r>
              <a:rPr lang="en-PH" sz="4000" b="1" dirty="0"/>
              <a:t> ang </a:t>
            </a:r>
            <a:r>
              <a:rPr lang="en-PH" sz="4000" b="1" dirty="0" err="1"/>
              <a:t>Buhay</a:t>
            </a:r>
            <a:r>
              <a:rPr lang="en-PH" sz="4000" dirty="0"/>
              <a:t> – </a:t>
            </a:r>
            <a:r>
              <a:rPr lang="en-PH" sz="4000" dirty="0" err="1"/>
              <a:t>Nagiging</a:t>
            </a:r>
            <a:r>
              <a:rPr lang="en-PH" sz="4000" dirty="0"/>
              <a:t> mas </a:t>
            </a:r>
            <a:r>
              <a:rPr lang="en-PH" sz="4000" dirty="0" err="1"/>
              <a:t>mabilis</a:t>
            </a:r>
            <a:r>
              <a:rPr lang="en-PH" sz="4000" dirty="0"/>
              <a:t> at </a:t>
            </a:r>
            <a:r>
              <a:rPr lang="en-PH" sz="4000" dirty="0" err="1"/>
              <a:t>magaan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gawain</a:t>
            </a:r>
            <a:r>
              <a:rPr lang="en-PH" sz="4000" dirty="0"/>
              <a:t> </a:t>
            </a:r>
            <a:r>
              <a:rPr lang="en-PH" sz="4000" dirty="0" err="1"/>
              <a:t>tulad</a:t>
            </a:r>
            <a:r>
              <a:rPr lang="en-PH" sz="4000" dirty="0"/>
              <a:t> ng </a:t>
            </a:r>
            <a:r>
              <a:rPr lang="en-PH" sz="4000" dirty="0" err="1"/>
              <a:t>komunikasyon</a:t>
            </a:r>
            <a:r>
              <a:rPr lang="en-PH" sz="4000" dirty="0"/>
              <a:t>, </a:t>
            </a:r>
            <a:r>
              <a:rPr lang="en-PH" sz="4000" dirty="0" err="1"/>
              <a:t>trabaho</a:t>
            </a:r>
            <a:r>
              <a:rPr lang="en-PH" sz="4000" dirty="0"/>
              <a:t>, at </a:t>
            </a:r>
            <a:r>
              <a:rPr lang="en-PH" sz="4000" dirty="0" err="1"/>
              <a:t>edukasyon</a:t>
            </a:r>
            <a:r>
              <a:rPr lang="en-PH" sz="4000" dirty="0"/>
              <a:t>.</a:t>
            </a:r>
          </a:p>
          <a:p>
            <a:pPr>
              <a:buFont typeface="+mj-lt"/>
              <a:buAutoNum type="arabicPeriod"/>
            </a:pPr>
            <a:r>
              <a:rPr lang="en-PH" sz="4000" b="1" dirty="0" err="1"/>
              <a:t>Pagpapahusay</a:t>
            </a:r>
            <a:r>
              <a:rPr lang="en-PH" sz="4000" b="1" dirty="0"/>
              <a:t> ng </a:t>
            </a:r>
            <a:r>
              <a:rPr lang="en-PH" sz="4000" b="1" dirty="0" err="1"/>
              <a:t>Kaalaman</a:t>
            </a:r>
            <a:r>
              <a:rPr lang="en-PH" sz="4000" dirty="0"/>
              <a:t> – </a:t>
            </a:r>
            <a:r>
              <a:rPr lang="en-PH" sz="4000" dirty="0" err="1"/>
              <a:t>Madaling</a:t>
            </a:r>
            <a:r>
              <a:rPr lang="en-PH" sz="4000" dirty="0"/>
              <a:t> </a:t>
            </a:r>
            <a:r>
              <a:rPr lang="en-PH" sz="4000" dirty="0" err="1"/>
              <a:t>makakuha</a:t>
            </a:r>
            <a:r>
              <a:rPr lang="en-PH" sz="4000" dirty="0"/>
              <a:t> ng </a:t>
            </a:r>
            <a:r>
              <a:rPr lang="en-PH" sz="4000" dirty="0" err="1"/>
              <a:t>impormasyon</a:t>
            </a:r>
            <a:r>
              <a:rPr lang="en-PH" sz="4000" dirty="0"/>
              <a:t> at </a:t>
            </a:r>
            <a:r>
              <a:rPr lang="en-PH" sz="4000" dirty="0" err="1"/>
              <a:t>kaalaman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pamamagitan</a:t>
            </a:r>
            <a:r>
              <a:rPr lang="en-PH" sz="4000" dirty="0"/>
              <a:t> ng internet.</a:t>
            </a:r>
          </a:p>
          <a:p>
            <a:pPr>
              <a:buFont typeface="+mj-lt"/>
              <a:buAutoNum type="arabicPeriod"/>
            </a:pPr>
            <a:r>
              <a:rPr lang="en-PH" sz="4000" b="1" dirty="0"/>
              <a:t>Pag-</a:t>
            </a:r>
            <a:r>
              <a:rPr lang="en-PH" sz="4000" b="1" dirty="0" err="1"/>
              <a:t>unlad</a:t>
            </a:r>
            <a:r>
              <a:rPr lang="en-PH" sz="4000" b="1" dirty="0"/>
              <a:t> ng </a:t>
            </a:r>
            <a:r>
              <a:rPr lang="en-PH" sz="4000" b="1" dirty="0" err="1"/>
              <a:t>Ekonomiya</a:t>
            </a:r>
            <a:r>
              <a:rPr lang="en-PH" sz="4000" dirty="0"/>
              <a:t> – </a:t>
            </a:r>
            <a:r>
              <a:rPr lang="en-PH" sz="4000" dirty="0" err="1"/>
              <a:t>Nakatutulong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negosyo</a:t>
            </a:r>
            <a:r>
              <a:rPr lang="en-PH" sz="4000" dirty="0"/>
              <a:t> at </a:t>
            </a:r>
            <a:r>
              <a:rPr lang="en-PH" sz="4000" dirty="0" err="1"/>
              <a:t>industriya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pamamagitan</a:t>
            </a:r>
            <a:r>
              <a:rPr lang="en-PH" sz="4000" dirty="0"/>
              <a:t> ng </a:t>
            </a:r>
            <a:r>
              <a:rPr lang="en-PH" sz="4000" dirty="0" err="1"/>
              <a:t>makabagong</a:t>
            </a:r>
            <a:r>
              <a:rPr lang="en-PH" sz="4000" dirty="0"/>
              <a:t> </a:t>
            </a:r>
            <a:r>
              <a:rPr lang="en-PH" sz="4000" dirty="0" err="1"/>
              <a:t>kagamitan</a:t>
            </a:r>
            <a:r>
              <a:rPr lang="en-PH" sz="4000" dirty="0"/>
              <a:t> at </a:t>
            </a:r>
            <a:r>
              <a:rPr lang="en-PH" sz="4000" dirty="0" err="1"/>
              <a:t>sistema</a:t>
            </a:r>
            <a:r>
              <a:rPr lang="en-PH" sz="4000" dirty="0"/>
              <a:t>.</a:t>
            </a:r>
          </a:p>
          <a:p>
            <a:pPr>
              <a:buFont typeface="+mj-lt"/>
              <a:buAutoNum type="arabicPeriod"/>
            </a:pPr>
            <a:r>
              <a:rPr lang="en-PH" sz="4000" b="1" dirty="0" err="1"/>
              <a:t>Pagpapabuti</a:t>
            </a:r>
            <a:r>
              <a:rPr lang="en-PH" sz="4000" b="1" dirty="0"/>
              <a:t> ng </a:t>
            </a:r>
            <a:r>
              <a:rPr lang="en-PH" sz="4000" b="1" dirty="0" err="1"/>
              <a:t>Kalusugan</a:t>
            </a:r>
            <a:r>
              <a:rPr lang="en-PH" sz="4000" dirty="0"/>
              <a:t> – Sa </a:t>
            </a:r>
            <a:r>
              <a:rPr lang="en-PH" sz="4000" dirty="0" err="1"/>
              <a:t>pamamagitan</a:t>
            </a:r>
            <a:r>
              <a:rPr lang="en-PH" sz="4000" dirty="0"/>
              <a:t> ng </a:t>
            </a:r>
            <a:r>
              <a:rPr lang="en-PH" sz="4000" dirty="0" err="1"/>
              <a:t>makabagong</a:t>
            </a:r>
            <a:r>
              <a:rPr lang="en-PH" sz="4000" dirty="0"/>
              <a:t> </a:t>
            </a:r>
            <a:r>
              <a:rPr lang="en-PH" sz="4000" dirty="0" err="1"/>
              <a:t>teknolohiya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medisina</a:t>
            </a:r>
            <a:r>
              <a:rPr lang="en-PH" sz="4000" dirty="0"/>
              <a:t>, </a:t>
            </a:r>
            <a:r>
              <a:rPr lang="en-PH" sz="4000" dirty="0" err="1"/>
              <a:t>napapadali</a:t>
            </a:r>
            <a:r>
              <a:rPr lang="en-PH" sz="4000" dirty="0"/>
              <a:t> ang </a:t>
            </a:r>
            <a:r>
              <a:rPr lang="en-PH" sz="4000" dirty="0" err="1"/>
              <a:t>pagsusuri</a:t>
            </a:r>
            <a:r>
              <a:rPr lang="en-PH" sz="4000" dirty="0"/>
              <a:t> at </a:t>
            </a:r>
            <a:r>
              <a:rPr lang="en-PH" sz="4000" dirty="0" err="1"/>
              <a:t>paggamot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sakit</a:t>
            </a:r>
            <a:r>
              <a:rPr lang="en-PH" sz="40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Teknolohiya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694798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1301965"/>
            <a:ext cx="16217583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122596" y="2566598"/>
            <a:ext cx="14368517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000" b="1" dirty="0" err="1"/>
              <a:t>Kasamaang</a:t>
            </a:r>
            <a:r>
              <a:rPr lang="en-PH" sz="4000" b="1" dirty="0"/>
              <a:t> </a:t>
            </a:r>
            <a:r>
              <a:rPr lang="en-PH" sz="4000" b="1" dirty="0" err="1"/>
              <a:t>Dulot</a:t>
            </a:r>
            <a:r>
              <a:rPr lang="en-PH" sz="4000" b="1" dirty="0"/>
              <a:t> ng </a:t>
            </a:r>
            <a:r>
              <a:rPr lang="en-PH" sz="4000" b="1" dirty="0" err="1"/>
              <a:t>Teknolohiya</a:t>
            </a:r>
            <a:endParaRPr lang="en-PH" sz="4000" b="1" dirty="0"/>
          </a:p>
          <a:p>
            <a:pPr>
              <a:buFont typeface="+mj-lt"/>
              <a:buAutoNum type="arabicPeriod"/>
            </a:pPr>
            <a:r>
              <a:rPr lang="en-PH" sz="4000" b="1" dirty="0" err="1"/>
              <a:t>Pagiging</a:t>
            </a:r>
            <a:r>
              <a:rPr lang="en-PH" sz="4000" b="1" dirty="0"/>
              <a:t> Dependent</a:t>
            </a:r>
            <a:r>
              <a:rPr lang="en-PH" sz="4000" dirty="0"/>
              <a:t> – </a:t>
            </a:r>
            <a:r>
              <a:rPr lang="en-PH" sz="4000" dirty="0" err="1"/>
              <a:t>Nagiging</a:t>
            </a:r>
            <a:r>
              <a:rPr lang="en-PH" sz="4000" dirty="0"/>
              <a:t> </a:t>
            </a:r>
            <a:r>
              <a:rPr lang="en-PH" sz="4000" dirty="0" err="1"/>
              <a:t>sobrang</a:t>
            </a:r>
            <a:r>
              <a:rPr lang="en-PH" sz="4000" dirty="0"/>
              <a:t> </a:t>
            </a:r>
            <a:r>
              <a:rPr lang="en-PH" sz="4000" dirty="0" err="1"/>
              <a:t>pala-asa</a:t>
            </a:r>
            <a:r>
              <a:rPr lang="en-PH" sz="4000" dirty="0"/>
              <a:t> ang </a:t>
            </a:r>
            <a:r>
              <a:rPr lang="en-PH" sz="4000" dirty="0" err="1"/>
              <a:t>tao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teknolohiya</a:t>
            </a:r>
            <a:r>
              <a:rPr lang="en-PH" sz="4000" dirty="0"/>
              <a:t>,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maaaring</a:t>
            </a:r>
            <a:r>
              <a:rPr lang="en-PH" sz="4000" dirty="0"/>
              <a:t> </a:t>
            </a:r>
            <a:r>
              <a:rPr lang="en-PH" sz="4000" dirty="0" err="1"/>
              <a:t>makaapekto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kasanayan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kritikal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pag-iisip</a:t>
            </a:r>
            <a:r>
              <a:rPr lang="en-PH" sz="4000" dirty="0"/>
              <a:t>.</a:t>
            </a:r>
          </a:p>
          <a:p>
            <a:pPr>
              <a:buFont typeface="+mj-lt"/>
              <a:buAutoNum type="arabicPeriod"/>
            </a:pPr>
            <a:r>
              <a:rPr lang="en-PH" sz="4000" b="1" dirty="0"/>
              <a:t>Mga </a:t>
            </a:r>
            <a:r>
              <a:rPr lang="en-PH" sz="4000" b="1" dirty="0" err="1"/>
              <a:t>Isyu</a:t>
            </a:r>
            <a:r>
              <a:rPr lang="en-PH" sz="4000" b="1" dirty="0"/>
              <a:t> </a:t>
            </a:r>
            <a:r>
              <a:rPr lang="en-PH" sz="4000" b="1" dirty="0" err="1"/>
              <a:t>sa</a:t>
            </a:r>
            <a:r>
              <a:rPr lang="en-PH" sz="4000" b="1" dirty="0"/>
              <a:t> </a:t>
            </a:r>
            <a:r>
              <a:rPr lang="en-PH" sz="4000" b="1" dirty="0" err="1"/>
              <a:t>Kalusugan</a:t>
            </a:r>
            <a:r>
              <a:rPr lang="en-PH" sz="4000" dirty="0"/>
              <a:t> – </a:t>
            </a:r>
            <a:r>
              <a:rPr lang="en-PH" sz="4000" dirty="0" err="1"/>
              <a:t>Maaaring</a:t>
            </a:r>
            <a:r>
              <a:rPr lang="en-PH" sz="4000" dirty="0"/>
              <a:t> </a:t>
            </a:r>
            <a:r>
              <a:rPr lang="en-PH" sz="4000" dirty="0" err="1"/>
              <a:t>magdulot</a:t>
            </a:r>
            <a:r>
              <a:rPr lang="en-PH" sz="4000" dirty="0"/>
              <a:t> ng </a:t>
            </a:r>
            <a:r>
              <a:rPr lang="en-PH" sz="4000" b="1" dirty="0" err="1"/>
              <a:t>problema</a:t>
            </a:r>
            <a:r>
              <a:rPr lang="en-PH" sz="4000" b="1" dirty="0"/>
              <a:t> </a:t>
            </a:r>
            <a:r>
              <a:rPr lang="en-PH" sz="4000" b="1" dirty="0" err="1"/>
              <a:t>sa</a:t>
            </a:r>
            <a:r>
              <a:rPr lang="en-PH" sz="4000" b="1" dirty="0"/>
              <a:t> </a:t>
            </a:r>
            <a:r>
              <a:rPr lang="en-PH" sz="4000" b="1" dirty="0" err="1"/>
              <a:t>mata</a:t>
            </a:r>
            <a:r>
              <a:rPr lang="en-PH" sz="4000" b="1" dirty="0"/>
              <a:t>, </a:t>
            </a:r>
            <a:r>
              <a:rPr lang="en-PH" sz="4000" b="1" dirty="0" err="1"/>
              <a:t>labis</a:t>
            </a:r>
            <a:r>
              <a:rPr lang="en-PH" sz="4000" b="1" dirty="0"/>
              <a:t> </a:t>
            </a:r>
            <a:r>
              <a:rPr lang="en-PH" sz="4000" b="1" dirty="0" err="1"/>
              <a:t>na</a:t>
            </a:r>
            <a:r>
              <a:rPr lang="en-PH" sz="4000" b="1" dirty="0"/>
              <a:t> </a:t>
            </a:r>
            <a:r>
              <a:rPr lang="en-PH" sz="4000" b="1" dirty="0" err="1"/>
              <a:t>katabaan</a:t>
            </a:r>
            <a:r>
              <a:rPr lang="en-PH" sz="4000" b="1" dirty="0"/>
              <a:t>,</a:t>
            </a:r>
            <a:r>
              <a:rPr lang="en-PH" sz="4000" dirty="0"/>
              <a:t> at </a:t>
            </a:r>
            <a:r>
              <a:rPr lang="en-PH" sz="4000" b="1" dirty="0"/>
              <a:t>stress</a:t>
            </a:r>
            <a:r>
              <a:rPr lang="en-PH" sz="4000" dirty="0"/>
              <a:t>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labis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paggamit</a:t>
            </a:r>
            <a:r>
              <a:rPr lang="en-PH" sz="4000" dirty="0"/>
              <a:t> ng gadgets.</a:t>
            </a:r>
          </a:p>
          <a:p>
            <a:pPr>
              <a:buFont typeface="+mj-lt"/>
              <a:buAutoNum type="arabicPeriod"/>
            </a:pPr>
            <a:r>
              <a:rPr lang="en-PH" sz="4000" b="1" dirty="0" err="1"/>
              <a:t>Pagkawala</a:t>
            </a:r>
            <a:r>
              <a:rPr lang="en-PH" sz="4000" b="1" dirty="0"/>
              <a:t> ng </a:t>
            </a:r>
            <a:r>
              <a:rPr lang="en-PH" sz="4000" b="1" dirty="0" err="1"/>
              <a:t>Pribasiya</a:t>
            </a:r>
            <a:r>
              <a:rPr lang="en-PH" sz="4000" dirty="0"/>
              <a:t> – </a:t>
            </a:r>
            <a:r>
              <a:rPr lang="en-PH" sz="4000" dirty="0" err="1"/>
              <a:t>Nanganganib</a:t>
            </a:r>
            <a:r>
              <a:rPr lang="en-PH" sz="4000" dirty="0"/>
              <a:t> ang </a:t>
            </a:r>
            <a:r>
              <a:rPr lang="en-PH" sz="4000" b="1" dirty="0"/>
              <a:t>privacy at </a:t>
            </a:r>
            <a:r>
              <a:rPr lang="en-PH" sz="4000" b="1" dirty="0" err="1"/>
              <a:t>seguridad</a:t>
            </a:r>
            <a:r>
              <a:rPr lang="en-PH" sz="4000" dirty="0"/>
              <a:t> ng personal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impormasyon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internet.</a:t>
            </a:r>
          </a:p>
          <a:p>
            <a:pPr>
              <a:buFont typeface="+mj-lt"/>
              <a:buAutoNum type="arabicPeriod"/>
            </a:pPr>
            <a:r>
              <a:rPr lang="en-PH" sz="4000" b="1" dirty="0" err="1"/>
              <a:t>Epekto</a:t>
            </a:r>
            <a:r>
              <a:rPr lang="en-PH" sz="4000" b="1" dirty="0"/>
              <a:t> </a:t>
            </a:r>
            <a:r>
              <a:rPr lang="en-PH" sz="4000" b="1" dirty="0" err="1"/>
              <a:t>sa</a:t>
            </a:r>
            <a:r>
              <a:rPr lang="en-PH" sz="4000" b="1" dirty="0"/>
              <a:t> Lipunan</a:t>
            </a:r>
            <a:r>
              <a:rPr lang="en-PH" sz="4000" dirty="0"/>
              <a:t> – </a:t>
            </a:r>
            <a:r>
              <a:rPr lang="en-PH" sz="4000" dirty="0" err="1"/>
              <a:t>Maaaring</a:t>
            </a:r>
            <a:r>
              <a:rPr lang="en-PH" sz="4000" dirty="0"/>
              <a:t> </a:t>
            </a:r>
            <a:r>
              <a:rPr lang="en-PH" sz="4000" dirty="0" err="1"/>
              <a:t>magdulot</a:t>
            </a:r>
            <a:r>
              <a:rPr lang="en-PH" sz="4000" dirty="0"/>
              <a:t> ng </a:t>
            </a:r>
            <a:r>
              <a:rPr lang="en-PH" sz="4000" b="1" dirty="0" err="1"/>
              <a:t>pagkakahiwalay</a:t>
            </a:r>
            <a:r>
              <a:rPr lang="en-PH" sz="4000" b="1" dirty="0"/>
              <a:t> </a:t>
            </a:r>
            <a:r>
              <a:rPr lang="en-PH" sz="4000" b="1" dirty="0" err="1"/>
              <a:t>sa</a:t>
            </a:r>
            <a:r>
              <a:rPr lang="en-PH" sz="4000" b="1" dirty="0"/>
              <a:t> </a:t>
            </a:r>
            <a:r>
              <a:rPr lang="en-PH" sz="4000" b="1" dirty="0" err="1"/>
              <a:t>ugnayan</a:t>
            </a:r>
            <a:r>
              <a:rPr lang="en-PH" sz="4000" b="1" dirty="0"/>
              <a:t> ng </a:t>
            </a:r>
            <a:r>
              <a:rPr lang="en-PH" sz="4000" b="1" dirty="0" err="1"/>
              <a:t>tao</a:t>
            </a:r>
            <a:r>
              <a:rPr lang="en-PH" sz="4000" dirty="0"/>
              <a:t> at </a:t>
            </a:r>
            <a:r>
              <a:rPr lang="en-PH" sz="4000" b="1" dirty="0" err="1"/>
              <a:t>pagkakalat</a:t>
            </a:r>
            <a:r>
              <a:rPr lang="en-PH" sz="4000" b="1" dirty="0"/>
              <a:t> ng </a:t>
            </a:r>
            <a:r>
              <a:rPr lang="en-PH" sz="4000" b="1" dirty="0" err="1"/>
              <a:t>maling</a:t>
            </a:r>
            <a:r>
              <a:rPr lang="en-PH" sz="4000" b="1" dirty="0"/>
              <a:t> </a:t>
            </a:r>
            <a:r>
              <a:rPr lang="en-PH" sz="4000" b="1" dirty="0" err="1"/>
              <a:t>impormasyon</a:t>
            </a:r>
            <a:r>
              <a:rPr lang="en-PH" sz="4000" b="1" dirty="0"/>
              <a:t> (fake news).</a:t>
            </a:r>
            <a:endParaRPr lang="en-PH" sz="4000" dirty="0"/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Teknolohiya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64009" y="7833684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405455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1301965"/>
            <a:ext cx="16217583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122596" y="2566598"/>
            <a:ext cx="14368517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400" b="1" dirty="0"/>
              <a:t> </a:t>
            </a:r>
            <a:r>
              <a:rPr lang="en-PH" sz="4400" b="1" dirty="0" err="1"/>
              <a:t>Kabutihan</a:t>
            </a:r>
            <a:r>
              <a:rPr lang="en-PH" sz="4400" b="1" dirty="0"/>
              <a:t> ng </a:t>
            </a:r>
            <a:r>
              <a:rPr lang="en-PH" sz="4400" b="1" dirty="0" err="1"/>
              <a:t>Teknolohiya</a:t>
            </a:r>
            <a:r>
              <a:rPr lang="en-PH" sz="4400" b="1" dirty="0"/>
              <a:t> </a:t>
            </a:r>
            <a:r>
              <a:rPr lang="en-PH" sz="4400" b="1" dirty="0" err="1"/>
              <a:t>sa</a:t>
            </a:r>
            <a:r>
              <a:rPr lang="en-PH" sz="4400" b="1" dirty="0"/>
              <a:t> </a:t>
            </a:r>
            <a:r>
              <a:rPr lang="en-PH" sz="4400" b="1" dirty="0" err="1"/>
              <a:t>Larangan</a:t>
            </a:r>
            <a:r>
              <a:rPr lang="en-PH" sz="4400" b="1" dirty="0"/>
              <a:t> ng </a:t>
            </a:r>
            <a:r>
              <a:rPr lang="en-PH" sz="4400" b="1" dirty="0" err="1"/>
              <a:t>Kalakalan</a:t>
            </a:r>
            <a:endParaRPr lang="en-PH" sz="4400" b="1" dirty="0"/>
          </a:p>
          <a:p>
            <a:pPr>
              <a:buFont typeface="+mj-lt"/>
              <a:buAutoNum type="arabicPeriod"/>
            </a:pPr>
            <a:r>
              <a:rPr lang="en-PH" sz="4400" b="1" dirty="0" err="1"/>
              <a:t>Pagliligtas</a:t>
            </a:r>
            <a:r>
              <a:rPr lang="en-PH" sz="4400" b="1" dirty="0"/>
              <a:t> ng </a:t>
            </a:r>
            <a:r>
              <a:rPr lang="en-PH" sz="4400" b="1" dirty="0" err="1"/>
              <a:t>Oras</a:t>
            </a:r>
            <a:r>
              <a:rPr lang="en-PH" sz="4400" b="1" dirty="0"/>
              <a:t>, Lakas, at </a:t>
            </a:r>
            <a:r>
              <a:rPr lang="en-PH" sz="4400" b="1" dirty="0" err="1"/>
              <a:t>Salapi</a:t>
            </a:r>
            <a:r>
              <a:rPr lang="en-PH" sz="4400" dirty="0"/>
              <a:t> – Ang </a:t>
            </a:r>
            <a:r>
              <a:rPr lang="en-PH" sz="4400" b="1" dirty="0" err="1"/>
              <a:t>mga</a:t>
            </a:r>
            <a:r>
              <a:rPr lang="en-PH" sz="4400" b="1" dirty="0"/>
              <a:t> </a:t>
            </a:r>
            <a:r>
              <a:rPr lang="en-PH" sz="4400" b="1" dirty="0" err="1"/>
              <a:t>makina</a:t>
            </a:r>
            <a:r>
              <a:rPr lang="en-PH" sz="4400" b="1" dirty="0"/>
              <a:t> </a:t>
            </a:r>
            <a:r>
              <a:rPr lang="en-PH" sz="4400" b="1" dirty="0" err="1"/>
              <a:t>tulad</a:t>
            </a:r>
            <a:r>
              <a:rPr lang="en-PH" sz="4400" b="1" dirty="0"/>
              <a:t> ng ATM at counting machine</a:t>
            </a:r>
            <a:r>
              <a:rPr lang="en-PH" sz="4400" dirty="0"/>
              <a:t> ay </a:t>
            </a:r>
            <a:r>
              <a:rPr lang="en-PH" sz="4400" dirty="0" err="1"/>
              <a:t>nagpapabilis</a:t>
            </a:r>
            <a:r>
              <a:rPr lang="en-PH" sz="4400" dirty="0"/>
              <a:t> ng </a:t>
            </a:r>
            <a:r>
              <a:rPr lang="en-PH" sz="4400" dirty="0" err="1"/>
              <a:t>transaksyon</a:t>
            </a:r>
            <a:r>
              <a:rPr lang="en-PH" sz="4400" dirty="0"/>
              <a:t> at </a:t>
            </a:r>
            <a:r>
              <a:rPr lang="en-PH" sz="4400" dirty="0" err="1"/>
              <a:t>nakababawas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gastusin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sahod</a:t>
            </a:r>
            <a:r>
              <a:rPr lang="en-PH" sz="4400" dirty="0"/>
              <a:t> </a:t>
            </a:r>
            <a:r>
              <a:rPr lang="en-PH" sz="4400" dirty="0" err="1"/>
              <a:t>dahil</a:t>
            </a:r>
            <a:r>
              <a:rPr lang="en-PH" sz="4400" dirty="0"/>
              <a:t> </a:t>
            </a:r>
            <a:r>
              <a:rPr lang="en-PH" sz="4400" dirty="0" err="1"/>
              <a:t>hindi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kailangan</a:t>
            </a:r>
            <a:r>
              <a:rPr lang="en-PH" sz="4400" dirty="0"/>
              <a:t> ng maraming </a:t>
            </a:r>
            <a:r>
              <a:rPr lang="en-PH" sz="4400" dirty="0" err="1"/>
              <a:t>tauhan</a:t>
            </a:r>
            <a:r>
              <a:rPr lang="en-PH" sz="4400" dirty="0"/>
              <a:t>.</a:t>
            </a:r>
          </a:p>
          <a:p>
            <a:pPr>
              <a:buFont typeface="+mj-lt"/>
              <a:buAutoNum type="arabicPeriod"/>
            </a:pPr>
            <a:r>
              <a:rPr lang="en-PH" sz="4400" b="1" dirty="0" err="1"/>
              <a:t>Pagtaas</a:t>
            </a:r>
            <a:r>
              <a:rPr lang="en-PH" sz="4400" b="1" dirty="0"/>
              <a:t> ng </a:t>
            </a:r>
            <a:r>
              <a:rPr lang="en-PH" sz="4400" b="1" dirty="0" err="1"/>
              <a:t>Produksyon</a:t>
            </a:r>
            <a:r>
              <a:rPr lang="en-PH" sz="4400" dirty="0"/>
              <a:t> – Ang </a:t>
            </a:r>
            <a:r>
              <a:rPr lang="en-PH" sz="4400" b="1" dirty="0"/>
              <a:t>automation</a:t>
            </a:r>
            <a:r>
              <a:rPr lang="en-PH" sz="4400" dirty="0"/>
              <a:t> ay </a:t>
            </a:r>
            <a:r>
              <a:rPr lang="en-PH" sz="4400" dirty="0" err="1"/>
              <a:t>nagpapabilis</a:t>
            </a:r>
            <a:r>
              <a:rPr lang="en-PH" sz="4400" dirty="0"/>
              <a:t> at </a:t>
            </a:r>
            <a:r>
              <a:rPr lang="en-PH" sz="4400" dirty="0" err="1"/>
              <a:t>nagpapataas</a:t>
            </a:r>
            <a:r>
              <a:rPr lang="en-PH" sz="4400" dirty="0"/>
              <a:t> ng </a:t>
            </a:r>
            <a:r>
              <a:rPr lang="en-PH" sz="4400" dirty="0" err="1"/>
              <a:t>produksyon</a:t>
            </a:r>
            <a:r>
              <a:rPr lang="en-PH" sz="4400" dirty="0"/>
              <a:t>. </a:t>
            </a:r>
            <a:r>
              <a:rPr lang="en-PH" sz="4400" dirty="0" err="1"/>
              <a:t>Halimbawa</a:t>
            </a:r>
            <a:r>
              <a:rPr lang="en-PH" sz="4400" dirty="0"/>
              <a:t>, ang </a:t>
            </a:r>
            <a:r>
              <a:rPr lang="en-PH" sz="4400" dirty="0" err="1"/>
              <a:t>paggamit</a:t>
            </a:r>
            <a:r>
              <a:rPr lang="en-PH" sz="4400" dirty="0"/>
              <a:t> ng </a:t>
            </a:r>
            <a:r>
              <a:rPr lang="en-PH" sz="4400" b="1" dirty="0"/>
              <a:t>software </a:t>
            </a:r>
            <a:r>
              <a:rPr lang="en-PH" sz="4400" b="1" dirty="0" err="1"/>
              <a:t>tulad</a:t>
            </a:r>
            <a:r>
              <a:rPr lang="en-PH" sz="4400" b="1" dirty="0"/>
              <a:t> ng SPSS at In-design</a:t>
            </a:r>
            <a:r>
              <a:rPr lang="en-PH" sz="4400" dirty="0"/>
              <a:t> ay </a:t>
            </a:r>
            <a:r>
              <a:rPr lang="en-PH" sz="4400" dirty="0" err="1"/>
              <a:t>nagpapadali</a:t>
            </a:r>
            <a:r>
              <a:rPr lang="en-PH" sz="4400" dirty="0"/>
              <a:t> ng </a:t>
            </a:r>
            <a:r>
              <a:rPr lang="en-PH" sz="4400" dirty="0" err="1"/>
              <a:t>trabaho</a:t>
            </a:r>
            <a:r>
              <a:rPr lang="en-PH" sz="44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Teknolohiya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54299" y="7873147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3156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1301965"/>
            <a:ext cx="16217583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122596" y="2566598"/>
            <a:ext cx="14368517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400" b="1" dirty="0"/>
              <a:t> </a:t>
            </a:r>
            <a:r>
              <a:rPr lang="en-PH" sz="4400" b="1" dirty="0" err="1"/>
              <a:t>Kabutihan</a:t>
            </a:r>
            <a:r>
              <a:rPr lang="en-PH" sz="4400" b="1" dirty="0"/>
              <a:t> ng </a:t>
            </a:r>
            <a:r>
              <a:rPr lang="en-PH" sz="4400" b="1" dirty="0" err="1"/>
              <a:t>Teknolohiya</a:t>
            </a:r>
            <a:r>
              <a:rPr lang="en-PH" sz="4400" b="1" dirty="0"/>
              <a:t> </a:t>
            </a:r>
            <a:r>
              <a:rPr lang="en-PH" sz="4400" b="1" dirty="0" err="1"/>
              <a:t>sa</a:t>
            </a:r>
            <a:r>
              <a:rPr lang="en-PH" sz="4400" b="1" dirty="0"/>
              <a:t> </a:t>
            </a:r>
            <a:r>
              <a:rPr lang="en-PH" sz="4400" b="1" dirty="0" err="1"/>
              <a:t>Larangan</a:t>
            </a:r>
            <a:r>
              <a:rPr lang="en-PH" sz="4400" b="1" dirty="0"/>
              <a:t> ng </a:t>
            </a:r>
            <a:r>
              <a:rPr lang="en-PH" sz="4400" b="1" dirty="0" err="1"/>
              <a:t>Kalakalan</a:t>
            </a:r>
            <a:endParaRPr lang="en-PH" sz="4400" b="1" dirty="0"/>
          </a:p>
          <a:p>
            <a:pPr marL="742950" indent="-742950">
              <a:buFont typeface="+mj-lt"/>
              <a:buAutoNum type="arabicPeriod" startAt="3"/>
            </a:pPr>
            <a:r>
              <a:rPr lang="en-PH" sz="4400" b="1" dirty="0" err="1"/>
              <a:t>Pagpapabuti</a:t>
            </a:r>
            <a:r>
              <a:rPr lang="en-PH" sz="4400" b="1" dirty="0"/>
              <a:t> ng </a:t>
            </a:r>
            <a:r>
              <a:rPr lang="en-PH" sz="4400" b="1" dirty="0" err="1"/>
              <a:t>Palitan</a:t>
            </a:r>
            <a:r>
              <a:rPr lang="en-PH" sz="4400" b="1" dirty="0"/>
              <a:t> ng </a:t>
            </a:r>
            <a:r>
              <a:rPr lang="en-PH" sz="4400" b="1" dirty="0" err="1"/>
              <a:t>Impormasyon</a:t>
            </a:r>
            <a:r>
              <a:rPr lang="en-PH" sz="4400" dirty="0"/>
              <a:t> – Mas </a:t>
            </a:r>
            <a:r>
              <a:rPr lang="en-PH" sz="4400" dirty="0" err="1"/>
              <a:t>mabilis</a:t>
            </a:r>
            <a:r>
              <a:rPr lang="en-PH" sz="4400" dirty="0"/>
              <a:t> ang </a:t>
            </a:r>
            <a:r>
              <a:rPr lang="en-PH" sz="4400" dirty="0" err="1"/>
              <a:t>komunikasyon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b="1" dirty="0"/>
              <a:t>e-mail, Skype, at internal networks</a:t>
            </a:r>
            <a:r>
              <a:rPr lang="en-PH" sz="4400" dirty="0"/>
              <a:t>,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nagpapabilis</a:t>
            </a:r>
            <a:r>
              <a:rPr lang="en-PH" sz="4400" dirty="0"/>
              <a:t> ng </a:t>
            </a:r>
            <a:r>
              <a:rPr lang="en-PH" sz="4400" dirty="0" err="1"/>
              <a:t>desisyon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usapin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opisina</a:t>
            </a:r>
            <a:r>
              <a:rPr lang="en-PH" sz="4400" dirty="0"/>
              <a:t>.</a:t>
            </a:r>
          </a:p>
          <a:p>
            <a:pPr marL="742950" indent="-742950">
              <a:buFont typeface="+mj-lt"/>
              <a:buAutoNum type="arabicPeriod" startAt="3"/>
            </a:pPr>
            <a:r>
              <a:rPr lang="en-PH" sz="4400" b="1" dirty="0" err="1"/>
              <a:t>Pagkakaroon</a:t>
            </a:r>
            <a:r>
              <a:rPr lang="en-PH" sz="4400" b="1" dirty="0"/>
              <a:t> ng Competitive Advantage</a:t>
            </a:r>
            <a:r>
              <a:rPr lang="en-PH" sz="4400" dirty="0"/>
              <a:t> – Ang </a:t>
            </a:r>
            <a:r>
              <a:rPr lang="en-PH" sz="4400" dirty="0" err="1"/>
              <a:t>teknolohiya</a:t>
            </a:r>
            <a:r>
              <a:rPr lang="en-PH" sz="4400" dirty="0"/>
              <a:t> ay </a:t>
            </a:r>
            <a:r>
              <a:rPr lang="en-PH" sz="4400" dirty="0" err="1"/>
              <a:t>nakatutulong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b="1" dirty="0"/>
              <a:t>mas </a:t>
            </a:r>
            <a:r>
              <a:rPr lang="en-PH" sz="4400" b="1" dirty="0" err="1"/>
              <a:t>magandang</a:t>
            </a:r>
            <a:r>
              <a:rPr lang="en-PH" sz="4400" b="1" dirty="0"/>
              <a:t> </a:t>
            </a:r>
            <a:r>
              <a:rPr lang="en-PH" sz="4400" b="1" dirty="0" err="1"/>
              <a:t>karanasan</a:t>
            </a:r>
            <a:r>
              <a:rPr lang="en-PH" sz="4400" b="1" dirty="0"/>
              <a:t> ng customer</a:t>
            </a:r>
            <a:r>
              <a:rPr lang="en-PH" sz="4400" dirty="0"/>
              <a:t> (</a:t>
            </a:r>
            <a:r>
              <a:rPr lang="en-PH" sz="4400" dirty="0" err="1"/>
              <a:t>hal</a:t>
            </a:r>
            <a:r>
              <a:rPr lang="en-PH" sz="4400" dirty="0"/>
              <a:t>. free </a:t>
            </a:r>
            <a:r>
              <a:rPr lang="en-PH" sz="4400" dirty="0" err="1"/>
              <a:t>WiFi</a:t>
            </a:r>
            <a:r>
              <a:rPr lang="en-PH" sz="4400" dirty="0"/>
              <a:t>) at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b="1" dirty="0" err="1"/>
              <a:t>pagbuo</a:t>
            </a:r>
            <a:r>
              <a:rPr lang="en-PH" sz="4400" b="1" dirty="0"/>
              <a:t> ng </a:t>
            </a:r>
            <a:r>
              <a:rPr lang="en-PH" sz="4400" b="1" dirty="0" err="1"/>
              <a:t>mga</a:t>
            </a:r>
            <a:r>
              <a:rPr lang="en-PH" sz="4400" b="1" dirty="0"/>
              <a:t> </a:t>
            </a:r>
            <a:r>
              <a:rPr lang="en-PH" sz="4400" b="1" dirty="0" err="1"/>
              <a:t>bagong</a:t>
            </a:r>
            <a:r>
              <a:rPr lang="en-PH" sz="4400" b="1" dirty="0"/>
              <a:t> </a:t>
            </a:r>
            <a:r>
              <a:rPr lang="en-PH" sz="4400" b="1" dirty="0" err="1"/>
              <a:t>produkto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tugma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pangangailangan</a:t>
            </a:r>
            <a:r>
              <a:rPr lang="en-PH" sz="4400" dirty="0"/>
              <a:t> ng </a:t>
            </a:r>
            <a:r>
              <a:rPr lang="en-PH" sz="4400" dirty="0" err="1"/>
              <a:t>merkado</a:t>
            </a:r>
            <a:r>
              <a:rPr lang="en-PH" sz="44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Teknolohiya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54299" y="7873147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217662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1301965"/>
            <a:ext cx="16217583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122596" y="2566598"/>
            <a:ext cx="14368517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5400" dirty="0" err="1"/>
              <a:t>Negatibong</a:t>
            </a:r>
            <a:r>
              <a:rPr lang="en-PH" sz="5400" dirty="0"/>
              <a:t> </a:t>
            </a:r>
            <a:r>
              <a:rPr lang="en-PH" sz="5400" dirty="0" err="1"/>
              <a:t>Dulot</a:t>
            </a:r>
            <a:r>
              <a:rPr lang="en-PH" sz="5400" dirty="0"/>
              <a:t> ng </a:t>
            </a:r>
            <a:r>
              <a:rPr lang="en-PH" sz="5400" dirty="0" err="1"/>
              <a:t>Teknolohiya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Kalakalan</a:t>
            </a:r>
            <a:endParaRPr lang="en-PH" sz="5400" dirty="0"/>
          </a:p>
          <a:p>
            <a:r>
              <a:rPr lang="en-PH" sz="5400" dirty="0"/>
              <a:t>Mahal ang </a:t>
            </a:r>
            <a:r>
              <a:rPr lang="en-PH" sz="5400" dirty="0" err="1"/>
              <a:t>Gastos</a:t>
            </a:r>
            <a:r>
              <a:rPr lang="en-PH" sz="5400" dirty="0"/>
              <a:t> – Mahal ang </a:t>
            </a:r>
            <a:r>
              <a:rPr lang="en-PH" sz="5400" dirty="0" err="1"/>
              <a:t>pagbili</a:t>
            </a:r>
            <a:r>
              <a:rPr lang="en-PH" sz="5400" dirty="0"/>
              <a:t> at </a:t>
            </a:r>
            <a:r>
              <a:rPr lang="en-PH" sz="5400" dirty="0" err="1"/>
              <a:t>pagpapanatili</a:t>
            </a:r>
            <a:r>
              <a:rPr lang="en-PH" sz="5400" dirty="0"/>
              <a:t> (maintenance) ng </a:t>
            </a:r>
            <a:r>
              <a:rPr lang="en-PH" sz="5400" dirty="0" err="1"/>
              <a:t>mga</a:t>
            </a:r>
            <a:r>
              <a:rPr lang="en-PH" sz="5400" dirty="0"/>
              <a:t> </a:t>
            </a:r>
            <a:r>
              <a:rPr lang="en-PH" sz="5400" dirty="0" err="1"/>
              <a:t>kagamitang</a:t>
            </a:r>
            <a:r>
              <a:rPr lang="en-PH" sz="5400" dirty="0"/>
              <a:t> </a:t>
            </a:r>
            <a:r>
              <a:rPr lang="en-PH" sz="5400" dirty="0" err="1"/>
              <a:t>pangteknolohiya</a:t>
            </a:r>
            <a:r>
              <a:rPr lang="en-PH" sz="5400" dirty="0"/>
              <a:t>, </a:t>
            </a:r>
            <a:r>
              <a:rPr lang="en-PH" sz="5400" dirty="0" err="1"/>
              <a:t>lalo</a:t>
            </a:r>
            <a:r>
              <a:rPr lang="en-PH" sz="5400" dirty="0"/>
              <a:t> </a:t>
            </a:r>
            <a:r>
              <a:rPr lang="en-PH" sz="5400" dirty="0" err="1"/>
              <a:t>na</a:t>
            </a:r>
            <a:r>
              <a:rPr lang="en-PH" sz="5400" dirty="0"/>
              <a:t> para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maliliit</a:t>
            </a:r>
            <a:r>
              <a:rPr lang="en-PH" sz="5400" dirty="0"/>
              <a:t>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negosyo</a:t>
            </a:r>
            <a:r>
              <a:rPr lang="en-PH" sz="5400" dirty="0"/>
              <a:t>.</a:t>
            </a:r>
          </a:p>
          <a:p>
            <a:r>
              <a:rPr lang="en-PH" sz="5400" dirty="0" err="1"/>
              <a:t>Mabilis</a:t>
            </a:r>
            <a:r>
              <a:rPr lang="en-PH" sz="5400" dirty="0"/>
              <a:t> </a:t>
            </a:r>
            <a:r>
              <a:rPr lang="en-PH" sz="5400" dirty="0" err="1"/>
              <a:t>Maluma</a:t>
            </a:r>
            <a:r>
              <a:rPr lang="en-PH" sz="5400" dirty="0"/>
              <a:t> – Ang </a:t>
            </a:r>
            <a:r>
              <a:rPr lang="en-PH" sz="5400" dirty="0" err="1"/>
              <a:t>teknolohiya</a:t>
            </a:r>
            <a:r>
              <a:rPr lang="en-PH" sz="5400" dirty="0"/>
              <a:t> ay </a:t>
            </a:r>
            <a:r>
              <a:rPr lang="en-PH" sz="5400" dirty="0" err="1"/>
              <a:t>mabilis</a:t>
            </a:r>
            <a:r>
              <a:rPr lang="en-PH" sz="5400" dirty="0"/>
              <a:t> </a:t>
            </a:r>
            <a:r>
              <a:rPr lang="en-PH" sz="5400" dirty="0" err="1"/>
              <a:t>maluma</a:t>
            </a:r>
            <a:r>
              <a:rPr lang="en-PH" sz="5400" dirty="0"/>
              <a:t>, </a:t>
            </a:r>
            <a:r>
              <a:rPr lang="en-PH" sz="5400" dirty="0" err="1"/>
              <a:t>kaya’t</a:t>
            </a:r>
            <a:r>
              <a:rPr lang="en-PH" sz="5400" dirty="0"/>
              <a:t> </a:t>
            </a:r>
            <a:r>
              <a:rPr lang="en-PH" sz="5400" dirty="0" err="1"/>
              <a:t>kinakailangan</a:t>
            </a:r>
            <a:r>
              <a:rPr lang="en-PH" sz="5400" dirty="0"/>
              <a:t> ang </a:t>
            </a:r>
            <a:r>
              <a:rPr lang="en-PH" sz="5400" dirty="0" err="1"/>
              <a:t>madalas</a:t>
            </a:r>
            <a:r>
              <a:rPr lang="en-PH" sz="5400" dirty="0"/>
              <a:t>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pag</a:t>
            </a:r>
            <a:r>
              <a:rPr lang="en-PH" sz="5400" dirty="0"/>
              <a:t>-upgrade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nagdudulot</a:t>
            </a:r>
            <a:r>
              <a:rPr lang="en-PH" sz="5400" dirty="0"/>
              <a:t> ng </a:t>
            </a:r>
            <a:r>
              <a:rPr lang="en-PH" sz="5400" dirty="0" err="1"/>
              <a:t>karagdagang</a:t>
            </a:r>
            <a:r>
              <a:rPr lang="en-PH" sz="5400" dirty="0"/>
              <a:t> </a:t>
            </a:r>
            <a:r>
              <a:rPr lang="en-PH" sz="5400" dirty="0" err="1"/>
              <a:t>gastos</a:t>
            </a:r>
            <a:r>
              <a:rPr lang="en-PH" sz="54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Teknolohiya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54299" y="7873147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132807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1301965"/>
            <a:ext cx="16217583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122596" y="2566598"/>
            <a:ext cx="14368517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800" dirty="0" err="1"/>
              <a:t>Negatibong</a:t>
            </a:r>
            <a:r>
              <a:rPr lang="en-PH" sz="4800" dirty="0"/>
              <a:t> </a:t>
            </a:r>
            <a:r>
              <a:rPr lang="en-PH" sz="4800" dirty="0" err="1"/>
              <a:t>Dulot</a:t>
            </a:r>
            <a:r>
              <a:rPr lang="en-PH" sz="4800" dirty="0"/>
              <a:t> ng </a:t>
            </a:r>
            <a:r>
              <a:rPr lang="en-PH" sz="4800" dirty="0" err="1"/>
              <a:t>Teknolohiya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Kalakalan</a:t>
            </a:r>
            <a:endParaRPr lang="en-PH" sz="4800" dirty="0"/>
          </a:p>
          <a:p>
            <a:r>
              <a:rPr lang="en-PH" sz="4800" dirty="0"/>
              <a:t>Banta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Seguridad</a:t>
            </a:r>
            <a:r>
              <a:rPr lang="en-PH" sz="4800" dirty="0"/>
              <a:t> – </a:t>
            </a:r>
            <a:r>
              <a:rPr lang="en-PH" sz="4800" dirty="0" err="1"/>
              <a:t>Panganib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data privacy at hacking </a:t>
            </a:r>
            <a:r>
              <a:rPr lang="en-PH" sz="4800" dirty="0" err="1"/>
              <a:t>dahil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posibilidad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manakaw</a:t>
            </a:r>
            <a:r>
              <a:rPr lang="en-PH" sz="4800" dirty="0"/>
              <a:t> ang </a:t>
            </a:r>
            <a:r>
              <a:rPr lang="en-PH" sz="4800" dirty="0" err="1"/>
              <a:t>mahahalagang</a:t>
            </a:r>
            <a:r>
              <a:rPr lang="en-PH" sz="4800" dirty="0"/>
              <a:t> </a:t>
            </a:r>
            <a:r>
              <a:rPr lang="en-PH" sz="4800" dirty="0" err="1"/>
              <a:t>datos</a:t>
            </a:r>
            <a:r>
              <a:rPr lang="en-PH" sz="4800" dirty="0"/>
              <a:t> ng </a:t>
            </a:r>
            <a:r>
              <a:rPr lang="en-PH" sz="4800" dirty="0" err="1"/>
              <a:t>negosyo</a:t>
            </a:r>
            <a:r>
              <a:rPr lang="en-PH" sz="4800" dirty="0"/>
              <a:t>.</a:t>
            </a:r>
          </a:p>
          <a:p>
            <a:r>
              <a:rPr lang="en-PH" sz="4800" dirty="0" err="1"/>
              <a:t>Pagkawala</a:t>
            </a:r>
            <a:r>
              <a:rPr lang="en-PH" sz="4800" dirty="0"/>
              <a:t> ng Human Interaction – </a:t>
            </a:r>
            <a:r>
              <a:rPr lang="en-PH" sz="4800" dirty="0" err="1"/>
              <a:t>Nababawasan</a:t>
            </a:r>
            <a:r>
              <a:rPr lang="en-PH" sz="4800" dirty="0"/>
              <a:t> ang </a:t>
            </a:r>
            <a:r>
              <a:rPr lang="en-PH" sz="4800" dirty="0" err="1"/>
              <a:t>harapang</a:t>
            </a:r>
            <a:r>
              <a:rPr lang="en-PH" sz="4800" dirty="0"/>
              <a:t> </a:t>
            </a:r>
            <a:r>
              <a:rPr lang="en-PH" sz="4800" dirty="0" err="1"/>
              <a:t>komunikasyon</a:t>
            </a:r>
            <a:r>
              <a:rPr lang="en-PH" sz="4800" dirty="0"/>
              <a:t> </a:t>
            </a:r>
            <a:r>
              <a:rPr lang="en-PH" sz="4800" dirty="0" err="1"/>
              <a:t>dahil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paggamit</a:t>
            </a:r>
            <a:r>
              <a:rPr lang="en-PH" sz="4800" dirty="0"/>
              <a:t> ng email, </a:t>
            </a:r>
            <a:r>
              <a:rPr lang="en-PH" sz="4800" dirty="0" err="1"/>
              <a:t>telepono</a:t>
            </a:r>
            <a:r>
              <a:rPr lang="en-PH" sz="4800" dirty="0"/>
              <a:t>, at video conferencing,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nakaaapekto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human relations at </a:t>
            </a:r>
            <a:r>
              <a:rPr lang="en-PH" sz="4800" dirty="0" err="1"/>
              <a:t>kaligayahan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trabaho</a:t>
            </a:r>
            <a:r>
              <a:rPr lang="en-PH" sz="48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Teknolohiya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54299" y="7873147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371133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1301965"/>
            <a:ext cx="16217583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122596" y="2566598"/>
            <a:ext cx="14368517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800" b="1" dirty="0" err="1"/>
              <a:t>Kabutihan</a:t>
            </a:r>
            <a:r>
              <a:rPr lang="en-PH" sz="4800" b="1" dirty="0"/>
              <a:t> ng </a:t>
            </a:r>
            <a:r>
              <a:rPr lang="en-PH" sz="4800" b="1" dirty="0" err="1"/>
              <a:t>Teknolohiya</a:t>
            </a:r>
            <a:r>
              <a:rPr lang="en-PH" sz="4800" b="1" dirty="0"/>
              <a:t> </a:t>
            </a:r>
            <a:r>
              <a:rPr lang="en-PH" sz="4800" b="1" dirty="0" err="1"/>
              <a:t>sa</a:t>
            </a:r>
            <a:r>
              <a:rPr lang="en-PH" sz="4800" b="1" dirty="0"/>
              <a:t> </a:t>
            </a:r>
            <a:r>
              <a:rPr lang="en-PH" sz="4800" b="1" dirty="0" err="1"/>
              <a:t>Larangan</a:t>
            </a:r>
            <a:r>
              <a:rPr lang="en-PH" sz="4800" b="1" dirty="0"/>
              <a:t> ng </a:t>
            </a:r>
            <a:r>
              <a:rPr lang="en-PH" sz="4800" b="1" dirty="0" err="1"/>
              <a:t>Edukasyon</a:t>
            </a:r>
            <a:endParaRPr lang="en-PH" sz="4800" b="1" dirty="0"/>
          </a:p>
          <a:p>
            <a:pPr marL="914400" indent="-914400">
              <a:buFont typeface="+mj-lt"/>
              <a:buAutoNum type="arabicPeriod"/>
            </a:pPr>
            <a:r>
              <a:rPr lang="en-PH" sz="4800" b="1" dirty="0" err="1"/>
              <a:t>Indibidwal</a:t>
            </a:r>
            <a:r>
              <a:rPr lang="en-PH" sz="4800" b="1" dirty="0"/>
              <a:t> </a:t>
            </a:r>
            <a:r>
              <a:rPr lang="en-PH" sz="4800" b="1" dirty="0" err="1"/>
              <a:t>na</a:t>
            </a:r>
            <a:r>
              <a:rPr lang="en-PH" sz="4800" b="1" dirty="0"/>
              <a:t> </a:t>
            </a:r>
            <a:r>
              <a:rPr lang="en-PH" sz="4800" b="1" dirty="0" err="1"/>
              <a:t>Pagkatuto</a:t>
            </a:r>
            <a:r>
              <a:rPr lang="en-PH" sz="4800" dirty="0"/>
              <a:t> – </a:t>
            </a:r>
            <a:r>
              <a:rPr lang="en-PH" sz="4800" b="1" dirty="0" err="1"/>
              <a:t>Nakokontrol</a:t>
            </a:r>
            <a:r>
              <a:rPr lang="en-PH" sz="4800" b="1" dirty="0"/>
              <a:t> ng mag-</a:t>
            </a:r>
            <a:r>
              <a:rPr lang="en-PH" sz="4800" b="1" dirty="0" err="1"/>
              <a:t>aaral</a:t>
            </a:r>
            <a:r>
              <a:rPr lang="en-PH" sz="4800" b="1" dirty="0"/>
              <a:t> ang </a:t>
            </a:r>
            <a:r>
              <a:rPr lang="en-PH" sz="4800" b="1" dirty="0" err="1"/>
              <a:t>kanyang</a:t>
            </a:r>
            <a:r>
              <a:rPr lang="en-PH" sz="4800" b="1" dirty="0"/>
              <a:t> </a:t>
            </a:r>
            <a:r>
              <a:rPr lang="en-PH" sz="4800" b="1" dirty="0" err="1"/>
              <a:t>pagkatuto</a:t>
            </a:r>
            <a:r>
              <a:rPr lang="en-PH" sz="4800" dirty="0"/>
              <a:t> </a:t>
            </a:r>
            <a:r>
              <a:rPr lang="en-PH" sz="4800" dirty="0" err="1"/>
              <a:t>gamit</a:t>
            </a:r>
            <a:r>
              <a:rPr lang="en-PH" sz="4800" dirty="0"/>
              <a:t> ang online resources para </a:t>
            </a:r>
            <a:r>
              <a:rPr lang="en-PH" sz="4800" dirty="0" err="1"/>
              <a:t>sa</a:t>
            </a:r>
            <a:r>
              <a:rPr lang="en-PH" sz="4800" dirty="0"/>
              <a:t> personal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pananaliksik</a:t>
            </a:r>
            <a:r>
              <a:rPr lang="en-PH" sz="4800" dirty="0"/>
              <a:t>.</a:t>
            </a:r>
          </a:p>
          <a:p>
            <a:pPr marL="914400" indent="-914400">
              <a:buFont typeface="+mj-lt"/>
              <a:buAutoNum type="arabicPeriod"/>
            </a:pPr>
            <a:r>
              <a:rPr lang="en-PH" sz="4800" b="1" dirty="0"/>
              <a:t>Mas </a:t>
            </a:r>
            <a:r>
              <a:rPr lang="en-PH" sz="4800" b="1" dirty="0" err="1"/>
              <a:t>Aktibong</a:t>
            </a:r>
            <a:r>
              <a:rPr lang="en-PH" sz="4800" b="1" dirty="0"/>
              <a:t> </a:t>
            </a:r>
            <a:r>
              <a:rPr lang="en-PH" sz="4800" b="1" dirty="0" err="1"/>
              <a:t>Interaksyon</a:t>
            </a:r>
            <a:r>
              <a:rPr lang="en-PH" sz="4800" dirty="0"/>
              <a:t> – </a:t>
            </a:r>
            <a:r>
              <a:rPr lang="en-PH" sz="4800" b="1" dirty="0" err="1"/>
              <a:t>Pinadadali</a:t>
            </a:r>
            <a:r>
              <a:rPr lang="en-PH" sz="4800" b="1" dirty="0"/>
              <a:t> ang </a:t>
            </a:r>
            <a:r>
              <a:rPr lang="en-PH" sz="4800" b="1" dirty="0" err="1"/>
              <a:t>komunikasyon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pagitan</a:t>
            </a:r>
            <a:r>
              <a:rPr lang="en-PH" sz="4800" dirty="0"/>
              <a:t> ng </a:t>
            </a:r>
            <a:r>
              <a:rPr lang="en-PH" sz="4800" dirty="0" err="1"/>
              <a:t>guro</a:t>
            </a:r>
            <a:r>
              <a:rPr lang="en-PH" sz="4800" dirty="0"/>
              <a:t> at mag-</a:t>
            </a:r>
            <a:r>
              <a:rPr lang="en-PH" sz="4800" dirty="0" err="1"/>
              <a:t>aaral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loob</a:t>
            </a:r>
            <a:r>
              <a:rPr lang="en-PH" sz="4800" dirty="0"/>
              <a:t> ng </a:t>
            </a:r>
            <a:r>
              <a:rPr lang="en-PH" sz="4800" dirty="0" err="1"/>
              <a:t>klase</a:t>
            </a:r>
            <a:r>
              <a:rPr lang="en-PH" sz="4800" dirty="0"/>
              <a:t>.</a:t>
            </a:r>
          </a:p>
          <a:p>
            <a:pPr marL="914400" indent="-914400">
              <a:buFont typeface="+mj-lt"/>
              <a:buAutoNum type="arabicPeriod"/>
            </a:pPr>
            <a:r>
              <a:rPr lang="en-PH" sz="4800" b="1" dirty="0" err="1"/>
              <a:t>Pagbuti</a:t>
            </a:r>
            <a:r>
              <a:rPr lang="en-PH" sz="4800" b="1" dirty="0"/>
              <a:t> ng </a:t>
            </a:r>
            <a:r>
              <a:rPr lang="en-PH" sz="4800" b="1" dirty="0" err="1"/>
              <a:t>Pagsulat</a:t>
            </a:r>
            <a:r>
              <a:rPr lang="en-PH" sz="4800" b="1" dirty="0"/>
              <a:t> at Baybay</a:t>
            </a:r>
            <a:r>
              <a:rPr lang="en-PH" sz="4800" dirty="0"/>
              <a:t> – </a:t>
            </a:r>
            <a:r>
              <a:rPr lang="en-PH" sz="4800" b="1" dirty="0"/>
              <a:t>May auto-correct at built-in </a:t>
            </a:r>
            <a:r>
              <a:rPr lang="en-PH" sz="4800" b="1" dirty="0" err="1"/>
              <a:t>na</a:t>
            </a:r>
            <a:r>
              <a:rPr lang="en-PH" sz="4800" b="1" dirty="0"/>
              <a:t> </a:t>
            </a:r>
            <a:r>
              <a:rPr lang="en-PH" sz="4800" b="1" dirty="0" err="1"/>
              <a:t>diksyunaryo</a:t>
            </a:r>
            <a:r>
              <a:rPr lang="en-PH" sz="4800" dirty="0"/>
              <a:t> ang </a:t>
            </a:r>
            <a:r>
              <a:rPr lang="en-PH" sz="4800" dirty="0" err="1"/>
              <a:t>mga</a:t>
            </a:r>
            <a:r>
              <a:rPr lang="en-PH" sz="4800" dirty="0"/>
              <a:t> word application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tumutulong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tamang</a:t>
            </a:r>
            <a:r>
              <a:rPr lang="en-PH" sz="4800" dirty="0"/>
              <a:t> </a:t>
            </a:r>
            <a:r>
              <a:rPr lang="en-PH" sz="4800" dirty="0" err="1"/>
              <a:t>gramatika</a:t>
            </a:r>
            <a:r>
              <a:rPr lang="en-PH" sz="48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Teknolohiya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54299" y="7873147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455943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1301965"/>
            <a:ext cx="16217583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122596" y="2566598"/>
            <a:ext cx="14368517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800" b="1" dirty="0" err="1"/>
              <a:t>Kabutihan</a:t>
            </a:r>
            <a:r>
              <a:rPr lang="en-PH" sz="4800" b="1" dirty="0"/>
              <a:t> ng </a:t>
            </a:r>
            <a:r>
              <a:rPr lang="en-PH" sz="4800" b="1" dirty="0" err="1"/>
              <a:t>Teknolohiya</a:t>
            </a:r>
            <a:r>
              <a:rPr lang="en-PH" sz="4800" b="1" dirty="0"/>
              <a:t> </a:t>
            </a:r>
            <a:r>
              <a:rPr lang="en-PH" sz="4800" b="1" dirty="0" err="1"/>
              <a:t>sa</a:t>
            </a:r>
            <a:r>
              <a:rPr lang="en-PH" sz="4800" b="1" dirty="0"/>
              <a:t> </a:t>
            </a:r>
            <a:r>
              <a:rPr lang="en-PH" sz="4800" b="1" dirty="0" err="1"/>
              <a:t>Larangan</a:t>
            </a:r>
            <a:r>
              <a:rPr lang="en-PH" sz="4800" b="1" dirty="0"/>
              <a:t> ng </a:t>
            </a:r>
            <a:r>
              <a:rPr lang="en-PH" sz="4800" b="1" dirty="0" err="1"/>
              <a:t>Edukasyon</a:t>
            </a:r>
            <a:endParaRPr lang="en-PH" sz="4800" b="1" dirty="0"/>
          </a:p>
          <a:p>
            <a:pPr marL="914400" indent="-914400">
              <a:buFont typeface="+mj-lt"/>
              <a:buAutoNum type="arabicPeriod" startAt="4"/>
            </a:pPr>
            <a:r>
              <a:rPr lang="en-PH" sz="4800" b="1" dirty="0" err="1"/>
              <a:t>Pagpapadali</a:t>
            </a:r>
            <a:r>
              <a:rPr lang="en-PH" sz="4800" b="1" dirty="0"/>
              <a:t> ng </a:t>
            </a:r>
            <a:r>
              <a:rPr lang="en-PH" sz="4800" b="1" dirty="0" err="1"/>
              <a:t>Gawaing</a:t>
            </a:r>
            <a:r>
              <a:rPr lang="en-PH" sz="4800" b="1" dirty="0"/>
              <a:t> </a:t>
            </a:r>
            <a:r>
              <a:rPr lang="en-PH" sz="4800" b="1" dirty="0" err="1"/>
              <a:t>Pangkat</a:t>
            </a:r>
            <a:r>
              <a:rPr lang="en-PH" sz="4800" dirty="0"/>
              <a:t> – </a:t>
            </a:r>
            <a:r>
              <a:rPr lang="en-PH" sz="4800" b="1" dirty="0"/>
              <a:t>Mas </a:t>
            </a:r>
            <a:r>
              <a:rPr lang="en-PH" sz="4800" b="1" dirty="0" err="1"/>
              <a:t>madali</a:t>
            </a:r>
            <a:r>
              <a:rPr lang="en-PH" sz="4800" b="1" dirty="0"/>
              <a:t> ang </a:t>
            </a:r>
            <a:r>
              <a:rPr lang="en-PH" sz="4800" b="1" dirty="0" err="1"/>
              <a:t>talakayan</a:t>
            </a:r>
            <a:r>
              <a:rPr lang="en-PH" sz="4800" b="1" dirty="0"/>
              <a:t> </a:t>
            </a:r>
            <a:r>
              <a:rPr lang="en-PH" sz="4800" b="1" dirty="0" err="1"/>
              <a:t>sa</a:t>
            </a:r>
            <a:r>
              <a:rPr lang="en-PH" sz="4800" b="1" dirty="0"/>
              <a:t> </a:t>
            </a:r>
            <a:r>
              <a:rPr lang="en-PH" sz="4800" b="1" dirty="0" err="1"/>
              <a:t>mga</a:t>
            </a:r>
            <a:r>
              <a:rPr lang="en-PH" sz="4800" b="1" dirty="0"/>
              <a:t> chat group</a:t>
            </a:r>
            <a:r>
              <a:rPr lang="en-PH" sz="4800" dirty="0"/>
              <a:t> o Google sections para </a:t>
            </a:r>
            <a:r>
              <a:rPr lang="en-PH" sz="4800" dirty="0" err="1"/>
              <a:t>sa</a:t>
            </a:r>
            <a:r>
              <a:rPr lang="en-PH" sz="4800" dirty="0"/>
              <a:t> group projects.</a:t>
            </a:r>
          </a:p>
          <a:p>
            <a:pPr marL="914400" indent="-914400">
              <a:buFont typeface="+mj-lt"/>
              <a:buAutoNum type="arabicPeriod" startAt="4"/>
            </a:pPr>
            <a:r>
              <a:rPr lang="en-PH" sz="4800" b="1" dirty="0" err="1"/>
              <a:t>Paghahanda</a:t>
            </a:r>
            <a:r>
              <a:rPr lang="en-PH" sz="4800" b="1" dirty="0"/>
              <a:t> </a:t>
            </a:r>
            <a:r>
              <a:rPr lang="en-PH" sz="4800" b="1" dirty="0" err="1"/>
              <a:t>sa</a:t>
            </a:r>
            <a:r>
              <a:rPr lang="en-PH" sz="4800" b="1" dirty="0"/>
              <a:t> </a:t>
            </a:r>
            <a:r>
              <a:rPr lang="en-PH" sz="4800" b="1" dirty="0" err="1"/>
              <a:t>Trabaho</a:t>
            </a:r>
            <a:r>
              <a:rPr lang="en-PH" sz="4800" dirty="0"/>
              <a:t> – </a:t>
            </a:r>
            <a:r>
              <a:rPr lang="en-PH" sz="4800" b="1" dirty="0" err="1"/>
              <a:t>Inihahanda</a:t>
            </a:r>
            <a:r>
              <a:rPr lang="en-PH" sz="4800" b="1" dirty="0"/>
              <a:t> ang </a:t>
            </a:r>
            <a:r>
              <a:rPr lang="en-PH" sz="4800" b="1" dirty="0" err="1"/>
              <a:t>mga</a:t>
            </a:r>
            <a:r>
              <a:rPr lang="en-PH" sz="4800" b="1" dirty="0"/>
              <a:t> mag-</a:t>
            </a:r>
            <a:r>
              <a:rPr lang="en-PH" sz="4800" b="1" dirty="0" err="1"/>
              <a:t>aaral</a:t>
            </a:r>
            <a:r>
              <a:rPr lang="en-PH" sz="4800" b="1" dirty="0"/>
              <a:t> </a:t>
            </a:r>
            <a:r>
              <a:rPr lang="en-PH" sz="4800" b="1" dirty="0" err="1"/>
              <a:t>sa</a:t>
            </a:r>
            <a:r>
              <a:rPr lang="en-PH" sz="4800" b="1" dirty="0"/>
              <a:t> </a:t>
            </a:r>
            <a:r>
              <a:rPr lang="en-PH" sz="4800" b="1" dirty="0" err="1"/>
              <a:t>makabagong</a:t>
            </a:r>
            <a:r>
              <a:rPr lang="en-PH" sz="4800" b="1" dirty="0"/>
              <a:t> </a:t>
            </a:r>
            <a:r>
              <a:rPr lang="en-PH" sz="4800" b="1" dirty="0" err="1"/>
              <a:t>mundo</a:t>
            </a:r>
            <a:r>
              <a:rPr lang="en-PH" sz="4800" b="1" dirty="0"/>
              <a:t> ng </a:t>
            </a:r>
            <a:r>
              <a:rPr lang="en-PH" sz="4800" b="1" dirty="0" err="1"/>
              <a:t>trabaho</a:t>
            </a:r>
            <a:r>
              <a:rPr lang="en-PH" sz="4800" dirty="0"/>
              <a:t> </a:t>
            </a:r>
            <a:r>
              <a:rPr lang="en-PH" sz="4800" dirty="0" err="1"/>
              <a:t>gamit</a:t>
            </a:r>
            <a:r>
              <a:rPr lang="en-PH" sz="4800" dirty="0"/>
              <a:t> ang </a:t>
            </a:r>
            <a:r>
              <a:rPr lang="en-PH" sz="4800" dirty="0" err="1"/>
              <a:t>teknolohiya</a:t>
            </a:r>
            <a:r>
              <a:rPr lang="en-PH" sz="4800" dirty="0"/>
              <a:t>.</a:t>
            </a:r>
          </a:p>
          <a:p>
            <a:pPr marL="914400" indent="-914400">
              <a:buFont typeface="+mj-lt"/>
              <a:buAutoNum type="arabicPeriod" startAt="4"/>
            </a:pPr>
            <a:r>
              <a:rPr lang="en-PH" sz="4800" b="1" dirty="0" err="1"/>
              <a:t>Pagpapagaan</a:t>
            </a:r>
            <a:r>
              <a:rPr lang="en-PH" sz="4800" b="1" dirty="0"/>
              <a:t> ng </a:t>
            </a:r>
            <a:r>
              <a:rPr lang="en-PH" sz="4800" b="1" dirty="0" err="1"/>
              <a:t>Trabaho</a:t>
            </a:r>
            <a:r>
              <a:rPr lang="en-PH" sz="4800" b="1" dirty="0"/>
              <a:t> ng </a:t>
            </a:r>
            <a:r>
              <a:rPr lang="en-PH" sz="4800" b="1" dirty="0" err="1"/>
              <a:t>Guro</a:t>
            </a:r>
            <a:r>
              <a:rPr lang="en-PH" sz="4800" dirty="0"/>
              <a:t> – </a:t>
            </a:r>
            <a:r>
              <a:rPr lang="en-PH" sz="4800" b="1" dirty="0" err="1"/>
              <a:t>Nagiging</a:t>
            </a:r>
            <a:r>
              <a:rPr lang="en-PH" sz="4800" b="1" dirty="0"/>
              <a:t> mas </a:t>
            </a:r>
            <a:r>
              <a:rPr lang="en-PH" sz="4800" b="1" dirty="0" err="1"/>
              <a:t>madali</a:t>
            </a:r>
            <a:r>
              <a:rPr lang="en-PH" sz="4800" b="1" dirty="0"/>
              <a:t> ang </a:t>
            </a:r>
            <a:r>
              <a:rPr lang="en-PH" sz="4800" b="1" dirty="0" err="1"/>
              <a:t>pagtuturo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pamamagitan</a:t>
            </a:r>
            <a:r>
              <a:rPr lang="en-PH" sz="4800" dirty="0"/>
              <a:t> ng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makabagong</a:t>
            </a:r>
            <a:r>
              <a:rPr lang="en-PH" sz="4800" dirty="0"/>
              <a:t> </a:t>
            </a:r>
            <a:r>
              <a:rPr lang="en-PH" sz="4800" dirty="0" err="1"/>
              <a:t>kagamitan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edukasyon</a:t>
            </a:r>
            <a:r>
              <a:rPr lang="en-PH" sz="48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Teknolohiya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54299" y="7873147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438576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1301965"/>
            <a:ext cx="16217583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122596" y="2566598"/>
            <a:ext cx="14368517" cy="7325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400" b="1" dirty="0" err="1"/>
              <a:t>Negatibong</a:t>
            </a:r>
            <a:r>
              <a:rPr lang="en-PH" sz="4400" b="1" dirty="0"/>
              <a:t> </a:t>
            </a:r>
            <a:r>
              <a:rPr lang="en-PH" sz="4400" b="1" dirty="0" err="1"/>
              <a:t>Dulot</a:t>
            </a:r>
            <a:r>
              <a:rPr lang="en-PH" sz="4400" b="1" dirty="0"/>
              <a:t> ng </a:t>
            </a:r>
            <a:r>
              <a:rPr lang="en-PH" sz="4400" b="1" dirty="0" err="1"/>
              <a:t>Teknolohiya</a:t>
            </a:r>
            <a:r>
              <a:rPr lang="en-PH" sz="4400" b="1" dirty="0"/>
              <a:t> </a:t>
            </a:r>
            <a:r>
              <a:rPr lang="en-PH" sz="4400" b="1" dirty="0" err="1"/>
              <a:t>sa</a:t>
            </a:r>
            <a:r>
              <a:rPr lang="en-PH" sz="4400" b="1" dirty="0"/>
              <a:t> </a:t>
            </a:r>
            <a:r>
              <a:rPr lang="en-PH" sz="4400" b="1" dirty="0" err="1"/>
              <a:t>Larangan</a:t>
            </a:r>
            <a:r>
              <a:rPr lang="en-PH" sz="4400" b="1" dirty="0"/>
              <a:t> ng </a:t>
            </a:r>
            <a:r>
              <a:rPr lang="en-PH" sz="4400" b="1" dirty="0" err="1"/>
              <a:t>Edukasyon</a:t>
            </a:r>
            <a:endParaRPr lang="en-PH" sz="4400" b="1" dirty="0"/>
          </a:p>
          <a:p>
            <a:pPr marL="742950" indent="-742950">
              <a:buFont typeface="+mj-lt"/>
              <a:buAutoNum type="arabicPeriod"/>
            </a:pPr>
            <a:r>
              <a:rPr lang="en-PH" sz="4800" dirty="0"/>
              <a:t>Mahal ang </a:t>
            </a:r>
            <a:r>
              <a:rPr lang="en-PH" sz="4800" dirty="0" err="1"/>
              <a:t>Gastos</a:t>
            </a:r>
            <a:r>
              <a:rPr lang="en-PH" sz="4800" dirty="0"/>
              <a:t> – Hindi lahat ng </a:t>
            </a:r>
            <a:r>
              <a:rPr lang="en-PH" sz="4800" dirty="0" err="1"/>
              <a:t>paaralan</a:t>
            </a:r>
            <a:r>
              <a:rPr lang="en-PH" sz="4800" dirty="0"/>
              <a:t> ay may </a:t>
            </a:r>
            <a:r>
              <a:rPr lang="en-PH" sz="4800" dirty="0" err="1"/>
              <a:t>kakayahang</a:t>
            </a:r>
            <a:r>
              <a:rPr lang="en-PH" sz="4800" dirty="0"/>
              <a:t> </a:t>
            </a:r>
            <a:r>
              <a:rPr lang="en-PH" sz="4800" dirty="0" err="1"/>
              <a:t>bumili</a:t>
            </a:r>
            <a:r>
              <a:rPr lang="en-PH" sz="4800" dirty="0"/>
              <a:t> ng </a:t>
            </a:r>
            <a:r>
              <a:rPr lang="en-PH" sz="4800" dirty="0" err="1"/>
              <a:t>teknolohiya</a:t>
            </a:r>
            <a:r>
              <a:rPr lang="en-PH" sz="4800" dirty="0"/>
              <a:t> para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bawat</a:t>
            </a:r>
            <a:r>
              <a:rPr lang="en-PH" sz="4800" dirty="0"/>
              <a:t> mag-</a:t>
            </a:r>
            <a:r>
              <a:rPr lang="en-PH" sz="4800" dirty="0" err="1"/>
              <a:t>aaral</a:t>
            </a:r>
            <a:r>
              <a:rPr lang="en-PH" sz="4800" dirty="0"/>
              <a:t>.</a:t>
            </a:r>
          </a:p>
          <a:p>
            <a:pPr marL="742950" indent="-742950">
              <a:buFont typeface="+mj-lt"/>
              <a:buAutoNum type="arabicPeriod"/>
            </a:pPr>
            <a:r>
              <a:rPr lang="en-PH" sz="4800" dirty="0" err="1"/>
              <a:t>Panggulo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Pag-</a:t>
            </a:r>
            <a:r>
              <a:rPr lang="en-PH" sz="4800" dirty="0" err="1"/>
              <a:t>aaral</a:t>
            </a:r>
            <a:r>
              <a:rPr lang="en-PH" sz="4800" dirty="0"/>
              <a:t> – </a:t>
            </a:r>
            <a:r>
              <a:rPr lang="en-PH" sz="4800" dirty="0" err="1"/>
              <a:t>Maaaring</a:t>
            </a:r>
            <a:r>
              <a:rPr lang="en-PH" sz="4800" dirty="0"/>
              <a:t> </a:t>
            </a:r>
            <a:r>
              <a:rPr lang="en-PH" sz="4800" dirty="0" err="1"/>
              <a:t>maka</a:t>
            </a:r>
            <a:r>
              <a:rPr lang="en-PH" sz="4800" dirty="0"/>
              <a:t>-distract ang </a:t>
            </a:r>
            <a:r>
              <a:rPr lang="en-PH" sz="4800" dirty="0" err="1"/>
              <a:t>mga</a:t>
            </a:r>
            <a:r>
              <a:rPr lang="en-PH" sz="4800" dirty="0"/>
              <a:t> social media apps </a:t>
            </a:r>
            <a:r>
              <a:rPr lang="en-PH" sz="4800" dirty="0" err="1"/>
              <a:t>tulad</a:t>
            </a:r>
            <a:r>
              <a:rPr lang="en-PH" sz="4800" dirty="0"/>
              <a:t> ng Facebook, YouTube, at Twitter.</a:t>
            </a:r>
          </a:p>
          <a:p>
            <a:pPr marL="742950" indent="-742950">
              <a:buFont typeface="+mj-lt"/>
              <a:buAutoNum type="arabicPeriod"/>
            </a:pPr>
            <a:r>
              <a:rPr lang="en-PH" sz="4800" dirty="0" err="1"/>
              <a:t>Kailangang</a:t>
            </a:r>
            <a:r>
              <a:rPr lang="en-PH" sz="4800" dirty="0"/>
              <a:t> </a:t>
            </a:r>
            <a:r>
              <a:rPr lang="en-PH" sz="4800" dirty="0" err="1"/>
              <a:t>Sanayin</a:t>
            </a:r>
            <a:r>
              <a:rPr lang="en-PH" sz="4800" dirty="0"/>
              <a:t> – </a:t>
            </a:r>
            <a:r>
              <a:rPr lang="en-PH" sz="4800" dirty="0" err="1"/>
              <a:t>Nangangailangan</a:t>
            </a:r>
            <a:r>
              <a:rPr lang="en-PH" sz="4800" dirty="0"/>
              <a:t> ng </a:t>
            </a:r>
            <a:r>
              <a:rPr lang="en-PH" sz="4800" dirty="0" err="1"/>
              <a:t>kasanayan</a:t>
            </a:r>
            <a:r>
              <a:rPr lang="en-PH" sz="4800" dirty="0"/>
              <a:t> ang </a:t>
            </a:r>
            <a:r>
              <a:rPr lang="en-PH" sz="4800" dirty="0" err="1"/>
              <a:t>paggamit</a:t>
            </a:r>
            <a:r>
              <a:rPr lang="en-PH" sz="4800" dirty="0"/>
              <a:t> ng </a:t>
            </a:r>
            <a:r>
              <a:rPr lang="en-PH" sz="4800" dirty="0" err="1"/>
              <a:t>teknolohiya</a:t>
            </a:r>
            <a:r>
              <a:rPr lang="en-PH" sz="4800" dirty="0"/>
              <a:t> para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parehong</a:t>
            </a:r>
            <a:r>
              <a:rPr lang="en-PH" sz="4800" dirty="0"/>
              <a:t> </a:t>
            </a:r>
            <a:r>
              <a:rPr lang="en-PH" sz="4800" dirty="0" err="1"/>
              <a:t>guro</a:t>
            </a:r>
            <a:r>
              <a:rPr lang="en-PH" sz="4800" dirty="0"/>
              <a:t> at mag-</a:t>
            </a:r>
            <a:r>
              <a:rPr lang="en-PH" sz="4800" dirty="0" err="1"/>
              <a:t>aaral</a:t>
            </a:r>
            <a:r>
              <a:rPr lang="en-PH" sz="48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Teknolohiya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54299" y="7873147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48043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1301965"/>
            <a:ext cx="16217583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122596" y="2566598"/>
            <a:ext cx="14368517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400" b="1" dirty="0" err="1"/>
              <a:t>Paggamit</a:t>
            </a:r>
            <a:r>
              <a:rPr lang="en-PH" sz="4400" b="1" dirty="0"/>
              <a:t> ng </a:t>
            </a:r>
            <a:r>
              <a:rPr lang="en-PH" sz="4400" b="1" dirty="0" err="1"/>
              <a:t>Teknolohiya</a:t>
            </a:r>
            <a:r>
              <a:rPr lang="en-PH" sz="4400" b="1" dirty="0"/>
              <a:t> </a:t>
            </a:r>
            <a:r>
              <a:rPr lang="en-PH" sz="4400" b="1" dirty="0" err="1"/>
              <a:t>Upang</a:t>
            </a:r>
            <a:r>
              <a:rPr lang="en-PH" sz="4400" b="1" dirty="0"/>
              <a:t> </a:t>
            </a:r>
            <a:r>
              <a:rPr lang="en-PH" sz="4400" b="1" dirty="0" err="1"/>
              <a:t>Sagutin</a:t>
            </a:r>
            <a:r>
              <a:rPr lang="en-PH" sz="4400" b="1" dirty="0"/>
              <a:t> ang Isang </a:t>
            </a:r>
            <a:r>
              <a:rPr lang="en-PH" sz="4400" b="1" dirty="0" err="1"/>
              <a:t>Usapin</a:t>
            </a:r>
            <a:endParaRPr lang="en-PH" sz="4400" b="1" dirty="0"/>
          </a:p>
          <a:p>
            <a:pPr>
              <a:buFont typeface="+mj-lt"/>
              <a:buAutoNum type="arabicPeriod"/>
            </a:pPr>
            <a:r>
              <a:rPr lang="en-PH" sz="4400" dirty="0" err="1"/>
              <a:t>Pagtukoy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Suliranin</a:t>
            </a:r>
            <a:r>
              <a:rPr lang="en-PH" sz="4400" dirty="0"/>
              <a:t> – </a:t>
            </a:r>
            <a:r>
              <a:rPr lang="en-PH" sz="4400" dirty="0" err="1"/>
              <a:t>Unawain</a:t>
            </a:r>
            <a:r>
              <a:rPr lang="en-PH" sz="4400" dirty="0"/>
              <a:t> ang </a:t>
            </a:r>
            <a:r>
              <a:rPr lang="en-PH" sz="4400" dirty="0" err="1"/>
              <a:t>problema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pamamagitan</a:t>
            </a:r>
            <a:r>
              <a:rPr lang="en-PH" sz="4400" dirty="0"/>
              <a:t> ng </a:t>
            </a:r>
            <a:r>
              <a:rPr lang="en-PH" sz="4400" dirty="0" err="1"/>
              <a:t>obserbasyon</a:t>
            </a:r>
            <a:r>
              <a:rPr lang="en-PH" sz="4400" dirty="0"/>
              <a:t>.</a:t>
            </a:r>
          </a:p>
          <a:p>
            <a:pPr>
              <a:buFont typeface="+mj-lt"/>
              <a:buAutoNum type="arabicPeriod"/>
            </a:pPr>
            <a:r>
              <a:rPr lang="en-PH" sz="4400" dirty="0" err="1"/>
              <a:t>Pagbuo</a:t>
            </a:r>
            <a:r>
              <a:rPr lang="en-PH" sz="4400" dirty="0"/>
              <a:t> ng Plano – </a:t>
            </a:r>
            <a:r>
              <a:rPr lang="en-PH" sz="4400" dirty="0" err="1"/>
              <a:t>Gumawa</a:t>
            </a:r>
            <a:r>
              <a:rPr lang="en-PH" sz="4400" dirty="0"/>
              <a:t> ng </a:t>
            </a:r>
            <a:r>
              <a:rPr lang="en-PH" sz="4400" dirty="0" err="1"/>
              <a:t>stratehiya</a:t>
            </a:r>
            <a:r>
              <a:rPr lang="en-PH" sz="4400" dirty="0"/>
              <a:t> kung </a:t>
            </a:r>
            <a:r>
              <a:rPr lang="en-PH" sz="4400" dirty="0" err="1"/>
              <a:t>paano</a:t>
            </a:r>
            <a:r>
              <a:rPr lang="en-PH" sz="4400" dirty="0"/>
              <a:t> </a:t>
            </a:r>
            <a:r>
              <a:rPr lang="en-PH" sz="4400" dirty="0" err="1"/>
              <a:t>sosolusyunan</a:t>
            </a:r>
            <a:r>
              <a:rPr lang="en-PH" sz="4400" dirty="0"/>
              <a:t> ang </a:t>
            </a:r>
            <a:r>
              <a:rPr lang="en-PH" sz="4400" dirty="0" err="1"/>
              <a:t>problema</a:t>
            </a:r>
            <a:r>
              <a:rPr lang="en-PH" sz="4400" dirty="0"/>
              <a:t>.</a:t>
            </a:r>
          </a:p>
          <a:p>
            <a:pPr>
              <a:buFont typeface="+mj-lt"/>
              <a:buAutoNum type="arabicPeriod"/>
            </a:pPr>
            <a:r>
              <a:rPr lang="en-PH" sz="4400" dirty="0" err="1"/>
              <a:t>Pagpapatupad</a:t>
            </a:r>
            <a:r>
              <a:rPr lang="en-PH" sz="4400" dirty="0"/>
              <a:t> ng Plano – </a:t>
            </a:r>
            <a:r>
              <a:rPr lang="en-PH" sz="4400" dirty="0" err="1"/>
              <a:t>Ipatupad</a:t>
            </a:r>
            <a:r>
              <a:rPr lang="en-PH" sz="4400" dirty="0"/>
              <a:t> ang </a:t>
            </a:r>
            <a:r>
              <a:rPr lang="en-PH" sz="4400" dirty="0" err="1"/>
              <a:t>solusyon</a:t>
            </a:r>
            <a:r>
              <a:rPr lang="en-PH" sz="4400" dirty="0"/>
              <a:t> </a:t>
            </a:r>
            <a:r>
              <a:rPr lang="en-PH" sz="4400" dirty="0" err="1"/>
              <a:t>gamit</a:t>
            </a:r>
            <a:r>
              <a:rPr lang="en-PH" sz="4400" dirty="0"/>
              <a:t> ang </a:t>
            </a:r>
            <a:r>
              <a:rPr lang="en-PH" sz="4400" dirty="0" err="1"/>
              <a:t>angkop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teknolohiya</a:t>
            </a:r>
            <a:r>
              <a:rPr lang="en-PH" sz="4400" dirty="0"/>
              <a:t>.</a:t>
            </a:r>
          </a:p>
          <a:p>
            <a:pPr>
              <a:buFont typeface="+mj-lt"/>
              <a:buAutoNum type="arabicPeriod"/>
            </a:pPr>
            <a:r>
              <a:rPr lang="en-PH" sz="4400" dirty="0" err="1"/>
              <a:t>Pagsusuri</a:t>
            </a:r>
            <a:r>
              <a:rPr lang="en-PH" sz="4400" dirty="0"/>
              <a:t> ng </a:t>
            </a:r>
            <a:r>
              <a:rPr lang="en-PH" sz="4400" dirty="0" err="1"/>
              <a:t>Resulta</a:t>
            </a:r>
            <a:r>
              <a:rPr lang="en-PH" sz="4400" dirty="0"/>
              <a:t> – </a:t>
            </a:r>
            <a:r>
              <a:rPr lang="en-PH" sz="4400" dirty="0" err="1"/>
              <a:t>Suriin</a:t>
            </a:r>
            <a:r>
              <a:rPr lang="en-PH" sz="4400" dirty="0"/>
              <a:t> ang </a:t>
            </a:r>
            <a:r>
              <a:rPr lang="en-PH" sz="4400" dirty="0" err="1"/>
              <a:t>epekto</a:t>
            </a:r>
            <a:r>
              <a:rPr lang="en-PH" sz="4400" dirty="0"/>
              <a:t> ng </a:t>
            </a:r>
            <a:r>
              <a:rPr lang="en-PH" sz="4400" dirty="0" err="1"/>
              <a:t>implementasyon</a:t>
            </a:r>
            <a:r>
              <a:rPr lang="en-PH" sz="4400" dirty="0"/>
              <a:t> </a:t>
            </a:r>
            <a:r>
              <a:rPr lang="en-PH" sz="4400" dirty="0" err="1"/>
              <a:t>upang</a:t>
            </a:r>
            <a:r>
              <a:rPr lang="en-PH" sz="4400" dirty="0"/>
              <a:t> </a:t>
            </a:r>
            <a:r>
              <a:rPr lang="en-PH" sz="4400" dirty="0" err="1"/>
              <a:t>matiyak</a:t>
            </a:r>
            <a:r>
              <a:rPr lang="en-PH" sz="4400" dirty="0"/>
              <a:t> ang </a:t>
            </a:r>
            <a:r>
              <a:rPr lang="en-PH" sz="4400" dirty="0" err="1"/>
              <a:t>pagiging</a:t>
            </a:r>
            <a:r>
              <a:rPr lang="en-PH" sz="4400" dirty="0"/>
              <a:t> </a:t>
            </a:r>
            <a:r>
              <a:rPr lang="en-PH" sz="4400" dirty="0" err="1"/>
              <a:t>epektibo</a:t>
            </a:r>
            <a:r>
              <a:rPr lang="en-PH" sz="4400" dirty="0"/>
              <a:t> ng </a:t>
            </a:r>
            <a:r>
              <a:rPr lang="en-PH" sz="4400" dirty="0" err="1"/>
              <a:t>solusyon</a:t>
            </a:r>
            <a:r>
              <a:rPr lang="en-PH" sz="44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Teknolohiya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54299" y="7873147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871473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1301965"/>
            <a:ext cx="16217583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122596" y="2566598"/>
            <a:ext cx="14368517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800" b="1" dirty="0"/>
              <a:t>Mga </a:t>
            </a:r>
            <a:r>
              <a:rPr lang="en-PH" sz="4800" b="1" dirty="0" err="1"/>
              <a:t>Teorya</a:t>
            </a:r>
            <a:r>
              <a:rPr lang="en-PH" sz="4800" b="1" dirty="0"/>
              <a:t> </a:t>
            </a:r>
            <a:r>
              <a:rPr lang="en-PH" sz="4800" b="1" dirty="0" err="1"/>
              <a:t>na</a:t>
            </a:r>
            <a:r>
              <a:rPr lang="en-PH" sz="4800" b="1" dirty="0"/>
              <a:t> may </a:t>
            </a:r>
            <a:r>
              <a:rPr lang="en-PH" sz="4800" b="1" dirty="0" err="1"/>
              <a:t>Kaugnayan</a:t>
            </a:r>
            <a:r>
              <a:rPr lang="en-PH" sz="4800" b="1" dirty="0"/>
              <a:t> </a:t>
            </a:r>
            <a:r>
              <a:rPr lang="en-PH" sz="4800" b="1" dirty="0" err="1"/>
              <a:t>sa</a:t>
            </a:r>
            <a:r>
              <a:rPr lang="en-PH" sz="4800" b="1" dirty="0"/>
              <a:t> </a:t>
            </a:r>
            <a:r>
              <a:rPr lang="en-PH" sz="4800" b="1" dirty="0" err="1"/>
              <a:t>Teknolohiya</a:t>
            </a:r>
            <a:endParaRPr lang="en-PH" sz="4800" b="1" dirty="0"/>
          </a:p>
          <a:p>
            <a:pPr>
              <a:buFont typeface="+mj-lt"/>
              <a:buAutoNum type="arabicPeriod"/>
            </a:pPr>
            <a:r>
              <a:rPr lang="en-PH" sz="4800" dirty="0" err="1"/>
              <a:t>Deskriptibong</a:t>
            </a:r>
            <a:r>
              <a:rPr lang="en-PH" sz="4800" dirty="0"/>
              <a:t> </a:t>
            </a:r>
            <a:r>
              <a:rPr lang="en-PH" sz="4800" dirty="0" err="1"/>
              <a:t>Teorya</a:t>
            </a:r>
            <a:r>
              <a:rPr lang="en-PH" sz="4800" dirty="0"/>
              <a:t> – </a:t>
            </a:r>
            <a:r>
              <a:rPr lang="en-PH" sz="4800" dirty="0" err="1"/>
              <a:t>Tinutukoy</a:t>
            </a:r>
            <a:r>
              <a:rPr lang="en-PH" sz="4800" dirty="0"/>
              <a:t> ang </a:t>
            </a:r>
            <a:r>
              <a:rPr lang="en-PH" sz="4800" dirty="0" err="1"/>
              <a:t>kahulugan</a:t>
            </a:r>
            <a:r>
              <a:rPr lang="en-PH" sz="4800" dirty="0"/>
              <a:t> at </a:t>
            </a:r>
            <a:r>
              <a:rPr lang="en-PH" sz="4800" dirty="0" err="1"/>
              <a:t>kabuluhan</a:t>
            </a:r>
            <a:r>
              <a:rPr lang="en-PH" sz="4800" dirty="0"/>
              <a:t> ng </a:t>
            </a:r>
            <a:r>
              <a:rPr lang="en-PH" sz="4800" dirty="0" err="1"/>
              <a:t>teknolohiya</a:t>
            </a:r>
            <a:r>
              <a:rPr lang="en-PH" sz="4800" dirty="0"/>
              <a:t>, kung </a:t>
            </a:r>
            <a:r>
              <a:rPr lang="en-PH" sz="4800" dirty="0" err="1"/>
              <a:t>paano</a:t>
            </a:r>
            <a:r>
              <a:rPr lang="en-PH" sz="4800" dirty="0"/>
              <a:t> </a:t>
            </a:r>
            <a:r>
              <a:rPr lang="en-PH" sz="4800" dirty="0" err="1"/>
              <a:t>ito</a:t>
            </a:r>
            <a:r>
              <a:rPr lang="en-PH" sz="4800" dirty="0"/>
              <a:t> </a:t>
            </a:r>
            <a:r>
              <a:rPr lang="en-PH" sz="4800" dirty="0" err="1"/>
              <a:t>umunlad</a:t>
            </a:r>
            <a:r>
              <a:rPr lang="en-PH" sz="4800" dirty="0"/>
              <a:t>, at ang </a:t>
            </a:r>
            <a:r>
              <a:rPr lang="en-PH" sz="4800" dirty="0" err="1"/>
              <a:t>epekto</a:t>
            </a:r>
            <a:r>
              <a:rPr lang="en-PH" sz="4800" dirty="0"/>
              <a:t> </a:t>
            </a:r>
            <a:r>
              <a:rPr lang="en-PH" sz="4800" dirty="0" err="1"/>
              <a:t>nito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tao</a:t>
            </a:r>
            <a:r>
              <a:rPr lang="en-PH" sz="4800" dirty="0"/>
              <a:t> at </a:t>
            </a:r>
            <a:r>
              <a:rPr lang="en-PH" sz="4800" dirty="0" err="1"/>
              <a:t>lipunan</a:t>
            </a:r>
            <a:r>
              <a:rPr lang="en-PH" sz="4800" dirty="0"/>
              <a:t>.</a:t>
            </a:r>
          </a:p>
          <a:p>
            <a:pPr>
              <a:buFont typeface="+mj-lt"/>
              <a:buAutoNum type="arabicPeriod"/>
            </a:pPr>
            <a:r>
              <a:rPr lang="en-PH" sz="4800" dirty="0" err="1"/>
              <a:t>Kritikal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Teorya</a:t>
            </a:r>
            <a:r>
              <a:rPr lang="en-PH" sz="4800" dirty="0"/>
              <a:t> – </a:t>
            </a:r>
            <a:r>
              <a:rPr lang="en-PH" sz="4800" dirty="0" err="1"/>
              <a:t>Sinusuri</a:t>
            </a:r>
            <a:r>
              <a:rPr lang="en-PH" sz="4800" dirty="0"/>
              <a:t> ang </a:t>
            </a:r>
            <a:r>
              <a:rPr lang="en-PH" sz="4800" dirty="0" err="1"/>
              <a:t>ugnayan</a:t>
            </a:r>
            <a:r>
              <a:rPr lang="en-PH" sz="4800" dirty="0"/>
              <a:t> ng </a:t>
            </a:r>
            <a:r>
              <a:rPr lang="en-PH" sz="4800" dirty="0" err="1"/>
              <a:t>teknolohiya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lipunan</a:t>
            </a:r>
            <a:r>
              <a:rPr lang="en-PH" sz="4800" dirty="0"/>
              <a:t> at kung </a:t>
            </a:r>
            <a:r>
              <a:rPr lang="en-PH" sz="4800" dirty="0" err="1"/>
              <a:t>paano</a:t>
            </a:r>
            <a:r>
              <a:rPr lang="en-PH" sz="4800" dirty="0"/>
              <a:t> </a:t>
            </a:r>
            <a:r>
              <a:rPr lang="en-PH" sz="4800" dirty="0" err="1"/>
              <a:t>ito</a:t>
            </a:r>
            <a:r>
              <a:rPr lang="en-PH" sz="4800" dirty="0"/>
              <a:t> </a:t>
            </a:r>
            <a:r>
              <a:rPr lang="en-PH" sz="4800" dirty="0" err="1"/>
              <a:t>maaaring</a:t>
            </a:r>
            <a:r>
              <a:rPr lang="en-PH" sz="4800" dirty="0"/>
              <a:t> </a:t>
            </a:r>
            <a:r>
              <a:rPr lang="en-PH" sz="4800" dirty="0" err="1"/>
              <a:t>baguhin</a:t>
            </a:r>
            <a:r>
              <a:rPr lang="en-PH" sz="4800" dirty="0"/>
              <a:t> para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kabutihan</a:t>
            </a:r>
            <a:r>
              <a:rPr lang="en-PH" sz="4800" dirty="0"/>
              <a:t> ng </a:t>
            </a:r>
            <a:r>
              <a:rPr lang="en-PH" sz="4800" dirty="0" err="1"/>
              <a:t>tao</a:t>
            </a:r>
            <a:r>
              <a:rPr lang="en-PH" sz="48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62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Larangan</a:t>
            </a:r>
            <a:r>
              <a:rPr lang="en-PH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ng </a:t>
            </a:r>
            <a:r>
              <a:rPr lang="en-PH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Teknolohiya</a:t>
            </a:r>
            <a:endParaRPr lang="en-PH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54299" y="7873147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885135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1301965"/>
            <a:ext cx="16217583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122596" y="2566598"/>
            <a:ext cx="14368517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3200" b="1" dirty="0"/>
              <a:t>Mga </a:t>
            </a:r>
            <a:r>
              <a:rPr lang="en-PH" sz="3200" b="1" dirty="0" err="1"/>
              <a:t>Dulog</a:t>
            </a:r>
            <a:r>
              <a:rPr lang="en-PH" sz="3200" b="1" dirty="0"/>
              <a:t> </a:t>
            </a:r>
            <a:r>
              <a:rPr lang="en-PH" sz="3200" b="1" dirty="0" err="1"/>
              <a:t>Deskriptibo</a:t>
            </a:r>
            <a:r>
              <a:rPr lang="en-PH" sz="3200" b="1" dirty="0"/>
              <a:t> (Descriptive Approaches)</a:t>
            </a:r>
          </a:p>
          <a:p>
            <a:pPr marL="514350" indent="-514350">
              <a:buFont typeface="+mj-lt"/>
              <a:buAutoNum type="arabicPeriod"/>
            </a:pPr>
            <a:r>
              <a:rPr lang="en-PH" sz="3200" b="1" dirty="0" err="1"/>
              <a:t>Panlipunang</a:t>
            </a:r>
            <a:r>
              <a:rPr lang="en-PH" sz="3200" b="1" dirty="0"/>
              <a:t> </a:t>
            </a:r>
            <a:r>
              <a:rPr lang="en-PH" sz="3200" b="1" dirty="0" err="1"/>
              <a:t>Pagbuo</a:t>
            </a:r>
            <a:r>
              <a:rPr lang="en-PH" sz="3200" b="1" dirty="0"/>
              <a:t> ng </a:t>
            </a:r>
            <a:r>
              <a:rPr lang="en-PH" sz="3200" b="1" dirty="0" err="1"/>
              <a:t>Teknolohiya</a:t>
            </a:r>
            <a:r>
              <a:rPr lang="en-PH" sz="3200" b="1" dirty="0"/>
              <a:t> (SCOT)</a:t>
            </a:r>
            <a:r>
              <a:rPr lang="en-PH" sz="3200" dirty="0"/>
              <a:t> – Hindi </a:t>
            </a:r>
            <a:r>
              <a:rPr lang="en-PH" sz="3200" dirty="0" err="1"/>
              <a:t>teknolohiya</a:t>
            </a:r>
            <a:r>
              <a:rPr lang="en-PH" sz="3200" dirty="0"/>
              <a:t> ang </a:t>
            </a:r>
            <a:r>
              <a:rPr lang="en-PH" sz="3200" dirty="0" err="1"/>
              <a:t>humuhubog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kilos ng </a:t>
            </a:r>
            <a:r>
              <a:rPr lang="en-PH" sz="3200" dirty="0" err="1"/>
              <a:t>tao</a:t>
            </a:r>
            <a:r>
              <a:rPr lang="en-PH" sz="3200" dirty="0"/>
              <a:t> </a:t>
            </a:r>
            <a:r>
              <a:rPr lang="en-PH" sz="3200" dirty="0" err="1"/>
              <a:t>kundi</a:t>
            </a:r>
            <a:r>
              <a:rPr lang="en-PH" sz="3200" dirty="0"/>
              <a:t> </a:t>
            </a:r>
            <a:r>
              <a:rPr lang="en-PH" sz="3200" dirty="0" err="1"/>
              <a:t>tao</a:t>
            </a:r>
            <a:r>
              <a:rPr lang="en-PH" sz="3200" dirty="0"/>
              <a:t> ang </a:t>
            </a:r>
            <a:r>
              <a:rPr lang="en-PH" sz="3200" dirty="0" err="1"/>
              <a:t>bumubuo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teknolohiya</a:t>
            </a:r>
            <a:r>
              <a:rPr lang="en-PH" sz="3200" dirty="0"/>
              <a:t>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PH" sz="3200" i="1" dirty="0"/>
              <a:t>Interpretative flexibility</a:t>
            </a:r>
            <a:r>
              <a:rPr lang="en-PH" sz="3200" dirty="0"/>
              <a:t> – </a:t>
            </a:r>
            <a:r>
              <a:rPr lang="en-PH" sz="3200" dirty="0" err="1"/>
              <a:t>Iba-iba</a:t>
            </a:r>
            <a:r>
              <a:rPr lang="en-PH" sz="3200" dirty="0"/>
              <a:t> ang </a:t>
            </a:r>
            <a:r>
              <a:rPr lang="en-PH" sz="3200" dirty="0" err="1"/>
              <a:t>interpretasyon</a:t>
            </a:r>
            <a:r>
              <a:rPr lang="en-PH" sz="3200" dirty="0"/>
              <a:t> at </a:t>
            </a:r>
            <a:r>
              <a:rPr lang="en-PH" sz="3200" dirty="0" err="1"/>
              <a:t>disenyo</a:t>
            </a:r>
            <a:r>
              <a:rPr lang="en-PH" sz="3200" dirty="0"/>
              <a:t> ng </a:t>
            </a:r>
            <a:r>
              <a:rPr lang="en-PH" sz="3200" dirty="0" err="1"/>
              <a:t>isang</a:t>
            </a:r>
            <a:r>
              <a:rPr lang="en-PH" sz="3200" dirty="0"/>
              <a:t> artifact.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PH" sz="3200" i="1" dirty="0"/>
              <a:t>Relevant social group</a:t>
            </a:r>
            <a:r>
              <a:rPr lang="en-PH" sz="3200" dirty="0"/>
              <a:t> – </a:t>
            </a:r>
            <a:r>
              <a:rPr lang="en-PH" sz="3200" dirty="0" err="1"/>
              <a:t>Pangkat</a:t>
            </a:r>
            <a:r>
              <a:rPr lang="en-PH" sz="3200" dirty="0"/>
              <a:t> ng </a:t>
            </a:r>
            <a:r>
              <a:rPr lang="en-PH" sz="3200" dirty="0" err="1"/>
              <a:t>tao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may </a:t>
            </a:r>
            <a:r>
              <a:rPr lang="en-PH" sz="3200" dirty="0" err="1"/>
              <a:t>parehong</a:t>
            </a:r>
            <a:r>
              <a:rPr lang="en-PH" sz="3200" dirty="0"/>
              <a:t> </a:t>
            </a:r>
            <a:r>
              <a:rPr lang="en-PH" sz="3200" dirty="0" err="1"/>
              <a:t>pananaw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isang</a:t>
            </a:r>
            <a:r>
              <a:rPr lang="en-PH" sz="3200" dirty="0"/>
              <a:t> artifact.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PH" sz="3200" i="1" dirty="0"/>
              <a:t>Closure and stabilization</a:t>
            </a:r>
            <a:r>
              <a:rPr lang="en-PH" sz="3200" dirty="0"/>
              <a:t> – </a:t>
            </a:r>
            <a:r>
              <a:rPr lang="en-PH" sz="3200" dirty="0" err="1"/>
              <a:t>Pagkakasundo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grupo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paggamit</a:t>
            </a:r>
            <a:r>
              <a:rPr lang="en-PH" sz="3200" dirty="0"/>
              <a:t> ng artifact.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PH" sz="3200" i="1" dirty="0"/>
              <a:t>Wider context</a:t>
            </a:r>
            <a:r>
              <a:rPr lang="en-PH" sz="3200" dirty="0"/>
              <a:t> – </a:t>
            </a:r>
            <a:r>
              <a:rPr lang="en-PH" sz="3200" dirty="0" err="1"/>
              <a:t>Impluwensya</a:t>
            </a:r>
            <a:r>
              <a:rPr lang="en-PH" sz="3200" dirty="0"/>
              <a:t> ng </a:t>
            </a:r>
            <a:r>
              <a:rPr lang="en-PH" sz="3200" dirty="0" err="1"/>
              <a:t>kultura</a:t>
            </a:r>
            <a:r>
              <a:rPr lang="en-PH" sz="3200" dirty="0"/>
              <a:t> at </a:t>
            </a:r>
            <a:r>
              <a:rPr lang="en-PH" sz="3200" dirty="0" err="1"/>
              <a:t>politika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kahulugan</a:t>
            </a:r>
            <a:r>
              <a:rPr lang="en-PH" sz="3200" dirty="0"/>
              <a:t> ng artifact.</a:t>
            </a:r>
          </a:p>
          <a:p>
            <a:pPr marL="514350" indent="-514350">
              <a:buFont typeface="+mj-lt"/>
              <a:buAutoNum type="arabicPeriod"/>
            </a:pPr>
            <a:r>
              <a:rPr lang="en-PH" sz="3200" b="1" dirty="0"/>
              <a:t>Actor-Network Theory (ANT)</a:t>
            </a:r>
            <a:r>
              <a:rPr lang="en-PH" sz="3200" dirty="0"/>
              <a:t> – </a:t>
            </a:r>
            <a:r>
              <a:rPr lang="en-PH" sz="3200" dirty="0" err="1"/>
              <a:t>Magkakapantay</a:t>
            </a:r>
            <a:r>
              <a:rPr lang="en-PH" sz="3200" dirty="0"/>
              <a:t> ang </a:t>
            </a:r>
            <a:r>
              <a:rPr lang="en-PH" sz="3200" dirty="0" err="1"/>
              <a:t>tao</a:t>
            </a:r>
            <a:r>
              <a:rPr lang="en-PH" sz="3200" dirty="0"/>
              <a:t> at </a:t>
            </a:r>
            <a:r>
              <a:rPr lang="en-PH" sz="3200" dirty="0" err="1"/>
              <a:t>teknolohiya</a:t>
            </a:r>
            <a:r>
              <a:rPr lang="en-PH" sz="3200" dirty="0"/>
              <a:t> </a:t>
            </a:r>
            <a:r>
              <a:rPr lang="en-PH" sz="3200" dirty="0" err="1"/>
              <a:t>bilang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aktor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may </a:t>
            </a:r>
            <a:r>
              <a:rPr lang="en-PH" sz="3200" dirty="0" err="1"/>
              <a:t>epekto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isa't</a:t>
            </a:r>
            <a:r>
              <a:rPr lang="en-PH" sz="3200" dirty="0"/>
              <a:t> isa.</a:t>
            </a:r>
          </a:p>
          <a:p>
            <a:pPr lvl="1"/>
            <a:r>
              <a:rPr lang="en-PH" sz="3200" dirty="0"/>
              <a:t>Hal. Ang CCTV ay </a:t>
            </a:r>
            <a:r>
              <a:rPr lang="en-PH" sz="3200" dirty="0" err="1"/>
              <a:t>hindi</a:t>
            </a:r>
            <a:r>
              <a:rPr lang="en-PH" sz="3200" dirty="0"/>
              <a:t> lang </a:t>
            </a:r>
            <a:r>
              <a:rPr lang="en-PH" sz="3200" dirty="0" err="1"/>
              <a:t>isang</a:t>
            </a:r>
            <a:r>
              <a:rPr lang="en-PH" sz="3200" dirty="0"/>
              <a:t> </a:t>
            </a:r>
            <a:r>
              <a:rPr lang="en-PH" sz="3200" dirty="0" err="1"/>
              <a:t>aparato</a:t>
            </a:r>
            <a:r>
              <a:rPr lang="en-PH" sz="3200" dirty="0"/>
              <a:t> </a:t>
            </a:r>
            <a:r>
              <a:rPr lang="en-PH" sz="3200" dirty="0" err="1"/>
              <a:t>kundi</a:t>
            </a:r>
            <a:r>
              <a:rPr lang="en-PH" sz="3200" dirty="0"/>
              <a:t> </a:t>
            </a:r>
            <a:r>
              <a:rPr lang="en-PH" sz="3200" dirty="0" err="1"/>
              <a:t>bahagi</a:t>
            </a:r>
            <a:r>
              <a:rPr lang="en-PH" sz="3200" dirty="0"/>
              <a:t> ng </a:t>
            </a:r>
            <a:r>
              <a:rPr lang="en-PH" sz="3200" dirty="0" err="1"/>
              <a:t>sistema</a:t>
            </a:r>
            <a:r>
              <a:rPr lang="en-PH" sz="3200" dirty="0"/>
              <a:t> ng </a:t>
            </a:r>
            <a:r>
              <a:rPr lang="en-PH" sz="3200" dirty="0" err="1"/>
              <a:t>seguridad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may </a:t>
            </a:r>
            <a:r>
              <a:rPr lang="en-PH" sz="3200" dirty="0" err="1"/>
              <a:t>epekto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kilos ng </a:t>
            </a:r>
            <a:r>
              <a:rPr lang="en-PH" sz="3200" dirty="0" err="1"/>
              <a:t>tao</a:t>
            </a:r>
            <a:r>
              <a:rPr lang="en-PH" sz="32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Mga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Dulog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Deskriptibo</a:t>
            </a:r>
            <a:endParaRPr lang="en-PH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54299" y="7873147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914380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1301965"/>
            <a:ext cx="16217583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1443137" y="7719946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139465" y="1279722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122596" y="2566598"/>
            <a:ext cx="14368517" cy="6032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2800" b="1" dirty="0"/>
              <a:t>Mga </a:t>
            </a:r>
            <a:r>
              <a:rPr lang="en-PH" sz="2800" b="1" dirty="0" err="1"/>
              <a:t>Dulog</a:t>
            </a:r>
            <a:r>
              <a:rPr lang="en-PH" sz="2800" b="1" dirty="0"/>
              <a:t> </a:t>
            </a:r>
            <a:r>
              <a:rPr lang="en-PH" sz="2800" b="1" dirty="0" err="1"/>
              <a:t>Deskriptibo</a:t>
            </a:r>
            <a:r>
              <a:rPr lang="en-PH" sz="2800" b="1" dirty="0"/>
              <a:t> (Descriptive Approaches)</a:t>
            </a:r>
          </a:p>
          <a:p>
            <a:endParaRPr lang="en-PH" sz="2800" dirty="0"/>
          </a:p>
          <a:p>
            <a:pPr marL="514350" indent="-514350">
              <a:buFont typeface="+mj-lt"/>
              <a:buAutoNum type="arabicPeriod" startAt="3"/>
            </a:pPr>
            <a:r>
              <a:rPr lang="en-PH" sz="2800" b="1" dirty="0"/>
              <a:t>Structuration Theory</a:t>
            </a:r>
            <a:r>
              <a:rPr lang="en-PH" sz="2800" dirty="0"/>
              <a:t> – Hindi lang artifact ang </a:t>
            </a:r>
            <a:r>
              <a:rPr lang="en-PH" sz="2800" dirty="0" err="1"/>
              <a:t>teknolohiya</a:t>
            </a:r>
            <a:r>
              <a:rPr lang="en-PH" sz="2800" dirty="0"/>
              <a:t> </a:t>
            </a:r>
            <a:r>
              <a:rPr lang="en-PH" sz="2800" dirty="0" err="1"/>
              <a:t>kundi</a:t>
            </a:r>
            <a:r>
              <a:rPr lang="en-PH" sz="2800" dirty="0"/>
              <a:t> </a:t>
            </a:r>
            <a:r>
              <a:rPr lang="en-PH" sz="2800" dirty="0" err="1"/>
              <a:t>bahagi</a:t>
            </a:r>
            <a:r>
              <a:rPr lang="en-PH" sz="2800" dirty="0"/>
              <a:t> ng </a:t>
            </a:r>
            <a:r>
              <a:rPr lang="en-PH" sz="2800" dirty="0" err="1"/>
              <a:t>istrukturang</a:t>
            </a:r>
            <a:r>
              <a:rPr lang="en-PH" sz="2800" dirty="0"/>
              <a:t> </a:t>
            </a:r>
            <a:r>
              <a:rPr lang="en-PH" sz="2800" dirty="0" err="1"/>
              <a:t>panlipunan</a:t>
            </a:r>
            <a:r>
              <a:rPr lang="en-PH" sz="2800" dirty="0"/>
              <a:t>.</a:t>
            </a:r>
          </a:p>
          <a:p>
            <a:pPr lvl="1"/>
            <a:r>
              <a:rPr lang="en-PH" sz="2800" dirty="0"/>
              <a:t>Hal. Ang </a:t>
            </a:r>
            <a:r>
              <a:rPr lang="en-PH" sz="2800" dirty="0" err="1"/>
              <a:t>paggamit</a:t>
            </a:r>
            <a:r>
              <a:rPr lang="en-PH" sz="2800" dirty="0"/>
              <a:t> ng social media ay </a:t>
            </a:r>
            <a:r>
              <a:rPr lang="en-PH" sz="2800" dirty="0" err="1"/>
              <a:t>nakaaapekto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paraan</a:t>
            </a:r>
            <a:r>
              <a:rPr lang="en-PH" sz="2800" dirty="0"/>
              <a:t> ng </a:t>
            </a:r>
            <a:r>
              <a:rPr lang="en-PH" sz="2800" dirty="0" err="1"/>
              <a:t>komunikasyon</a:t>
            </a:r>
            <a:r>
              <a:rPr lang="en-PH" sz="2800" dirty="0"/>
              <a:t> at </a:t>
            </a:r>
            <a:r>
              <a:rPr lang="en-PH" sz="2800" dirty="0" err="1"/>
              <a:t>pagbuo</a:t>
            </a:r>
            <a:r>
              <a:rPr lang="en-PH" sz="2800" dirty="0"/>
              <a:t> ng </a:t>
            </a:r>
            <a:r>
              <a:rPr lang="en-PH" sz="2800" dirty="0" err="1"/>
              <a:t>relasyon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lipunan</a:t>
            </a:r>
            <a:r>
              <a:rPr lang="en-PH" sz="2800" dirty="0"/>
              <a:t>.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PH" sz="2800" b="1" dirty="0"/>
              <a:t>Systems Theory</a:t>
            </a:r>
            <a:r>
              <a:rPr lang="en-PH" sz="2800" dirty="0"/>
              <a:t> – Ang </a:t>
            </a:r>
            <a:r>
              <a:rPr lang="en-PH" sz="2800" dirty="0" err="1"/>
              <a:t>teknolohiya</a:t>
            </a:r>
            <a:r>
              <a:rPr lang="en-PH" sz="2800" dirty="0"/>
              <a:t> ay </a:t>
            </a:r>
            <a:r>
              <a:rPr lang="en-PH" sz="2800" dirty="0" err="1"/>
              <a:t>bahagi</a:t>
            </a:r>
            <a:r>
              <a:rPr lang="en-PH" sz="2800" dirty="0"/>
              <a:t> ng mas </a:t>
            </a:r>
            <a:r>
              <a:rPr lang="en-PH" sz="2800" dirty="0" err="1"/>
              <a:t>malawak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sistemang</a:t>
            </a:r>
            <a:r>
              <a:rPr lang="en-PH" sz="2800" dirty="0"/>
              <a:t> </a:t>
            </a:r>
            <a:r>
              <a:rPr lang="en-PH" sz="2800" dirty="0" err="1"/>
              <a:t>panlipunan</a:t>
            </a:r>
            <a:r>
              <a:rPr lang="en-PH" sz="2800" dirty="0"/>
              <a:t>, </a:t>
            </a:r>
            <a:r>
              <a:rPr lang="en-PH" sz="2800" dirty="0" err="1"/>
              <a:t>ekonomiya</a:t>
            </a:r>
            <a:r>
              <a:rPr lang="en-PH" sz="2800" dirty="0"/>
              <a:t>, </a:t>
            </a:r>
            <a:r>
              <a:rPr lang="en-PH" sz="2800" dirty="0" err="1"/>
              <a:t>politika</a:t>
            </a:r>
            <a:r>
              <a:rPr lang="en-PH" sz="2800" dirty="0"/>
              <a:t>, at </a:t>
            </a:r>
            <a:r>
              <a:rPr lang="en-PH" sz="2800" dirty="0" err="1"/>
              <a:t>kultura</a:t>
            </a:r>
            <a:r>
              <a:rPr lang="en-PH" sz="2800" dirty="0"/>
              <a:t>.</a:t>
            </a:r>
          </a:p>
          <a:p>
            <a:pPr lvl="1"/>
            <a:r>
              <a:rPr lang="en-PH" sz="2800" dirty="0"/>
              <a:t>Hal. Ang </a:t>
            </a:r>
            <a:r>
              <a:rPr lang="en-PH" sz="2800" dirty="0" err="1"/>
              <a:t>mabilis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pag-unlad</a:t>
            </a:r>
            <a:r>
              <a:rPr lang="en-PH" sz="2800" dirty="0"/>
              <a:t> ng internet ay </a:t>
            </a:r>
            <a:r>
              <a:rPr lang="en-PH" sz="2800" dirty="0" err="1"/>
              <a:t>dulot</a:t>
            </a:r>
            <a:r>
              <a:rPr lang="en-PH" sz="2800" dirty="0"/>
              <a:t> ng </a:t>
            </a:r>
            <a:r>
              <a:rPr lang="en-PH" sz="2800" dirty="0" err="1"/>
              <a:t>pangangailangang</a:t>
            </a:r>
            <a:r>
              <a:rPr lang="en-PH" sz="2800" dirty="0"/>
              <a:t> pang-</a:t>
            </a:r>
            <a:r>
              <a:rPr lang="en-PH" sz="2800" dirty="0" err="1"/>
              <a:t>ekonomiya</a:t>
            </a:r>
            <a:r>
              <a:rPr lang="en-PH" sz="2800" dirty="0"/>
              <a:t> at </a:t>
            </a:r>
            <a:r>
              <a:rPr lang="en-PH" sz="2800" dirty="0" err="1"/>
              <a:t>panlipunan</a:t>
            </a:r>
            <a:r>
              <a:rPr lang="en-PH" sz="2800" dirty="0"/>
              <a:t>.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PH" sz="2800" b="1" dirty="0"/>
              <a:t>Activity Theory</a:t>
            </a:r>
            <a:r>
              <a:rPr lang="en-PH" sz="2800" dirty="0"/>
              <a:t> – </a:t>
            </a:r>
            <a:r>
              <a:rPr lang="en-PH" sz="2800" dirty="0" err="1"/>
              <a:t>Sinusuri</a:t>
            </a:r>
            <a:r>
              <a:rPr lang="en-PH" sz="2800" dirty="0"/>
              <a:t> ang </a:t>
            </a:r>
            <a:r>
              <a:rPr lang="en-PH" sz="2800" dirty="0" err="1"/>
              <a:t>teknolohiya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konteksto</a:t>
            </a:r>
            <a:r>
              <a:rPr lang="en-PH" sz="2800" dirty="0"/>
              <a:t> ng </a:t>
            </a:r>
            <a:r>
              <a:rPr lang="en-PH" sz="2800" dirty="0" err="1"/>
              <a:t>aktwal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paggamit</a:t>
            </a:r>
            <a:r>
              <a:rPr lang="en-PH" sz="2800" dirty="0"/>
              <a:t> </a:t>
            </a:r>
            <a:r>
              <a:rPr lang="en-PH" sz="2800" dirty="0" err="1"/>
              <a:t>nito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buhay</a:t>
            </a:r>
            <a:r>
              <a:rPr lang="en-PH" sz="2800" dirty="0"/>
              <a:t> ng </a:t>
            </a:r>
            <a:r>
              <a:rPr lang="en-PH" sz="2800" dirty="0" err="1"/>
              <a:t>tao</a:t>
            </a:r>
            <a:r>
              <a:rPr lang="en-PH" sz="2800" dirty="0"/>
              <a:t>.</a:t>
            </a:r>
          </a:p>
          <a:p>
            <a:pPr lvl="1"/>
            <a:r>
              <a:rPr lang="en-PH" sz="2800" dirty="0"/>
              <a:t>Hal. Ang </a:t>
            </a:r>
            <a:r>
              <a:rPr lang="en-PH" sz="2800" dirty="0" err="1"/>
              <a:t>paggamit</a:t>
            </a:r>
            <a:r>
              <a:rPr lang="en-PH" sz="2800" dirty="0"/>
              <a:t> ng learning management systems (LMS)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edukasyon</a:t>
            </a:r>
            <a:r>
              <a:rPr lang="en-PH" sz="2800" dirty="0"/>
              <a:t> ay </a:t>
            </a:r>
            <a:r>
              <a:rPr lang="en-PH" sz="2800" dirty="0" err="1"/>
              <a:t>binabago</a:t>
            </a:r>
            <a:r>
              <a:rPr lang="en-PH" sz="2800" dirty="0"/>
              <a:t> ang </a:t>
            </a:r>
            <a:r>
              <a:rPr lang="en-PH" sz="2800" dirty="0" err="1"/>
              <a:t>paraan</a:t>
            </a:r>
            <a:r>
              <a:rPr lang="en-PH" sz="2800" dirty="0"/>
              <a:t> ng </a:t>
            </a:r>
            <a:r>
              <a:rPr lang="en-PH" sz="2800" dirty="0" err="1"/>
              <a:t>pagtuturo</a:t>
            </a:r>
            <a:r>
              <a:rPr lang="en-PH" sz="2800" dirty="0"/>
              <a:t> at </a:t>
            </a:r>
            <a:r>
              <a:rPr lang="en-PH" sz="2800" dirty="0" err="1"/>
              <a:t>pagkatuto</a:t>
            </a:r>
            <a:r>
              <a:rPr lang="en-PH" sz="28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Mga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Dulog</a:t>
            </a:r>
            <a:r>
              <a:rPr lang="en-PH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PH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Deskriptibo</a:t>
            </a:r>
            <a:endParaRPr lang="en-PH" sz="6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4854299" y="7873147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255728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5793" y="1142561"/>
            <a:ext cx="17543019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2944709" y="7570377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383964" y="105373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411590" y="2443235"/>
            <a:ext cx="15491758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3600" dirty="0"/>
              <a:t>Ang </a:t>
            </a:r>
            <a:r>
              <a:rPr lang="en-PH" sz="3600" dirty="0" err="1"/>
              <a:t>dulog</a:t>
            </a:r>
            <a:r>
              <a:rPr lang="en-PH" sz="3600" dirty="0"/>
              <a:t> </a:t>
            </a:r>
            <a:r>
              <a:rPr lang="en-PH" sz="3600" dirty="0" err="1"/>
              <a:t>kritikal</a:t>
            </a:r>
            <a:r>
              <a:rPr lang="en-PH" sz="3600" dirty="0"/>
              <a:t> ay </a:t>
            </a:r>
            <a:r>
              <a:rPr lang="en-PH" sz="3600" dirty="0" err="1"/>
              <a:t>higit</a:t>
            </a:r>
            <a:r>
              <a:rPr lang="en-PH" sz="3600" dirty="0"/>
              <a:t> pa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paglalarawan</a:t>
            </a:r>
            <a:r>
              <a:rPr lang="en-PH" sz="3600" dirty="0"/>
              <a:t> ng </a:t>
            </a:r>
            <a:r>
              <a:rPr lang="en-PH" sz="3600" dirty="0" err="1"/>
              <a:t>teknolohiya</a:t>
            </a:r>
            <a:r>
              <a:rPr lang="en-PH" sz="3600" dirty="0"/>
              <a:t>—</a:t>
            </a:r>
            <a:r>
              <a:rPr lang="en-PH" sz="3600" dirty="0" err="1"/>
              <a:t>sinusuri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kung </a:t>
            </a:r>
            <a:r>
              <a:rPr lang="en-PH" sz="3600" dirty="0" err="1"/>
              <a:t>paano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umiinog</a:t>
            </a:r>
            <a:r>
              <a:rPr lang="en-PH" sz="3600" dirty="0"/>
              <a:t>, </a:t>
            </a:r>
            <a:r>
              <a:rPr lang="en-PH" sz="3600" dirty="0" err="1"/>
              <a:t>bakit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ganoon</a:t>
            </a:r>
            <a:r>
              <a:rPr lang="en-PH" sz="3600" dirty="0"/>
              <a:t>, at </a:t>
            </a:r>
            <a:r>
              <a:rPr lang="en-PH" sz="3600" dirty="0" err="1"/>
              <a:t>paano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maaaring</a:t>
            </a:r>
            <a:r>
              <a:rPr lang="en-PH" sz="3600" dirty="0"/>
              <a:t> </a:t>
            </a:r>
            <a:r>
              <a:rPr lang="en-PH" sz="3600" dirty="0" err="1"/>
              <a:t>mabago</a:t>
            </a:r>
            <a:r>
              <a:rPr lang="en-PH" sz="3600" dirty="0"/>
              <a:t>. </a:t>
            </a:r>
            <a:r>
              <a:rPr lang="en-PH" sz="3600" dirty="0" err="1"/>
              <a:t>Layunin</a:t>
            </a:r>
            <a:r>
              <a:rPr lang="en-PH" sz="3600" dirty="0"/>
              <a:t> </a:t>
            </a:r>
            <a:r>
              <a:rPr lang="en-PH" sz="3600" dirty="0" err="1"/>
              <a:t>nitong</a:t>
            </a:r>
            <a:r>
              <a:rPr lang="en-PH" sz="3600" dirty="0"/>
              <a:t> </a:t>
            </a:r>
            <a:r>
              <a:rPr lang="en-PH" sz="3600" dirty="0" err="1"/>
              <a:t>tukuyin</a:t>
            </a:r>
            <a:r>
              <a:rPr lang="en-PH" sz="3600" dirty="0"/>
              <a:t> kung </a:t>
            </a:r>
            <a:r>
              <a:rPr lang="en-PH" sz="3600" dirty="0" err="1"/>
              <a:t>sino</a:t>
            </a:r>
            <a:r>
              <a:rPr lang="en-PH" sz="3600" dirty="0"/>
              <a:t> ang </a:t>
            </a:r>
            <a:r>
              <a:rPr lang="en-PH" sz="3600" dirty="0" err="1"/>
              <a:t>nakikinabang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kasalukuyang</a:t>
            </a:r>
            <a:r>
              <a:rPr lang="en-PH" sz="3600" dirty="0"/>
              <a:t> </a:t>
            </a:r>
            <a:r>
              <a:rPr lang="en-PH" sz="3600" dirty="0" err="1"/>
              <a:t>sistema</a:t>
            </a:r>
            <a:r>
              <a:rPr lang="en-PH" sz="3600" dirty="0"/>
              <a:t> at </a:t>
            </a:r>
            <a:r>
              <a:rPr lang="en-PH" sz="3600" dirty="0" err="1"/>
              <a:t>hanapin</a:t>
            </a:r>
            <a:r>
              <a:rPr lang="en-PH" sz="3600" dirty="0"/>
              <a:t> ang </a:t>
            </a:r>
            <a:r>
              <a:rPr lang="en-PH" sz="3600" dirty="0" err="1"/>
              <a:t>posibleng</a:t>
            </a:r>
            <a:r>
              <a:rPr lang="en-PH" sz="3600" dirty="0"/>
              <a:t> </a:t>
            </a:r>
            <a:r>
              <a:rPr lang="en-PH" sz="3600" dirty="0" err="1"/>
              <a:t>alternatibo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makamit</a:t>
            </a:r>
            <a:r>
              <a:rPr lang="en-PH" sz="3600" dirty="0"/>
              <a:t> ang </a:t>
            </a:r>
            <a:r>
              <a:rPr lang="en-PH" sz="3600" dirty="0" err="1"/>
              <a:t>hustisyang</a:t>
            </a:r>
            <a:r>
              <a:rPr lang="en-PH" sz="3600" dirty="0"/>
              <a:t> </a:t>
            </a:r>
            <a:r>
              <a:rPr lang="en-PH" sz="3600" dirty="0" err="1"/>
              <a:t>panlipunan</a:t>
            </a:r>
            <a:r>
              <a:rPr lang="en-PH" sz="3600" dirty="0"/>
              <a:t>.</a:t>
            </a:r>
          </a:p>
          <a:p>
            <a:r>
              <a:rPr lang="en-PH" sz="3600" dirty="0" err="1"/>
              <a:t>Binibigyang-diin</a:t>
            </a:r>
            <a:r>
              <a:rPr lang="en-PH" sz="3600" dirty="0"/>
              <a:t> ng </a:t>
            </a:r>
            <a:r>
              <a:rPr lang="en-PH" sz="3600" dirty="0" err="1"/>
              <a:t>teoryang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ang </a:t>
            </a:r>
            <a:r>
              <a:rPr lang="en-PH" sz="3600" dirty="0" err="1"/>
              <a:t>pagsusuri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i="1" dirty="0"/>
              <a:t>power relationships</a:t>
            </a:r>
            <a:r>
              <a:rPr lang="en-PH" sz="3600" dirty="0"/>
              <a:t> at </a:t>
            </a:r>
            <a:r>
              <a:rPr lang="en-PH" sz="3600" dirty="0" err="1"/>
              <a:t>interes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likod</a:t>
            </a:r>
            <a:r>
              <a:rPr lang="en-PH" sz="3600" dirty="0"/>
              <a:t> ng </a:t>
            </a:r>
            <a:r>
              <a:rPr lang="en-PH" sz="3600" dirty="0" err="1"/>
              <a:t>paggamit</a:t>
            </a:r>
            <a:r>
              <a:rPr lang="en-PH" sz="3600" dirty="0"/>
              <a:t> at </a:t>
            </a:r>
            <a:r>
              <a:rPr lang="en-PH" sz="3600" dirty="0" err="1"/>
              <a:t>pag-unlad</a:t>
            </a:r>
            <a:r>
              <a:rPr lang="en-PH" sz="3600" dirty="0"/>
              <a:t> ng </a:t>
            </a:r>
            <a:r>
              <a:rPr lang="en-PH" sz="3600" dirty="0" err="1"/>
              <a:t>teknolohiya</a:t>
            </a:r>
            <a:r>
              <a:rPr lang="en-PH" sz="3600" dirty="0"/>
              <a:t>. </a:t>
            </a:r>
            <a:r>
              <a:rPr lang="en-PH" sz="3600" dirty="0" err="1"/>
              <a:t>Ipinapakita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kung </a:t>
            </a:r>
            <a:r>
              <a:rPr lang="en-PH" sz="3600" dirty="0" err="1"/>
              <a:t>paano</a:t>
            </a:r>
            <a:r>
              <a:rPr lang="en-PH" sz="3600" dirty="0"/>
              <a:t> </a:t>
            </a:r>
            <a:r>
              <a:rPr lang="en-PH" sz="3600" dirty="0" err="1"/>
              <a:t>maaaring</a:t>
            </a:r>
            <a:r>
              <a:rPr lang="en-PH" sz="3600" dirty="0"/>
              <a:t> </a:t>
            </a:r>
            <a:r>
              <a:rPr lang="en-PH" sz="3600" dirty="0" err="1"/>
              <a:t>manipulahin</a:t>
            </a:r>
            <a:r>
              <a:rPr lang="en-PH" sz="3600" dirty="0"/>
              <a:t> ng </a:t>
            </a:r>
            <a:r>
              <a:rPr lang="en-PH" sz="3600" dirty="0" err="1"/>
              <a:t>iilang</a:t>
            </a:r>
            <a:r>
              <a:rPr lang="en-PH" sz="3600" dirty="0"/>
              <a:t> </a:t>
            </a:r>
            <a:r>
              <a:rPr lang="en-PH" sz="3600" dirty="0" err="1"/>
              <a:t>grupo</a:t>
            </a:r>
            <a:r>
              <a:rPr lang="en-PH" sz="3600" dirty="0"/>
              <a:t> ang </a:t>
            </a:r>
            <a:r>
              <a:rPr lang="en-PH" sz="3600" dirty="0" err="1"/>
              <a:t>teknolohiya</a:t>
            </a:r>
            <a:r>
              <a:rPr lang="en-PH" sz="3600" dirty="0"/>
              <a:t>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sariling</a:t>
            </a:r>
            <a:r>
              <a:rPr lang="en-PH" sz="3600" dirty="0"/>
              <a:t> </a:t>
            </a:r>
            <a:r>
              <a:rPr lang="en-PH" sz="3600" dirty="0" err="1"/>
              <a:t>kapakinabangan</a:t>
            </a:r>
            <a:r>
              <a:rPr lang="en-PH" sz="3600" dirty="0"/>
              <a:t>, </a:t>
            </a:r>
            <a:r>
              <a:rPr lang="en-PH" sz="3600" dirty="0" err="1"/>
              <a:t>pati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paraan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baguhin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para </a:t>
            </a:r>
            <a:r>
              <a:rPr lang="en-PH" sz="3600" dirty="0" err="1"/>
              <a:t>sa</a:t>
            </a:r>
            <a:r>
              <a:rPr lang="en-PH" sz="3600" dirty="0"/>
              <a:t> mas </a:t>
            </a:r>
            <a:r>
              <a:rPr lang="en-PH" sz="3600" dirty="0" err="1"/>
              <a:t>patas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lipunan</a:t>
            </a:r>
            <a:r>
              <a:rPr lang="en-PH" sz="3600" dirty="0"/>
              <a:t>.</a:t>
            </a:r>
          </a:p>
          <a:p>
            <a:r>
              <a:rPr lang="en-PH" sz="3600" dirty="0" err="1"/>
              <a:t>Halimbawa</a:t>
            </a:r>
            <a:r>
              <a:rPr lang="en-PH" sz="36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3600" dirty="0"/>
              <a:t>Ang </a:t>
            </a:r>
            <a:r>
              <a:rPr lang="en-PH" sz="3600" dirty="0" err="1"/>
              <a:t>malalaking</a:t>
            </a:r>
            <a:r>
              <a:rPr lang="en-PH" sz="3600" dirty="0"/>
              <a:t> </a:t>
            </a:r>
            <a:r>
              <a:rPr lang="en-PH" sz="3600" dirty="0" err="1"/>
              <a:t>kompanya</a:t>
            </a:r>
            <a:r>
              <a:rPr lang="en-PH" sz="3600" dirty="0"/>
              <a:t> ng </a:t>
            </a:r>
            <a:r>
              <a:rPr lang="en-PH" sz="3600" dirty="0" err="1"/>
              <a:t>teknolohiya</a:t>
            </a:r>
            <a:r>
              <a:rPr lang="en-PH" sz="3600" dirty="0"/>
              <a:t> ay may </a:t>
            </a:r>
            <a:r>
              <a:rPr lang="en-PH" sz="3600" dirty="0" err="1"/>
              <a:t>kontrol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personal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datos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gumagamit</a:t>
            </a:r>
            <a:r>
              <a:rPr lang="en-PH" sz="3600" dirty="0"/>
              <a:t>, kaya </a:t>
            </a:r>
            <a:r>
              <a:rPr lang="en-PH" sz="3600" dirty="0" err="1"/>
              <a:t>maaaring</a:t>
            </a:r>
            <a:r>
              <a:rPr lang="en-PH" sz="3600" dirty="0"/>
              <a:t> </a:t>
            </a:r>
            <a:r>
              <a:rPr lang="en-PH" sz="3600" dirty="0" err="1"/>
              <a:t>pag-aralan</a:t>
            </a:r>
            <a:r>
              <a:rPr lang="en-PH" sz="3600" dirty="0"/>
              <a:t> kung </a:t>
            </a:r>
            <a:r>
              <a:rPr lang="en-PH" sz="3600" dirty="0" err="1"/>
              <a:t>paano</a:t>
            </a:r>
            <a:r>
              <a:rPr lang="en-PH" sz="3600" dirty="0"/>
              <a:t> </a:t>
            </a:r>
            <a:r>
              <a:rPr lang="en-PH" sz="3600" dirty="0" err="1"/>
              <a:t>maibabalik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publiko</a:t>
            </a:r>
            <a:r>
              <a:rPr lang="en-PH" sz="3600" dirty="0"/>
              <a:t> ang </a:t>
            </a:r>
            <a:r>
              <a:rPr lang="en-PH" sz="3600" dirty="0" err="1"/>
              <a:t>kontrol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impormasyon</a:t>
            </a:r>
            <a:r>
              <a:rPr lang="en-PH" sz="36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3600" b="1" dirty="0" err="1"/>
              <a:t>Dulog</a:t>
            </a:r>
            <a:r>
              <a:rPr lang="en-PH" sz="3600" b="1" dirty="0"/>
              <a:t> </a:t>
            </a:r>
            <a:r>
              <a:rPr lang="en-PH" sz="3600" b="1" dirty="0" err="1"/>
              <a:t>Kritikal</a:t>
            </a:r>
            <a:r>
              <a:rPr lang="en-PH" sz="3600" b="1" dirty="0"/>
              <a:t> </a:t>
            </a:r>
            <a:r>
              <a:rPr lang="en-PH" sz="3600" b="1" dirty="0" err="1"/>
              <a:t>sa</a:t>
            </a:r>
            <a:r>
              <a:rPr lang="en-PH" sz="3600" b="1" dirty="0"/>
              <a:t> </a:t>
            </a:r>
            <a:r>
              <a:rPr lang="en-PH" sz="3600" b="1" dirty="0" err="1"/>
              <a:t>Teknolohiya</a:t>
            </a:r>
            <a:endParaRPr lang="en-PH" sz="3600" b="1" dirty="0"/>
          </a:p>
        </p:txBody>
      </p:sp>
      <p:sp>
        <p:nvSpPr>
          <p:cNvPr id="29" name="Freeform 29"/>
          <p:cNvSpPr/>
          <p:nvPr/>
        </p:nvSpPr>
        <p:spPr>
          <a:xfrm>
            <a:off x="15622486" y="8692436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7278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5793" y="1142561"/>
            <a:ext cx="17543019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2944709" y="7570377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383964" y="105373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411590" y="2443235"/>
            <a:ext cx="15491758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3200" b="1" dirty="0"/>
              <a:t>1. </a:t>
            </a:r>
            <a:r>
              <a:rPr lang="en-PH" sz="3200" b="1" dirty="0" err="1"/>
              <a:t>Kritikal</a:t>
            </a:r>
            <a:r>
              <a:rPr lang="en-PH" sz="3200" b="1" dirty="0"/>
              <a:t> </a:t>
            </a:r>
            <a:r>
              <a:rPr lang="en-PH" sz="3200" b="1" dirty="0" err="1"/>
              <a:t>na</a:t>
            </a:r>
            <a:r>
              <a:rPr lang="en-PH" sz="3200" b="1" dirty="0"/>
              <a:t> </a:t>
            </a:r>
            <a:r>
              <a:rPr lang="en-PH" sz="3200" b="1" dirty="0" err="1"/>
              <a:t>Pagsusuri</a:t>
            </a:r>
            <a:r>
              <a:rPr lang="en-PH" sz="3200" b="1" dirty="0"/>
              <a:t> </a:t>
            </a:r>
            <a:r>
              <a:rPr lang="en-PH" sz="3200" b="1" dirty="0" err="1"/>
              <a:t>sa</a:t>
            </a:r>
            <a:r>
              <a:rPr lang="en-PH" sz="3200" b="1" dirty="0"/>
              <a:t> </a:t>
            </a:r>
            <a:r>
              <a:rPr lang="en-PH" sz="3200" b="1" dirty="0" err="1"/>
              <a:t>Teknolohiya</a:t>
            </a:r>
            <a:endParaRPr lang="en-PH" sz="3200" b="1" dirty="0"/>
          </a:p>
          <a:p>
            <a:r>
              <a:rPr lang="en-PH" sz="3200" dirty="0"/>
              <a:t>Maraming </a:t>
            </a:r>
            <a:r>
              <a:rPr lang="en-PH" sz="3200" dirty="0" err="1"/>
              <a:t>iskolar</a:t>
            </a:r>
            <a:r>
              <a:rPr lang="en-PH" sz="3200" dirty="0"/>
              <a:t> ang </a:t>
            </a:r>
            <a:r>
              <a:rPr lang="en-PH" sz="3200" dirty="0" err="1"/>
              <a:t>gumagamit</a:t>
            </a:r>
            <a:r>
              <a:rPr lang="en-PH" sz="3200" dirty="0"/>
              <a:t> ng </a:t>
            </a:r>
            <a:r>
              <a:rPr lang="en-PH" sz="3200" dirty="0" err="1"/>
              <a:t>teknolohiya</a:t>
            </a:r>
            <a:r>
              <a:rPr lang="en-PH" sz="3200" dirty="0"/>
              <a:t> </a:t>
            </a:r>
            <a:r>
              <a:rPr lang="en-PH" sz="3200" dirty="0" err="1"/>
              <a:t>bilang</a:t>
            </a:r>
            <a:r>
              <a:rPr lang="en-PH" sz="3200" dirty="0"/>
              <a:t> </a:t>
            </a:r>
            <a:r>
              <a:rPr lang="en-PH" sz="3200" dirty="0" err="1"/>
              <a:t>isang</a:t>
            </a:r>
            <a:r>
              <a:rPr lang="en-PH" sz="3200" dirty="0"/>
              <a:t> </a:t>
            </a:r>
            <a:r>
              <a:rPr lang="en-PH" sz="3200" b="1" dirty="0" err="1"/>
              <a:t>teksto</a:t>
            </a:r>
            <a:r>
              <a:rPr lang="en-PH" sz="3200" dirty="0"/>
              <a:t> </a:t>
            </a:r>
            <a:r>
              <a:rPr lang="en-PH" sz="3200" dirty="0" err="1"/>
              <a:t>upang</a:t>
            </a:r>
            <a:r>
              <a:rPr lang="en-PH" sz="3200" dirty="0"/>
              <a:t> </a:t>
            </a:r>
            <a:r>
              <a:rPr lang="en-PH" sz="3200" dirty="0" err="1"/>
              <a:t>suriin</a:t>
            </a:r>
            <a:r>
              <a:rPr lang="en-PH" sz="3200" dirty="0"/>
              <a:t> at </a:t>
            </a:r>
            <a:r>
              <a:rPr lang="en-PH" sz="3200" dirty="0" err="1"/>
              <a:t>bigyang-kritika</a:t>
            </a:r>
            <a:r>
              <a:rPr lang="en-PH" sz="3200" dirty="0"/>
              <a:t> ang </a:t>
            </a:r>
            <a:r>
              <a:rPr lang="en-PH" sz="3200" dirty="0" err="1"/>
              <a:t>iba’t</a:t>
            </a:r>
            <a:r>
              <a:rPr lang="en-PH" sz="3200" dirty="0"/>
              <a:t> </a:t>
            </a:r>
            <a:r>
              <a:rPr lang="en-PH" sz="3200" dirty="0" err="1"/>
              <a:t>ibang</a:t>
            </a:r>
            <a:r>
              <a:rPr lang="en-PH" sz="3200" dirty="0"/>
              <a:t> </a:t>
            </a:r>
            <a:r>
              <a:rPr lang="en-PH" sz="3200" dirty="0" err="1"/>
              <a:t>aspeto</a:t>
            </a:r>
            <a:r>
              <a:rPr lang="en-PH" sz="3200" dirty="0"/>
              <a:t> ng </a:t>
            </a:r>
            <a:r>
              <a:rPr lang="en-PH" sz="3200" dirty="0" err="1"/>
              <a:t>teknolohiya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sosyolohiya</a:t>
            </a:r>
            <a:r>
              <a:rPr lang="en-PH" sz="3200" dirty="0"/>
              <a:t> ng </a:t>
            </a:r>
            <a:r>
              <a:rPr lang="en-PH" sz="3200" dirty="0" err="1"/>
              <a:t>siyentipikong</a:t>
            </a:r>
            <a:r>
              <a:rPr lang="en-PH" sz="3200" dirty="0"/>
              <a:t> </a:t>
            </a:r>
            <a:r>
              <a:rPr lang="en-PH" sz="3200" dirty="0" err="1"/>
              <a:t>kaalaman</a:t>
            </a:r>
            <a:r>
              <a:rPr lang="en-PH" sz="3200" dirty="0"/>
              <a:t> (</a:t>
            </a:r>
            <a:r>
              <a:rPr lang="en-PH" sz="3200" i="1" dirty="0"/>
              <a:t>sociology of scientific knowledge</a:t>
            </a:r>
            <a:r>
              <a:rPr lang="en-PH" sz="3200" dirty="0"/>
              <a:t>).</a:t>
            </a:r>
          </a:p>
          <a:p>
            <a:r>
              <a:rPr lang="en-PH" sz="3200" dirty="0"/>
              <a:t>May </a:t>
            </a:r>
            <a:r>
              <a:rPr lang="en-PH" sz="3200" dirty="0" err="1"/>
              <a:t>tatlong</a:t>
            </a:r>
            <a:r>
              <a:rPr lang="en-PH" sz="3200" dirty="0"/>
              <a:t> </a:t>
            </a:r>
            <a:r>
              <a:rPr lang="en-PH" sz="3200" dirty="0" err="1"/>
              <a:t>pangunahing</a:t>
            </a:r>
            <a:r>
              <a:rPr lang="en-PH" sz="3200" dirty="0"/>
              <a:t> </a:t>
            </a:r>
            <a:r>
              <a:rPr lang="en-PH" sz="3200" dirty="0" err="1"/>
              <a:t>tugon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teknolohikal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pagsusuri</a:t>
            </a:r>
            <a:r>
              <a:rPr lang="en-PH" sz="3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3200" b="1" dirty="0"/>
              <a:t>Instrumental </a:t>
            </a:r>
            <a:r>
              <a:rPr lang="en-PH" sz="3200" b="1" dirty="0" err="1"/>
              <a:t>na</a:t>
            </a:r>
            <a:r>
              <a:rPr lang="en-PH" sz="3200" b="1" dirty="0"/>
              <a:t> </a:t>
            </a:r>
            <a:r>
              <a:rPr lang="en-PH" sz="3200" b="1" dirty="0" err="1"/>
              <a:t>tugon</a:t>
            </a:r>
            <a:r>
              <a:rPr lang="en-PH" sz="3200" dirty="0"/>
              <a:t> – </a:t>
            </a:r>
            <a:r>
              <a:rPr lang="en-PH" sz="3200" dirty="0" err="1"/>
              <a:t>Nagsusuri</a:t>
            </a:r>
            <a:r>
              <a:rPr lang="en-PH" sz="3200" dirty="0"/>
              <a:t> kung </a:t>
            </a:r>
            <a:r>
              <a:rPr lang="en-PH" sz="3200" dirty="0" err="1"/>
              <a:t>paano</a:t>
            </a:r>
            <a:r>
              <a:rPr lang="en-PH" sz="3200" dirty="0"/>
              <a:t> </a:t>
            </a:r>
            <a:r>
              <a:rPr lang="en-PH" sz="3200" dirty="0" err="1"/>
              <a:t>maaaring</a:t>
            </a:r>
            <a:r>
              <a:rPr lang="en-PH" sz="3200" dirty="0"/>
              <a:t> </a:t>
            </a:r>
            <a:r>
              <a:rPr lang="en-PH" sz="3200" dirty="0" err="1"/>
              <a:t>mabago</a:t>
            </a:r>
            <a:r>
              <a:rPr lang="en-PH" sz="3200" dirty="0"/>
              <a:t> ang </a:t>
            </a:r>
            <a:r>
              <a:rPr lang="en-PH" sz="3200" dirty="0" err="1"/>
              <a:t>paggamit</a:t>
            </a:r>
            <a:r>
              <a:rPr lang="en-PH" sz="3200" dirty="0"/>
              <a:t> ng </a:t>
            </a:r>
            <a:r>
              <a:rPr lang="en-PH" sz="3200" dirty="0" err="1"/>
              <a:t>teknolohiya</a:t>
            </a:r>
            <a:r>
              <a:rPr lang="en-PH" sz="3200" dirty="0"/>
              <a:t> (</a:t>
            </a:r>
            <a:r>
              <a:rPr lang="en-PH" sz="3200" i="1" dirty="0"/>
              <a:t>interpretive flexibility</a:t>
            </a:r>
            <a:r>
              <a:rPr lang="en-PH" sz="32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3200" b="1" dirty="0"/>
              <a:t>Interpretivist </a:t>
            </a:r>
            <a:r>
              <a:rPr lang="en-PH" sz="3200" b="1" dirty="0" err="1"/>
              <a:t>na</a:t>
            </a:r>
            <a:r>
              <a:rPr lang="en-PH" sz="3200" b="1" dirty="0"/>
              <a:t> </a:t>
            </a:r>
            <a:r>
              <a:rPr lang="en-PH" sz="3200" b="1" dirty="0" err="1"/>
              <a:t>tugon</a:t>
            </a:r>
            <a:r>
              <a:rPr lang="en-PH" sz="3200" dirty="0"/>
              <a:t> – </a:t>
            </a:r>
            <a:r>
              <a:rPr lang="en-PH" sz="3200" dirty="0" err="1"/>
              <a:t>Sinusuri</a:t>
            </a:r>
            <a:r>
              <a:rPr lang="en-PH" sz="3200" dirty="0"/>
              <a:t> ang </a:t>
            </a:r>
            <a:r>
              <a:rPr lang="en-PH" sz="3200" dirty="0" err="1"/>
              <a:t>impluwensya</a:t>
            </a:r>
            <a:r>
              <a:rPr lang="en-PH" sz="3200" dirty="0"/>
              <a:t> ng </a:t>
            </a:r>
            <a:r>
              <a:rPr lang="en-PH" sz="3200" dirty="0" err="1"/>
              <a:t>kapaligiran</a:t>
            </a:r>
            <a:r>
              <a:rPr lang="en-PH" sz="3200" dirty="0"/>
              <a:t> at </a:t>
            </a:r>
            <a:r>
              <a:rPr lang="en-PH" sz="3200" dirty="0" err="1"/>
              <a:t>organisasyon</a:t>
            </a:r>
            <a:r>
              <a:rPr lang="en-PH" sz="3200" dirty="0"/>
              <a:t> (</a:t>
            </a:r>
            <a:r>
              <a:rPr lang="en-PH" sz="3200" i="1" dirty="0"/>
              <a:t>environmental/organizational influences</a:t>
            </a:r>
            <a:r>
              <a:rPr lang="en-PH" sz="32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3200" b="1" dirty="0"/>
              <a:t>Reflexive </a:t>
            </a:r>
            <a:r>
              <a:rPr lang="en-PH" sz="3200" b="1" dirty="0" err="1"/>
              <a:t>na</a:t>
            </a:r>
            <a:r>
              <a:rPr lang="en-PH" sz="3200" b="1" dirty="0"/>
              <a:t> </a:t>
            </a:r>
            <a:r>
              <a:rPr lang="en-PH" sz="3200" b="1" dirty="0" err="1"/>
              <a:t>tugon</a:t>
            </a:r>
            <a:r>
              <a:rPr lang="en-PH" sz="3200" dirty="0"/>
              <a:t> – </a:t>
            </a:r>
            <a:r>
              <a:rPr lang="en-PH" sz="3200" dirty="0" err="1"/>
              <a:t>Tumutukoy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i="1" dirty="0"/>
              <a:t>double hermeneutic</a:t>
            </a:r>
            <a:r>
              <a:rPr lang="en-PH" sz="3200" dirty="0"/>
              <a:t> o ang </a:t>
            </a:r>
            <a:r>
              <a:rPr lang="en-PH" sz="3200" dirty="0" err="1"/>
              <a:t>paraan</a:t>
            </a:r>
            <a:r>
              <a:rPr lang="en-PH" sz="3200" dirty="0"/>
              <a:t> kung </a:t>
            </a:r>
            <a:r>
              <a:rPr lang="en-PH" sz="3200" dirty="0" err="1"/>
              <a:t>paano</a:t>
            </a:r>
            <a:r>
              <a:rPr lang="en-PH" sz="3200" dirty="0"/>
              <a:t> </a:t>
            </a:r>
            <a:r>
              <a:rPr lang="en-PH" sz="3200" dirty="0" err="1"/>
              <a:t>naaapektuhan</a:t>
            </a:r>
            <a:r>
              <a:rPr lang="en-PH" sz="3200" dirty="0"/>
              <a:t> ng </a:t>
            </a:r>
            <a:r>
              <a:rPr lang="en-PH" sz="3200" dirty="0" err="1"/>
              <a:t>teknolohiya</a:t>
            </a:r>
            <a:r>
              <a:rPr lang="en-PH" sz="3200" dirty="0"/>
              <a:t> ang </a:t>
            </a:r>
            <a:r>
              <a:rPr lang="en-PH" sz="3200" dirty="0" err="1"/>
              <a:t>lipunan</a:t>
            </a:r>
            <a:r>
              <a:rPr lang="en-PH" sz="3200" dirty="0"/>
              <a:t> at vice versa.</a:t>
            </a:r>
          </a:p>
          <a:p>
            <a:r>
              <a:rPr lang="en-PH" sz="3200" dirty="0" err="1"/>
              <a:t>Mayroon</a:t>
            </a:r>
            <a:r>
              <a:rPr lang="en-PH" sz="3200" dirty="0"/>
              <a:t> ding </a:t>
            </a:r>
            <a:r>
              <a:rPr lang="en-PH" sz="3200" dirty="0" err="1"/>
              <a:t>pananaw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ang </a:t>
            </a:r>
            <a:r>
              <a:rPr lang="en-PH" sz="3200" b="1" dirty="0" err="1"/>
              <a:t>teknolohiya</a:t>
            </a:r>
            <a:r>
              <a:rPr lang="en-PH" sz="3200" b="1" dirty="0"/>
              <a:t> ay </a:t>
            </a:r>
            <a:r>
              <a:rPr lang="en-PH" sz="3200" b="1" dirty="0" err="1"/>
              <a:t>isang</a:t>
            </a:r>
            <a:r>
              <a:rPr lang="en-PH" sz="3200" b="1" dirty="0"/>
              <a:t> drama</a:t>
            </a:r>
            <a:r>
              <a:rPr lang="en-PH" sz="3200" dirty="0"/>
              <a:t>,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naglalarawan</a:t>
            </a:r>
            <a:r>
              <a:rPr lang="en-PH" sz="3200" dirty="0"/>
              <a:t> kung </a:t>
            </a:r>
            <a:r>
              <a:rPr lang="en-PH" sz="3200" dirty="0" err="1"/>
              <a:t>paano</a:t>
            </a:r>
            <a:r>
              <a:rPr lang="en-PH" sz="3200" dirty="0"/>
              <a:t> ang </a:t>
            </a:r>
            <a:r>
              <a:rPr lang="en-PH" sz="3200" dirty="0" err="1"/>
              <a:t>teknolohikal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i="1" dirty="0"/>
              <a:t>artifacts</a:t>
            </a:r>
            <a:r>
              <a:rPr lang="en-PH" sz="3200" dirty="0"/>
              <a:t> at </a:t>
            </a:r>
            <a:r>
              <a:rPr lang="en-PH" sz="3200" dirty="0" err="1"/>
              <a:t>istrukturang</a:t>
            </a:r>
            <a:r>
              <a:rPr lang="en-PH" sz="3200" dirty="0"/>
              <a:t> </a:t>
            </a:r>
            <a:r>
              <a:rPr lang="en-PH" sz="3200" dirty="0" err="1"/>
              <a:t>panlipunan</a:t>
            </a:r>
            <a:r>
              <a:rPr lang="en-PH" sz="3200" dirty="0"/>
              <a:t> ay </a:t>
            </a:r>
            <a:r>
              <a:rPr lang="en-PH" sz="3200" dirty="0" err="1"/>
              <a:t>bumubuo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ugnayang</a:t>
            </a:r>
            <a:r>
              <a:rPr lang="en-PH" sz="3200" dirty="0"/>
              <a:t> may </a:t>
            </a:r>
            <a:r>
              <a:rPr lang="en-PH" sz="3200" dirty="0" err="1"/>
              <a:t>kinalaman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kapangyarihang</a:t>
            </a:r>
            <a:r>
              <a:rPr lang="en-PH" sz="3200" dirty="0"/>
              <a:t> </a:t>
            </a:r>
            <a:r>
              <a:rPr lang="en-PH" sz="3200" dirty="0" err="1"/>
              <a:t>politikal</a:t>
            </a:r>
            <a:r>
              <a:rPr lang="en-PH" sz="32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3600" b="1" dirty="0" err="1"/>
              <a:t>Iba</a:t>
            </a:r>
            <a:r>
              <a:rPr lang="en-PH" sz="3600" b="1" dirty="0"/>
              <a:t> Pang </a:t>
            </a:r>
            <a:r>
              <a:rPr lang="en-PH" sz="3600" b="1" dirty="0" err="1"/>
              <a:t>Paniniwala</a:t>
            </a:r>
            <a:r>
              <a:rPr lang="en-PH" sz="3600" b="1" dirty="0"/>
              <a:t> o </a:t>
            </a:r>
            <a:r>
              <a:rPr lang="en-PH" sz="3600" b="1" dirty="0" err="1"/>
              <a:t>Pananaw</a:t>
            </a:r>
            <a:r>
              <a:rPr lang="en-PH" sz="3600" b="1" dirty="0"/>
              <a:t> </a:t>
            </a:r>
            <a:r>
              <a:rPr lang="en-PH" sz="3600" b="1" dirty="0" err="1"/>
              <a:t>sa</a:t>
            </a:r>
            <a:r>
              <a:rPr lang="en-PH" sz="3600" b="1" dirty="0"/>
              <a:t> </a:t>
            </a:r>
            <a:r>
              <a:rPr lang="en-PH" sz="3600" b="1" dirty="0" err="1"/>
              <a:t>Teknolohiya</a:t>
            </a:r>
            <a:endParaRPr lang="en-PH" sz="3600" b="1" dirty="0"/>
          </a:p>
        </p:txBody>
      </p:sp>
      <p:sp>
        <p:nvSpPr>
          <p:cNvPr id="29" name="Freeform 29"/>
          <p:cNvSpPr/>
          <p:nvPr/>
        </p:nvSpPr>
        <p:spPr>
          <a:xfrm>
            <a:off x="15622486" y="8692436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8019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5793" y="1142561"/>
            <a:ext cx="17543019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2944709" y="7570377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383964" y="105373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411590" y="2443235"/>
            <a:ext cx="15491758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000" b="1" dirty="0"/>
              <a:t>2. </a:t>
            </a:r>
            <a:r>
              <a:rPr lang="en-PH" sz="4000" b="1" dirty="0" err="1"/>
              <a:t>Teorya</a:t>
            </a:r>
            <a:r>
              <a:rPr lang="en-PH" sz="4000" b="1" dirty="0"/>
              <a:t> ng </a:t>
            </a:r>
            <a:r>
              <a:rPr lang="en-PH" sz="4000" b="1" dirty="0" err="1"/>
              <a:t>Pangkat</a:t>
            </a:r>
            <a:r>
              <a:rPr lang="en-PH" sz="4000" b="1" dirty="0"/>
              <a:t> at </a:t>
            </a:r>
            <a:r>
              <a:rPr lang="en-PH" sz="4000" b="1" dirty="0" err="1"/>
              <a:t>Teknolohiya</a:t>
            </a:r>
            <a:r>
              <a:rPr lang="en-PH" sz="4000" b="1" dirty="0"/>
              <a:t> ng Media</a:t>
            </a:r>
          </a:p>
          <a:p>
            <a:r>
              <a:rPr lang="en-PH" sz="4000" dirty="0"/>
              <a:t>Maraming </a:t>
            </a:r>
            <a:r>
              <a:rPr lang="en-PH" sz="4000" dirty="0" err="1"/>
              <a:t>teorya</a:t>
            </a:r>
            <a:r>
              <a:rPr lang="en-PH" sz="4000" dirty="0"/>
              <a:t> ang </a:t>
            </a:r>
            <a:r>
              <a:rPr lang="en-PH" sz="4000" dirty="0" err="1"/>
              <a:t>tumatalakay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epekto</a:t>
            </a:r>
            <a:r>
              <a:rPr lang="en-PH" sz="4000" dirty="0"/>
              <a:t> ng </a:t>
            </a:r>
            <a:r>
              <a:rPr lang="en-PH" sz="4000" dirty="0" err="1"/>
              <a:t>teknolohiya</a:t>
            </a:r>
            <a:r>
              <a:rPr lang="en-PH" sz="4000" dirty="0"/>
              <a:t> ng media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lipunan</a:t>
            </a:r>
            <a:r>
              <a:rPr lang="en-PH" sz="4000" dirty="0"/>
              <a:t>, </a:t>
            </a:r>
            <a:r>
              <a:rPr lang="en-PH" sz="4000" dirty="0" err="1"/>
              <a:t>lalo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proseso</a:t>
            </a:r>
            <a:r>
              <a:rPr lang="en-PH" sz="4000" dirty="0"/>
              <a:t> ng </a:t>
            </a:r>
            <a:r>
              <a:rPr lang="en-PH" sz="4000" dirty="0" err="1"/>
              <a:t>komunikasyon</a:t>
            </a:r>
            <a:r>
              <a:rPr lang="en-PH" sz="4000" dirty="0"/>
              <a:t>. Ang </a:t>
            </a:r>
            <a:r>
              <a:rPr lang="en-PH" sz="4000" dirty="0" err="1"/>
              <a:t>ilan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ito</a:t>
            </a:r>
            <a:r>
              <a:rPr lang="en-PH" sz="4000" dirty="0"/>
              <a:t> ay:</a:t>
            </a:r>
          </a:p>
          <a:p>
            <a:r>
              <a:rPr lang="en-PH" sz="4000" b="1" dirty="0"/>
              <a:t>a. </a:t>
            </a:r>
            <a:r>
              <a:rPr lang="en-PH" sz="4000" b="1" dirty="0" err="1"/>
              <a:t>Teorya</a:t>
            </a:r>
            <a:r>
              <a:rPr lang="en-PH" sz="4000" b="1" dirty="0"/>
              <a:t> ng </a:t>
            </a:r>
            <a:r>
              <a:rPr lang="en-PH" sz="4000" b="1" dirty="0" err="1"/>
              <a:t>Presensya</a:t>
            </a:r>
            <a:r>
              <a:rPr lang="en-PH" sz="4000" b="1" dirty="0"/>
              <a:t> ng Lipunan (</a:t>
            </a:r>
            <a:r>
              <a:rPr lang="en-PH" sz="4000" b="1" i="1" dirty="0"/>
              <a:t>Social Presence Theory</a:t>
            </a:r>
            <a:r>
              <a:rPr lang="en-PH" sz="40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4000" dirty="0"/>
              <a:t>Ang </a:t>
            </a:r>
            <a:r>
              <a:rPr lang="en-PH" sz="4000" dirty="0" err="1"/>
              <a:t>epekto</a:t>
            </a:r>
            <a:r>
              <a:rPr lang="en-PH" sz="4000" dirty="0"/>
              <a:t> ng </a:t>
            </a:r>
            <a:r>
              <a:rPr lang="en-PH" sz="4000" dirty="0" err="1"/>
              <a:t>midyum</a:t>
            </a:r>
            <a:r>
              <a:rPr lang="en-PH" sz="4000" dirty="0"/>
              <a:t> ng </a:t>
            </a:r>
            <a:r>
              <a:rPr lang="en-PH" sz="4000" dirty="0" err="1"/>
              <a:t>komunikasyon</a:t>
            </a:r>
            <a:r>
              <a:rPr lang="en-PH" sz="4000" dirty="0"/>
              <a:t> ay </a:t>
            </a:r>
            <a:r>
              <a:rPr lang="en-PH" sz="4000" dirty="0" err="1"/>
              <a:t>nakabatay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presensya</a:t>
            </a:r>
            <a:r>
              <a:rPr lang="en-PH" sz="4000" dirty="0"/>
              <a:t> ng </a:t>
            </a:r>
            <a:r>
              <a:rPr lang="en-PH" sz="4000" dirty="0" err="1"/>
              <a:t>lipunan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ibinibigay</a:t>
            </a:r>
            <a:r>
              <a:rPr lang="en-PH" sz="4000" dirty="0"/>
              <a:t> </a:t>
            </a:r>
            <a:r>
              <a:rPr lang="en-PH" sz="4000" dirty="0" err="1"/>
              <a:t>nito</a:t>
            </a:r>
            <a:r>
              <a:rPr lang="en-PH" sz="4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4000" dirty="0"/>
              <a:t>Ang </a:t>
            </a:r>
            <a:r>
              <a:rPr lang="en-PH" sz="4000" dirty="0" err="1"/>
              <a:t>midyum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may mas </a:t>
            </a:r>
            <a:r>
              <a:rPr lang="en-PH" sz="4000" dirty="0" err="1"/>
              <a:t>mataas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antas</a:t>
            </a:r>
            <a:r>
              <a:rPr lang="en-PH" sz="4000" dirty="0"/>
              <a:t> ng </a:t>
            </a:r>
            <a:r>
              <a:rPr lang="en-PH" sz="4000" b="1" dirty="0"/>
              <a:t>audio, </a:t>
            </a:r>
            <a:r>
              <a:rPr lang="en-PH" sz="4000" b="1" dirty="0" err="1"/>
              <a:t>biswal</a:t>
            </a:r>
            <a:r>
              <a:rPr lang="en-PH" sz="4000" b="1" dirty="0"/>
              <a:t>, at </a:t>
            </a:r>
            <a:r>
              <a:rPr lang="en-PH" sz="4000" b="1" dirty="0" err="1"/>
              <a:t>pisikal</a:t>
            </a:r>
            <a:r>
              <a:rPr lang="en-PH" sz="4000" b="1" dirty="0"/>
              <a:t> </a:t>
            </a:r>
            <a:r>
              <a:rPr lang="en-PH" sz="4000" b="1" dirty="0" err="1"/>
              <a:t>na</a:t>
            </a:r>
            <a:r>
              <a:rPr lang="en-PH" sz="4000" b="1" dirty="0"/>
              <a:t> </a:t>
            </a:r>
            <a:r>
              <a:rPr lang="en-PH" sz="4000" b="1" dirty="0" err="1"/>
              <a:t>kontak</a:t>
            </a:r>
            <a:r>
              <a:rPr lang="en-PH" sz="4000" dirty="0"/>
              <a:t> ay mas </a:t>
            </a:r>
            <a:r>
              <a:rPr lang="en-PH" sz="4000" dirty="0" err="1"/>
              <a:t>epektibo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pagpapalakas</a:t>
            </a:r>
            <a:r>
              <a:rPr lang="en-PH" sz="4000" dirty="0"/>
              <a:t> ng interpersonal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ugnayan</a:t>
            </a:r>
            <a:r>
              <a:rPr lang="en-PH" sz="4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4000" dirty="0" err="1"/>
              <a:t>Halimbawa</a:t>
            </a:r>
            <a:r>
              <a:rPr lang="en-PH" sz="4000" dirty="0"/>
              <a:t>: Ang </a:t>
            </a:r>
            <a:r>
              <a:rPr lang="en-PH" sz="4000" i="1" dirty="0"/>
              <a:t>face-to-face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komunikasyon</a:t>
            </a:r>
            <a:r>
              <a:rPr lang="en-PH" sz="4000" dirty="0"/>
              <a:t> ay may mas </a:t>
            </a:r>
            <a:r>
              <a:rPr lang="en-PH" sz="4000" dirty="0" err="1"/>
              <a:t>mataas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b="1" dirty="0"/>
              <a:t>intimacy at immediacy</a:t>
            </a:r>
            <a:r>
              <a:rPr lang="en-PH" sz="4000" dirty="0"/>
              <a:t> </a:t>
            </a:r>
            <a:r>
              <a:rPr lang="en-PH" sz="4000" dirty="0" err="1"/>
              <a:t>kumpara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text-based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midyum</a:t>
            </a:r>
            <a:r>
              <a:rPr lang="en-PH" sz="4000" dirty="0"/>
              <a:t> </a:t>
            </a:r>
            <a:r>
              <a:rPr lang="en-PH" sz="4000" dirty="0" err="1"/>
              <a:t>tulad</a:t>
            </a:r>
            <a:r>
              <a:rPr lang="en-PH" sz="4000" dirty="0"/>
              <a:t> ng email o instant messaging.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3600" b="1" dirty="0" err="1"/>
              <a:t>Iba</a:t>
            </a:r>
            <a:r>
              <a:rPr lang="en-PH" sz="3600" b="1" dirty="0"/>
              <a:t> Pang </a:t>
            </a:r>
            <a:r>
              <a:rPr lang="en-PH" sz="3600" b="1" dirty="0" err="1"/>
              <a:t>Paniniwala</a:t>
            </a:r>
            <a:r>
              <a:rPr lang="en-PH" sz="3600" b="1" dirty="0"/>
              <a:t> o </a:t>
            </a:r>
            <a:r>
              <a:rPr lang="en-PH" sz="3600" b="1" dirty="0" err="1"/>
              <a:t>Pananaw</a:t>
            </a:r>
            <a:r>
              <a:rPr lang="en-PH" sz="3600" b="1" dirty="0"/>
              <a:t> </a:t>
            </a:r>
            <a:r>
              <a:rPr lang="en-PH" sz="3600" b="1" dirty="0" err="1"/>
              <a:t>sa</a:t>
            </a:r>
            <a:r>
              <a:rPr lang="en-PH" sz="3600" b="1" dirty="0"/>
              <a:t> </a:t>
            </a:r>
            <a:r>
              <a:rPr lang="en-PH" sz="3600" b="1" dirty="0" err="1"/>
              <a:t>Teknolohiya</a:t>
            </a:r>
            <a:endParaRPr lang="en-PH" sz="3600" b="1" dirty="0"/>
          </a:p>
        </p:txBody>
      </p:sp>
      <p:sp>
        <p:nvSpPr>
          <p:cNvPr id="29" name="Freeform 29"/>
          <p:cNvSpPr/>
          <p:nvPr/>
        </p:nvSpPr>
        <p:spPr>
          <a:xfrm>
            <a:off x="15622486" y="8692436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7005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5793" y="1142561"/>
            <a:ext cx="17543019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2944709" y="7570377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383964" y="105373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411590" y="2443235"/>
            <a:ext cx="15491758" cy="7448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400" b="1" dirty="0"/>
              <a:t>2. </a:t>
            </a:r>
            <a:r>
              <a:rPr lang="en-PH" sz="4400" b="1" dirty="0" err="1"/>
              <a:t>Teorya</a:t>
            </a:r>
            <a:r>
              <a:rPr lang="en-PH" sz="4400" b="1" dirty="0"/>
              <a:t> ng </a:t>
            </a:r>
            <a:r>
              <a:rPr lang="en-PH" sz="4400" b="1" dirty="0" err="1"/>
              <a:t>Pangkat</a:t>
            </a:r>
            <a:r>
              <a:rPr lang="en-PH" sz="4400" b="1" dirty="0"/>
              <a:t> at </a:t>
            </a:r>
            <a:r>
              <a:rPr lang="en-PH" sz="4400" b="1" dirty="0" err="1"/>
              <a:t>Teknolohiya</a:t>
            </a:r>
            <a:r>
              <a:rPr lang="en-PH" sz="4400" b="1" dirty="0"/>
              <a:t> ng Media</a:t>
            </a:r>
          </a:p>
          <a:p>
            <a:r>
              <a:rPr lang="en-PH" sz="4400" b="1" dirty="0"/>
              <a:t>b. </a:t>
            </a:r>
            <a:r>
              <a:rPr lang="en-PH" sz="4400" b="1" dirty="0" err="1"/>
              <a:t>Teorya</a:t>
            </a:r>
            <a:r>
              <a:rPr lang="en-PH" sz="4400" b="1" dirty="0"/>
              <a:t> ng </a:t>
            </a:r>
            <a:r>
              <a:rPr lang="en-PH" sz="4400" b="1" dirty="0" err="1"/>
              <a:t>Kayamanan</a:t>
            </a:r>
            <a:r>
              <a:rPr lang="en-PH" sz="4400" b="1" dirty="0"/>
              <a:t> ng Media (</a:t>
            </a:r>
            <a:r>
              <a:rPr lang="en-PH" sz="4400" b="1" i="1" dirty="0"/>
              <a:t>Media Richness Theory</a:t>
            </a:r>
            <a:r>
              <a:rPr lang="en-PH" sz="44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4400" dirty="0"/>
              <a:t>Ang </a:t>
            </a:r>
            <a:r>
              <a:rPr lang="en-PH" sz="4400" dirty="0" err="1"/>
              <a:t>pangunahing</a:t>
            </a:r>
            <a:r>
              <a:rPr lang="en-PH" sz="4400" dirty="0"/>
              <a:t> </a:t>
            </a:r>
            <a:r>
              <a:rPr lang="en-PH" sz="4400" dirty="0" err="1"/>
              <a:t>layunin</a:t>
            </a:r>
            <a:r>
              <a:rPr lang="en-PH" sz="4400" dirty="0"/>
              <a:t> ng </a:t>
            </a:r>
            <a:r>
              <a:rPr lang="en-PH" sz="4400" dirty="0" err="1"/>
              <a:t>komunikasyon</a:t>
            </a:r>
            <a:r>
              <a:rPr lang="en-PH" sz="4400" dirty="0"/>
              <a:t> ay </a:t>
            </a:r>
            <a:r>
              <a:rPr lang="en-PH" sz="4400" dirty="0" err="1"/>
              <a:t>bawasan</a:t>
            </a:r>
            <a:r>
              <a:rPr lang="en-PH" sz="4400" dirty="0"/>
              <a:t> ang </a:t>
            </a:r>
            <a:r>
              <a:rPr lang="en-PH" sz="4400" dirty="0" err="1"/>
              <a:t>hindi</a:t>
            </a:r>
            <a:r>
              <a:rPr lang="en-PH" sz="4400" dirty="0"/>
              <a:t> </a:t>
            </a:r>
            <a:r>
              <a:rPr lang="en-PH" sz="4400" dirty="0" err="1"/>
              <a:t>tiyak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impormasyon</a:t>
            </a:r>
            <a:r>
              <a:rPr lang="en-PH" sz="4400" dirty="0"/>
              <a:t> at </a:t>
            </a:r>
            <a:r>
              <a:rPr lang="en-PH" sz="4400" dirty="0" err="1"/>
              <a:t>solusyunan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hindi</a:t>
            </a:r>
            <a:r>
              <a:rPr lang="en-PH" sz="4400" dirty="0"/>
              <a:t> </a:t>
            </a:r>
            <a:r>
              <a:rPr lang="en-PH" sz="4400" dirty="0" err="1"/>
              <a:t>pagkakaunawaan</a:t>
            </a:r>
            <a:r>
              <a:rPr lang="en-PH" sz="4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4400" dirty="0"/>
              <a:t>Mas maraming </a:t>
            </a:r>
            <a:r>
              <a:rPr lang="en-PH" sz="4400" dirty="0" err="1"/>
              <a:t>impormasyon</a:t>
            </a:r>
            <a:r>
              <a:rPr lang="en-PH" sz="4400" dirty="0"/>
              <a:t> ang </a:t>
            </a:r>
            <a:r>
              <a:rPr lang="en-PH" sz="4400" dirty="0" err="1"/>
              <a:t>naihahatid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isang</a:t>
            </a:r>
            <a:r>
              <a:rPr lang="en-PH" sz="4400" dirty="0"/>
              <a:t> "</a:t>
            </a:r>
            <a:r>
              <a:rPr lang="en-PH" sz="4400" dirty="0" err="1"/>
              <a:t>mayamang</a:t>
            </a:r>
            <a:r>
              <a:rPr lang="en-PH" sz="4400" dirty="0"/>
              <a:t>" </a:t>
            </a:r>
            <a:r>
              <a:rPr lang="en-PH" sz="4400" dirty="0" err="1"/>
              <a:t>midyum</a:t>
            </a:r>
            <a:r>
              <a:rPr lang="en-PH" sz="4400" dirty="0"/>
              <a:t> </a:t>
            </a:r>
            <a:r>
              <a:rPr lang="en-PH" sz="4400" dirty="0" err="1"/>
              <a:t>kumpara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mas "</a:t>
            </a:r>
            <a:r>
              <a:rPr lang="en-PH" sz="4400" dirty="0" err="1"/>
              <a:t>mahina</a:t>
            </a:r>
            <a:r>
              <a:rPr lang="en-PH" sz="4400" dirty="0"/>
              <a:t>" o </a:t>
            </a:r>
            <a:r>
              <a:rPr lang="en-PH" sz="4400" dirty="0" err="1"/>
              <a:t>limitadong</a:t>
            </a:r>
            <a:r>
              <a:rPr lang="en-PH" sz="4400" dirty="0"/>
              <a:t> </a:t>
            </a:r>
            <a:r>
              <a:rPr lang="en-PH" sz="4400" dirty="0" err="1"/>
              <a:t>midyum</a:t>
            </a:r>
            <a:r>
              <a:rPr lang="en-PH" sz="4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4400" dirty="0" err="1"/>
              <a:t>Halimbawa</a:t>
            </a:r>
            <a:r>
              <a:rPr lang="en-PH" sz="4400" dirty="0"/>
              <a:t>: Mas </a:t>
            </a:r>
            <a:r>
              <a:rPr lang="en-PH" sz="4400" dirty="0" err="1"/>
              <a:t>malinaw</a:t>
            </a:r>
            <a:r>
              <a:rPr lang="en-PH" sz="4400" dirty="0"/>
              <a:t> ang </a:t>
            </a:r>
            <a:r>
              <a:rPr lang="en-PH" sz="4400" dirty="0" err="1"/>
              <a:t>komunikasyon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pamamagitan</a:t>
            </a:r>
            <a:r>
              <a:rPr lang="en-PH" sz="4400" dirty="0"/>
              <a:t> ng video call </a:t>
            </a:r>
            <a:r>
              <a:rPr lang="en-PH" sz="4400" dirty="0" err="1"/>
              <a:t>kaysa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text message </a:t>
            </a:r>
            <a:r>
              <a:rPr lang="en-PH" sz="4400" dirty="0" err="1"/>
              <a:t>dahil</a:t>
            </a:r>
            <a:r>
              <a:rPr lang="en-PH" sz="4400" dirty="0"/>
              <a:t> mas </a:t>
            </a:r>
            <a:r>
              <a:rPr lang="en-PH" sz="4400" dirty="0" err="1"/>
              <a:t>marami</a:t>
            </a:r>
            <a:r>
              <a:rPr lang="en-PH" sz="4400" dirty="0"/>
              <a:t> </a:t>
            </a:r>
            <a:r>
              <a:rPr lang="en-PH" sz="4400" dirty="0" err="1"/>
              <a:t>itong</a:t>
            </a:r>
            <a:r>
              <a:rPr lang="en-PH" sz="4400" dirty="0"/>
              <a:t> </a:t>
            </a:r>
            <a:r>
              <a:rPr lang="en-PH" sz="4400" i="1" dirty="0"/>
              <a:t>cues</a:t>
            </a:r>
            <a:r>
              <a:rPr lang="en-PH" sz="4400" dirty="0"/>
              <a:t> </a:t>
            </a:r>
            <a:r>
              <a:rPr lang="en-PH" sz="4400" dirty="0" err="1"/>
              <a:t>tulad</a:t>
            </a:r>
            <a:r>
              <a:rPr lang="en-PH" sz="4400" dirty="0"/>
              <a:t> ng </a:t>
            </a:r>
            <a:r>
              <a:rPr lang="en-PH" sz="4400" dirty="0" err="1"/>
              <a:t>tono</a:t>
            </a:r>
            <a:r>
              <a:rPr lang="en-PH" sz="4400" dirty="0"/>
              <a:t> ng </a:t>
            </a:r>
            <a:r>
              <a:rPr lang="en-PH" sz="4400" dirty="0" err="1"/>
              <a:t>boses</a:t>
            </a:r>
            <a:r>
              <a:rPr lang="en-PH" sz="4400" dirty="0"/>
              <a:t> at </a:t>
            </a:r>
            <a:r>
              <a:rPr lang="en-PH" sz="4400" dirty="0" err="1"/>
              <a:t>ekspresyon</a:t>
            </a:r>
            <a:r>
              <a:rPr lang="en-PH" sz="4400" dirty="0"/>
              <a:t> ng </a:t>
            </a:r>
            <a:r>
              <a:rPr lang="en-PH" sz="4400" dirty="0" err="1"/>
              <a:t>mukha</a:t>
            </a:r>
            <a:r>
              <a:rPr lang="en-PH" sz="4400" dirty="0"/>
              <a:t>.</a:t>
            </a:r>
          </a:p>
          <a:p>
            <a:endParaRPr lang="en-PH" sz="4400" dirty="0"/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3600" b="1" dirty="0" err="1"/>
              <a:t>Iba</a:t>
            </a:r>
            <a:r>
              <a:rPr lang="en-PH" sz="3600" b="1" dirty="0"/>
              <a:t> Pang </a:t>
            </a:r>
            <a:r>
              <a:rPr lang="en-PH" sz="3600" b="1" dirty="0" err="1"/>
              <a:t>Paniniwala</a:t>
            </a:r>
            <a:r>
              <a:rPr lang="en-PH" sz="3600" b="1" dirty="0"/>
              <a:t> o </a:t>
            </a:r>
            <a:r>
              <a:rPr lang="en-PH" sz="3600" b="1" dirty="0" err="1"/>
              <a:t>Pananaw</a:t>
            </a:r>
            <a:r>
              <a:rPr lang="en-PH" sz="3600" b="1" dirty="0"/>
              <a:t> </a:t>
            </a:r>
            <a:r>
              <a:rPr lang="en-PH" sz="3600" b="1" dirty="0" err="1"/>
              <a:t>sa</a:t>
            </a:r>
            <a:r>
              <a:rPr lang="en-PH" sz="3600" b="1" dirty="0"/>
              <a:t> </a:t>
            </a:r>
            <a:r>
              <a:rPr lang="en-PH" sz="3600" b="1" dirty="0" err="1"/>
              <a:t>Teknolohiya</a:t>
            </a:r>
            <a:endParaRPr lang="en-PH" sz="3600" b="1" dirty="0"/>
          </a:p>
        </p:txBody>
      </p:sp>
      <p:sp>
        <p:nvSpPr>
          <p:cNvPr id="29" name="Freeform 29"/>
          <p:cNvSpPr/>
          <p:nvPr/>
        </p:nvSpPr>
        <p:spPr>
          <a:xfrm>
            <a:off x="15622486" y="8692436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9590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5793" y="1142561"/>
            <a:ext cx="17543019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2944709" y="7570377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383964" y="105373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411590" y="2443235"/>
            <a:ext cx="15491758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800" b="1" dirty="0"/>
              <a:t>2. </a:t>
            </a:r>
            <a:r>
              <a:rPr lang="en-PH" sz="4800" b="1" dirty="0" err="1"/>
              <a:t>Teorya</a:t>
            </a:r>
            <a:r>
              <a:rPr lang="en-PH" sz="4800" b="1" dirty="0"/>
              <a:t> ng </a:t>
            </a:r>
            <a:r>
              <a:rPr lang="en-PH" sz="4800" b="1" dirty="0" err="1"/>
              <a:t>Pangkat</a:t>
            </a:r>
            <a:r>
              <a:rPr lang="en-PH" sz="4800" b="1" dirty="0"/>
              <a:t> at </a:t>
            </a:r>
            <a:r>
              <a:rPr lang="en-PH" sz="4800" b="1" dirty="0" err="1"/>
              <a:t>Teknolohiya</a:t>
            </a:r>
            <a:r>
              <a:rPr lang="en-PH" sz="4800" b="1" dirty="0"/>
              <a:t> ng Media</a:t>
            </a:r>
          </a:p>
          <a:p>
            <a:r>
              <a:rPr lang="en-PH" sz="4800" b="1" dirty="0"/>
              <a:t>c. </a:t>
            </a:r>
            <a:r>
              <a:rPr lang="en-PH" sz="4800" b="1" dirty="0" err="1"/>
              <a:t>Teorya</a:t>
            </a:r>
            <a:r>
              <a:rPr lang="en-PH" sz="4800" b="1" dirty="0"/>
              <a:t> ng </a:t>
            </a:r>
            <a:r>
              <a:rPr lang="en-PH" sz="4800" b="1" dirty="0" err="1"/>
              <a:t>Pagiging</a:t>
            </a:r>
            <a:r>
              <a:rPr lang="en-PH" sz="4800" b="1" dirty="0"/>
              <a:t> </a:t>
            </a:r>
            <a:r>
              <a:rPr lang="en-PH" sz="4800" b="1" dirty="0" err="1"/>
              <a:t>Likas</a:t>
            </a:r>
            <a:r>
              <a:rPr lang="en-PH" sz="4800" b="1" dirty="0"/>
              <a:t> ng Media (</a:t>
            </a:r>
            <a:r>
              <a:rPr lang="en-PH" sz="4800" b="1" i="1" dirty="0"/>
              <a:t>Media Naturalness Theory</a:t>
            </a:r>
            <a:r>
              <a:rPr lang="en-PH" sz="48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4800" dirty="0" err="1"/>
              <a:t>Pinaniniwalaan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simula</a:t>
            </a:r>
            <a:r>
              <a:rPr lang="en-PH" sz="4800" dirty="0"/>
              <a:t> pa </a:t>
            </a:r>
            <a:r>
              <a:rPr lang="en-PH" sz="4800" dirty="0" err="1"/>
              <a:t>noong</a:t>
            </a:r>
            <a:r>
              <a:rPr lang="en-PH" sz="4800" dirty="0"/>
              <a:t> </a:t>
            </a:r>
            <a:r>
              <a:rPr lang="en-PH" sz="4800" dirty="0" err="1"/>
              <a:t>panahon</a:t>
            </a:r>
            <a:r>
              <a:rPr lang="en-PH" sz="4800" dirty="0"/>
              <a:t> ng </a:t>
            </a:r>
            <a:r>
              <a:rPr lang="en-PH" sz="4800" dirty="0" err="1"/>
              <a:t>bato</a:t>
            </a:r>
            <a:r>
              <a:rPr lang="en-PH" sz="4800" dirty="0"/>
              <a:t> (</a:t>
            </a:r>
            <a:r>
              <a:rPr lang="en-PH" sz="4800" i="1" dirty="0"/>
              <a:t>Stone Age</a:t>
            </a:r>
            <a:r>
              <a:rPr lang="en-PH" sz="4800" dirty="0"/>
              <a:t>), ang </a:t>
            </a:r>
            <a:r>
              <a:rPr lang="en-PH" sz="4800" dirty="0" err="1"/>
              <a:t>tao</a:t>
            </a:r>
            <a:r>
              <a:rPr lang="en-PH" sz="4800" dirty="0"/>
              <a:t> ay </a:t>
            </a:r>
            <a:r>
              <a:rPr lang="en-PH" sz="4800" dirty="0" err="1"/>
              <a:t>likas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nakikipagkomunikasyon</a:t>
            </a:r>
            <a:r>
              <a:rPr lang="en-PH" sz="4800" dirty="0"/>
              <a:t> </a:t>
            </a:r>
            <a:r>
              <a:rPr lang="en-PH" sz="4800" dirty="0" err="1"/>
              <a:t>nang</a:t>
            </a:r>
            <a:r>
              <a:rPr lang="en-PH" sz="4800" dirty="0"/>
              <a:t> </a:t>
            </a:r>
            <a:r>
              <a:rPr lang="en-PH" sz="4800" dirty="0" err="1"/>
              <a:t>harapan</a:t>
            </a:r>
            <a:r>
              <a:rPr lang="en-PH" sz="4800" dirty="0"/>
              <a:t> (</a:t>
            </a:r>
            <a:r>
              <a:rPr lang="en-PH" sz="4800" i="1" dirty="0"/>
              <a:t>face-to-face</a:t>
            </a:r>
            <a:r>
              <a:rPr lang="en-PH" sz="48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4800" dirty="0"/>
              <a:t>Dahil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ebolusyon</a:t>
            </a:r>
            <a:r>
              <a:rPr lang="en-PH" sz="4800" dirty="0"/>
              <a:t>, ang </a:t>
            </a:r>
            <a:r>
              <a:rPr lang="en-PH" sz="4800" dirty="0" err="1"/>
              <a:t>utak</a:t>
            </a:r>
            <a:r>
              <a:rPr lang="en-PH" sz="4800" dirty="0"/>
              <a:t> ng </a:t>
            </a:r>
            <a:r>
              <a:rPr lang="en-PH" sz="4800" dirty="0" err="1"/>
              <a:t>tao</a:t>
            </a:r>
            <a:r>
              <a:rPr lang="en-PH" sz="4800" dirty="0"/>
              <a:t> ay mas </a:t>
            </a:r>
            <a:r>
              <a:rPr lang="en-PH" sz="4800" dirty="0" err="1"/>
              <a:t>sanay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ganitong</a:t>
            </a:r>
            <a:r>
              <a:rPr lang="en-PH" sz="4800" dirty="0"/>
              <a:t> </a:t>
            </a:r>
            <a:r>
              <a:rPr lang="en-PH" sz="4800" dirty="0" err="1"/>
              <a:t>paraan</a:t>
            </a:r>
            <a:r>
              <a:rPr lang="en-PH" sz="4800" dirty="0"/>
              <a:t> ng </a:t>
            </a:r>
            <a:r>
              <a:rPr lang="en-PH" sz="4800" dirty="0" err="1"/>
              <a:t>komunikasyon</a:t>
            </a:r>
            <a:r>
              <a:rPr lang="en-PH" sz="4800" dirty="0"/>
              <a:t>, </a:t>
            </a:r>
            <a:r>
              <a:rPr lang="en-PH" sz="4800" dirty="0" err="1"/>
              <a:t>kaya’t</a:t>
            </a:r>
            <a:r>
              <a:rPr lang="en-PH" sz="4800" dirty="0"/>
              <a:t> mas </a:t>
            </a:r>
            <a:r>
              <a:rPr lang="en-PH" sz="4800" dirty="0" err="1"/>
              <a:t>epektibo</a:t>
            </a:r>
            <a:r>
              <a:rPr lang="en-PH" sz="4800" dirty="0"/>
              <a:t> </a:t>
            </a:r>
            <a:r>
              <a:rPr lang="en-PH" sz="4800" dirty="0" err="1"/>
              <a:t>ito</a:t>
            </a:r>
            <a:r>
              <a:rPr lang="en-PH" sz="4800" dirty="0"/>
              <a:t> </a:t>
            </a:r>
            <a:r>
              <a:rPr lang="en-PH" sz="4800" dirty="0" err="1"/>
              <a:t>kumpara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iba</a:t>
            </a:r>
            <a:r>
              <a:rPr lang="en-PH" sz="4800" dirty="0"/>
              <a:t> pang </a:t>
            </a:r>
            <a:r>
              <a:rPr lang="en-PH" sz="4800" dirty="0" err="1"/>
              <a:t>anyo</a:t>
            </a:r>
            <a:r>
              <a:rPr lang="en-PH" sz="4800" dirty="0"/>
              <a:t> ng media.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3600" b="1" dirty="0" err="1"/>
              <a:t>Iba</a:t>
            </a:r>
            <a:r>
              <a:rPr lang="en-PH" sz="3600" b="1" dirty="0"/>
              <a:t> Pang </a:t>
            </a:r>
            <a:r>
              <a:rPr lang="en-PH" sz="3600" b="1" dirty="0" err="1"/>
              <a:t>Paniniwala</a:t>
            </a:r>
            <a:r>
              <a:rPr lang="en-PH" sz="3600" b="1" dirty="0"/>
              <a:t> o </a:t>
            </a:r>
            <a:r>
              <a:rPr lang="en-PH" sz="3600" b="1" dirty="0" err="1"/>
              <a:t>Pananaw</a:t>
            </a:r>
            <a:r>
              <a:rPr lang="en-PH" sz="3600" b="1" dirty="0"/>
              <a:t> </a:t>
            </a:r>
            <a:r>
              <a:rPr lang="en-PH" sz="3600" b="1" dirty="0" err="1"/>
              <a:t>sa</a:t>
            </a:r>
            <a:r>
              <a:rPr lang="en-PH" sz="3600" b="1" dirty="0"/>
              <a:t> </a:t>
            </a:r>
            <a:r>
              <a:rPr lang="en-PH" sz="3600" b="1" dirty="0" err="1"/>
              <a:t>Teknolohiya</a:t>
            </a:r>
            <a:endParaRPr lang="en-PH" sz="3600" b="1" dirty="0"/>
          </a:p>
        </p:txBody>
      </p:sp>
      <p:sp>
        <p:nvSpPr>
          <p:cNvPr id="29" name="Freeform 29"/>
          <p:cNvSpPr/>
          <p:nvPr/>
        </p:nvSpPr>
        <p:spPr>
          <a:xfrm>
            <a:off x="15622486" y="8692436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0035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5793" y="1142561"/>
            <a:ext cx="17543019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2944709" y="7570377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383964" y="105373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411590" y="2443235"/>
            <a:ext cx="15491758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800" b="1" dirty="0"/>
              <a:t>1. Techno-Optimism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4800" dirty="0" err="1"/>
              <a:t>Pinaniniwalaan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ang </a:t>
            </a:r>
            <a:r>
              <a:rPr lang="en-PH" sz="4800" dirty="0" err="1"/>
              <a:t>pag-unlad</a:t>
            </a:r>
            <a:r>
              <a:rPr lang="en-PH" sz="4800" dirty="0"/>
              <a:t> ng </a:t>
            </a:r>
            <a:r>
              <a:rPr lang="en-PH" sz="4800" dirty="0" err="1"/>
              <a:t>teknolohiya</a:t>
            </a:r>
            <a:r>
              <a:rPr lang="en-PH" sz="4800" dirty="0"/>
              <a:t> ay may </a:t>
            </a:r>
            <a:r>
              <a:rPr lang="en-PH" sz="4800" dirty="0" err="1"/>
              <a:t>positibong</a:t>
            </a:r>
            <a:r>
              <a:rPr lang="en-PH" sz="4800" dirty="0"/>
              <a:t> </a:t>
            </a:r>
            <a:r>
              <a:rPr lang="en-PH" sz="4800" dirty="0" err="1"/>
              <a:t>epekto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lipunan</a:t>
            </a:r>
            <a:r>
              <a:rPr lang="en-PH" sz="4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4800" dirty="0" err="1"/>
              <a:t>Naniniwala</a:t>
            </a:r>
            <a:r>
              <a:rPr lang="en-PH" sz="4800" dirty="0"/>
              <a:t> ang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tagapagtaguyod</a:t>
            </a:r>
            <a:r>
              <a:rPr lang="en-PH" sz="4800" dirty="0"/>
              <a:t> </a:t>
            </a:r>
            <a:r>
              <a:rPr lang="en-PH" sz="4800" dirty="0" err="1"/>
              <a:t>nito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mas </a:t>
            </a:r>
            <a:r>
              <a:rPr lang="en-PH" sz="4800" dirty="0" err="1"/>
              <a:t>matimbang</a:t>
            </a:r>
            <a:r>
              <a:rPr lang="en-PH" sz="4800" dirty="0"/>
              <a:t> ang </a:t>
            </a:r>
            <a:r>
              <a:rPr lang="en-PH" sz="4800" dirty="0" err="1"/>
              <a:t>benepisyo</a:t>
            </a:r>
            <a:r>
              <a:rPr lang="en-PH" sz="4800" dirty="0"/>
              <a:t> ng </a:t>
            </a:r>
            <a:r>
              <a:rPr lang="en-PH" sz="4800" dirty="0" err="1"/>
              <a:t>teknolohiya</a:t>
            </a:r>
            <a:r>
              <a:rPr lang="en-PH" sz="4800" dirty="0"/>
              <a:t> </a:t>
            </a:r>
            <a:r>
              <a:rPr lang="en-PH" sz="4800" dirty="0" err="1"/>
              <a:t>kaysa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panganib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dulot</a:t>
            </a:r>
            <a:r>
              <a:rPr lang="en-PH" sz="4800" dirty="0"/>
              <a:t> </a:t>
            </a:r>
            <a:r>
              <a:rPr lang="en-PH" sz="4800" dirty="0" err="1"/>
              <a:t>nito</a:t>
            </a:r>
            <a:r>
              <a:rPr lang="en-PH" sz="4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4800" dirty="0"/>
              <a:t>Ayon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pananaw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ito</a:t>
            </a:r>
            <a:r>
              <a:rPr lang="en-PH" sz="4800" dirty="0"/>
              <a:t>, ang </a:t>
            </a:r>
            <a:r>
              <a:rPr lang="en-PH" sz="4800" dirty="0" err="1"/>
              <a:t>patuloy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pagsulong</a:t>
            </a:r>
            <a:r>
              <a:rPr lang="en-PH" sz="4800" dirty="0"/>
              <a:t> ng </a:t>
            </a:r>
            <a:r>
              <a:rPr lang="en-PH" sz="4800" dirty="0" err="1"/>
              <a:t>teknolohiya</a:t>
            </a:r>
            <a:r>
              <a:rPr lang="en-PH" sz="4800" dirty="0"/>
              <a:t> ay </a:t>
            </a:r>
            <a:r>
              <a:rPr lang="en-PH" sz="4800" dirty="0" err="1"/>
              <a:t>makalulutas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suliranin</a:t>
            </a:r>
            <a:r>
              <a:rPr lang="en-PH" sz="4800" dirty="0"/>
              <a:t> ng </a:t>
            </a:r>
            <a:r>
              <a:rPr lang="en-PH" sz="4800" dirty="0" err="1"/>
              <a:t>kasalukuyan</a:t>
            </a:r>
            <a:r>
              <a:rPr lang="en-PH" sz="4800" dirty="0"/>
              <a:t> at </a:t>
            </a:r>
            <a:r>
              <a:rPr lang="en-PH" sz="4800" dirty="0" err="1"/>
              <a:t>nakaraan</a:t>
            </a:r>
            <a:r>
              <a:rPr lang="en-PH" sz="48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3600" b="1" dirty="0" err="1"/>
              <a:t>Iba</a:t>
            </a:r>
            <a:r>
              <a:rPr lang="en-PH" sz="3600" b="1" dirty="0"/>
              <a:t> Pang </a:t>
            </a:r>
            <a:r>
              <a:rPr lang="en-PH" sz="3600" b="1" dirty="0" err="1"/>
              <a:t>Teorya</a:t>
            </a:r>
            <a:r>
              <a:rPr lang="en-PH" sz="3600" b="1" dirty="0"/>
              <a:t> </a:t>
            </a:r>
            <a:r>
              <a:rPr lang="en-PH" sz="3600" b="1" dirty="0" err="1"/>
              <a:t>na</a:t>
            </a:r>
            <a:r>
              <a:rPr lang="en-PH" sz="3600" b="1" dirty="0"/>
              <a:t> may </a:t>
            </a:r>
            <a:r>
              <a:rPr lang="en-PH" sz="3600" b="1" dirty="0" err="1"/>
              <a:t>Kaugnayan</a:t>
            </a:r>
            <a:r>
              <a:rPr lang="en-PH" sz="3600" b="1" dirty="0"/>
              <a:t> </a:t>
            </a:r>
            <a:r>
              <a:rPr lang="en-PH" sz="3600" b="1" dirty="0" err="1"/>
              <a:t>sa</a:t>
            </a:r>
            <a:r>
              <a:rPr lang="en-PH" sz="3600" b="1" dirty="0"/>
              <a:t> </a:t>
            </a:r>
            <a:r>
              <a:rPr lang="en-PH" sz="3600" b="1" dirty="0" err="1"/>
              <a:t>Teknolohiya</a:t>
            </a:r>
            <a:endParaRPr lang="en-PH" sz="3600" b="1" dirty="0"/>
          </a:p>
        </p:txBody>
      </p:sp>
      <p:sp>
        <p:nvSpPr>
          <p:cNvPr id="29" name="Freeform 29"/>
          <p:cNvSpPr/>
          <p:nvPr/>
        </p:nvSpPr>
        <p:spPr>
          <a:xfrm>
            <a:off x="15622486" y="8692436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63819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5793" y="1142561"/>
            <a:ext cx="17543019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2944709" y="7570377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383964" y="105373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411590" y="2443235"/>
            <a:ext cx="15491758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800" b="1" dirty="0"/>
              <a:t>2. Techno-</a:t>
            </a:r>
            <a:r>
              <a:rPr lang="en-PH" sz="4800" b="1" dirty="0" err="1"/>
              <a:t>Scepticism</a:t>
            </a:r>
            <a:endParaRPr lang="en-PH" sz="4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PH" sz="4800" dirty="0" err="1"/>
              <a:t>Kabaligtaran</a:t>
            </a:r>
            <a:r>
              <a:rPr lang="en-PH" sz="4800" dirty="0"/>
              <a:t> ng </a:t>
            </a:r>
            <a:r>
              <a:rPr lang="en-PH" sz="4800" i="1" dirty="0"/>
              <a:t>techno-optimism</a:t>
            </a:r>
            <a:r>
              <a:rPr lang="en-PH" sz="4800" dirty="0"/>
              <a:t>, </a:t>
            </a:r>
            <a:r>
              <a:rPr lang="en-PH" sz="4800" dirty="0" err="1"/>
              <a:t>ipinapalagay</a:t>
            </a:r>
            <a:r>
              <a:rPr lang="en-PH" sz="4800" dirty="0"/>
              <a:t> ng </a:t>
            </a:r>
            <a:r>
              <a:rPr lang="en-PH" sz="4800" dirty="0" err="1"/>
              <a:t>pananaw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ito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ang </a:t>
            </a:r>
            <a:r>
              <a:rPr lang="en-PH" sz="4800" dirty="0" err="1"/>
              <a:t>teknolohikal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pag-unlad</a:t>
            </a:r>
            <a:r>
              <a:rPr lang="en-PH" sz="4800" dirty="0"/>
              <a:t> ay </a:t>
            </a:r>
            <a:r>
              <a:rPr lang="en-PH" sz="4800" dirty="0" err="1"/>
              <a:t>hindi</a:t>
            </a:r>
            <a:r>
              <a:rPr lang="en-PH" sz="4800" dirty="0"/>
              <a:t> </a:t>
            </a:r>
            <a:r>
              <a:rPr lang="en-PH" sz="4800" dirty="0" err="1"/>
              <a:t>palaging</a:t>
            </a:r>
            <a:r>
              <a:rPr lang="en-PH" sz="4800" dirty="0"/>
              <a:t> </a:t>
            </a:r>
            <a:r>
              <a:rPr lang="en-PH" sz="4800" dirty="0" err="1"/>
              <a:t>positibo</a:t>
            </a:r>
            <a:r>
              <a:rPr lang="en-PH" sz="4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4800" dirty="0" err="1"/>
              <a:t>Ipinupunto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ang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makapangyarihang</a:t>
            </a:r>
            <a:r>
              <a:rPr lang="en-PH" sz="4800" dirty="0"/>
              <a:t> </a:t>
            </a:r>
            <a:r>
              <a:rPr lang="en-PH" sz="4800" dirty="0" err="1"/>
              <a:t>korporasyon</a:t>
            </a:r>
            <a:r>
              <a:rPr lang="en-PH" sz="4800" dirty="0"/>
              <a:t> at </a:t>
            </a:r>
            <a:r>
              <a:rPr lang="en-PH" sz="4800" dirty="0" err="1"/>
              <a:t>estado</a:t>
            </a:r>
            <a:r>
              <a:rPr lang="en-PH" sz="4800" dirty="0"/>
              <a:t> ang may </a:t>
            </a:r>
            <a:r>
              <a:rPr lang="en-PH" sz="4800" dirty="0" err="1"/>
              <a:t>kontrol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pag-unlad</a:t>
            </a:r>
            <a:r>
              <a:rPr lang="en-PH" sz="4800" dirty="0"/>
              <a:t> ng </a:t>
            </a:r>
            <a:r>
              <a:rPr lang="en-PH" sz="4800" dirty="0" err="1"/>
              <a:t>teknolohiya</a:t>
            </a:r>
            <a:r>
              <a:rPr lang="en-PH" sz="4800" dirty="0"/>
              <a:t>, </a:t>
            </a:r>
            <a:r>
              <a:rPr lang="en-PH" sz="4800" dirty="0" err="1"/>
              <a:t>kaya't</a:t>
            </a:r>
            <a:r>
              <a:rPr lang="en-PH" sz="4800" dirty="0"/>
              <a:t> </a:t>
            </a:r>
            <a:r>
              <a:rPr lang="en-PH" sz="4800" dirty="0" err="1"/>
              <a:t>maaari</a:t>
            </a:r>
            <a:r>
              <a:rPr lang="en-PH" sz="4800" dirty="0"/>
              <a:t> </a:t>
            </a:r>
            <a:r>
              <a:rPr lang="en-PH" sz="4800" dirty="0" err="1"/>
              <a:t>itong</a:t>
            </a:r>
            <a:r>
              <a:rPr lang="en-PH" sz="4800" dirty="0"/>
              <a:t> </a:t>
            </a:r>
            <a:r>
              <a:rPr lang="en-PH" sz="4800" dirty="0" err="1"/>
              <a:t>gamitin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paraang</a:t>
            </a:r>
            <a:r>
              <a:rPr lang="en-PH" sz="4800" dirty="0"/>
              <a:t> </a:t>
            </a:r>
            <a:r>
              <a:rPr lang="en-PH" sz="4800" dirty="0" err="1"/>
              <a:t>kontra-demokratiko</a:t>
            </a:r>
            <a:r>
              <a:rPr lang="en-PH" sz="4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4800" dirty="0" err="1"/>
              <a:t>Kritikal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ideya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maaaring</a:t>
            </a:r>
            <a:r>
              <a:rPr lang="en-PH" sz="4800" dirty="0"/>
              <a:t> </a:t>
            </a:r>
            <a:r>
              <a:rPr lang="en-PH" sz="4800" dirty="0" err="1"/>
              <a:t>lutasin</a:t>
            </a:r>
            <a:r>
              <a:rPr lang="en-PH" sz="4800" dirty="0"/>
              <a:t> ng </a:t>
            </a:r>
            <a:r>
              <a:rPr lang="en-PH" sz="4800" dirty="0" err="1"/>
              <a:t>teknolohiya</a:t>
            </a:r>
            <a:r>
              <a:rPr lang="en-PH" sz="4800" dirty="0"/>
              <a:t> ang lahat ng </a:t>
            </a:r>
            <a:r>
              <a:rPr lang="en-PH" sz="4800" dirty="0" err="1"/>
              <a:t>suliraning</a:t>
            </a:r>
            <a:r>
              <a:rPr lang="en-PH" sz="4800" dirty="0"/>
              <a:t> </a:t>
            </a:r>
            <a:r>
              <a:rPr lang="en-PH" sz="4800" dirty="0" err="1"/>
              <a:t>panlipunan</a:t>
            </a:r>
            <a:r>
              <a:rPr lang="en-PH" sz="4800" dirty="0"/>
              <a:t> at </a:t>
            </a:r>
            <a:r>
              <a:rPr lang="en-PH" sz="4800" dirty="0" err="1"/>
              <a:t>pangkalikasan</a:t>
            </a:r>
            <a:r>
              <a:rPr lang="en-PH" sz="4800" dirty="0"/>
              <a:t>, </a:t>
            </a:r>
            <a:r>
              <a:rPr lang="en-PH" sz="4800" dirty="0" err="1"/>
              <a:t>dahil</a:t>
            </a:r>
            <a:r>
              <a:rPr lang="en-PH" sz="4800" dirty="0"/>
              <a:t> </a:t>
            </a:r>
            <a:r>
              <a:rPr lang="en-PH" sz="4800" dirty="0" err="1"/>
              <a:t>maaaring</a:t>
            </a:r>
            <a:r>
              <a:rPr lang="en-PH" sz="4800" dirty="0"/>
              <a:t> </a:t>
            </a:r>
            <a:r>
              <a:rPr lang="en-PH" sz="4800" dirty="0" err="1"/>
              <a:t>ito</a:t>
            </a:r>
            <a:r>
              <a:rPr lang="en-PH" sz="4800" dirty="0"/>
              <a:t> ay </a:t>
            </a:r>
            <a:r>
              <a:rPr lang="en-PH" sz="4800" dirty="0" err="1"/>
              <a:t>isang</a:t>
            </a:r>
            <a:r>
              <a:rPr lang="en-PH" sz="4800" dirty="0"/>
              <a:t> </a:t>
            </a:r>
            <a:r>
              <a:rPr lang="en-PH" sz="4800" dirty="0" err="1"/>
              <a:t>delikadong</a:t>
            </a:r>
            <a:r>
              <a:rPr lang="en-PH" sz="4800" dirty="0"/>
              <a:t> </a:t>
            </a:r>
            <a:r>
              <a:rPr lang="en-PH" sz="4800" dirty="0" err="1"/>
              <a:t>ilusyon</a:t>
            </a:r>
            <a:r>
              <a:rPr lang="en-PH" sz="4800" dirty="0"/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3600" b="1" dirty="0" err="1"/>
              <a:t>Iba</a:t>
            </a:r>
            <a:r>
              <a:rPr lang="en-PH" sz="3600" b="1" dirty="0"/>
              <a:t> Pang </a:t>
            </a:r>
            <a:r>
              <a:rPr lang="en-PH" sz="3600" b="1" dirty="0" err="1"/>
              <a:t>Teorya</a:t>
            </a:r>
            <a:r>
              <a:rPr lang="en-PH" sz="3600" b="1" dirty="0"/>
              <a:t> </a:t>
            </a:r>
            <a:r>
              <a:rPr lang="en-PH" sz="3600" b="1" dirty="0" err="1"/>
              <a:t>na</a:t>
            </a:r>
            <a:r>
              <a:rPr lang="en-PH" sz="3600" b="1" dirty="0"/>
              <a:t> may </a:t>
            </a:r>
            <a:r>
              <a:rPr lang="en-PH" sz="3600" b="1" dirty="0" err="1"/>
              <a:t>Kaugnayan</a:t>
            </a:r>
            <a:r>
              <a:rPr lang="en-PH" sz="3600" b="1" dirty="0"/>
              <a:t> </a:t>
            </a:r>
            <a:r>
              <a:rPr lang="en-PH" sz="3600" b="1" dirty="0" err="1"/>
              <a:t>sa</a:t>
            </a:r>
            <a:r>
              <a:rPr lang="en-PH" sz="3600" b="1" dirty="0"/>
              <a:t> </a:t>
            </a:r>
            <a:r>
              <a:rPr lang="en-PH" sz="3600" b="1" dirty="0" err="1"/>
              <a:t>Teknolohiya</a:t>
            </a:r>
            <a:endParaRPr lang="en-PH" sz="3600" b="1" dirty="0"/>
          </a:p>
        </p:txBody>
      </p:sp>
      <p:sp>
        <p:nvSpPr>
          <p:cNvPr id="29" name="Freeform 29"/>
          <p:cNvSpPr/>
          <p:nvPr/>
        </p:nvSpPr>
        <p:spPr>
          <a:xfrm>
            <a:off x="15622486" y="8692436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5394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5793" y="1142561"/>
            <a:ext cx="17543019" cy="9509090"/>
          </a:xfrm>
          <a:custGeom>
            <a:avLst/>
            <a:gdLst/>
            <a:ahLst/>
            <a:cxnLst/>
            <a:rect l="l" t="t" r="r" b="b"/>
            <a:pathLst>
              <a:path w="14333461" h="7220481">
                <a:moveTo>
                  <a:pt x="0" y="0"/>
                </a:moveTo>
                <a:lnTo>
                  <a:pt x="14333460" y="0"/>
                </a:lnTo>
                <a:lnTo>
                  <a:pt x="14333460" y="7220481"/>
                </a:lnTo>
                <a:lnTo>
                  <a:pt x="0" y="722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3" name="Freeform 3"/>
          <p:cNvSpPr/>
          <p:nvPr/>
        </p:nvSpPr>
        <p:spPr>
          <a:xfrm rot="-1617254">
            <a:off x="16206775" y="107234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34560">
            <a:off x="-2944709" y="7570377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8417" y="6858498"/>
            <a:ext cx="267762" cy="26776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677" y="9606817"/>
            <a:ext cx="267762" cy="2677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91538" y="6568749"/>
            <a:ext cx="267762" cy="26776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54483" y="9258300"/>
            <a:ext cx="267762" cy="26776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15520">
            <a:off x="-383964" y="105373"/>
            <a:ext cx="2325833" cy="2210511"/>
          </a:xfrm>
          <a:custGeom>
            <a:avLst/>
            <a:gdLst/>
            <a:ahLst/>
            <a:cxnLst/>
            <a:rect l="l" t="t" r="r" b="b"/>
            <a:pathLst>
              <a:path w="2325833" h="2210511">
                <a:moveTo>
                  <a:pt x="0" y="0"/>
                </a:moveTo>
                <a:lnTo>
                  <a:pt x="2325834" y="0"/>
                </a:lnTo>
                <a:lnTo>
                  <a:pt x="2325834" y="2210511"/>
                </a:lnTo>
                <a:lnTo>
                  <a:pt x="0" y="221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411590" y="2443235"/>
            <a:ext cx="15491758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4800" b="1" dirty="0"/>
              <a:t>3. Technological Determinism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4800" dirty="0"/>
              <a:t>May </a:t>
            </a:r>
            <a:r>
              <a:rPr lang="en-PH" sz="4800" dirty="0" err="1"/>
              <a:t>ugat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paglaganap</a:t>
            </a:r>
            <a:r>
              <a:rPr lang="en-PH" sz="4800" dirty="0"/>
              <a:t> ng </a:t>
            </a:r>
            <a:r>
              <a:rPr lang="en-PH" sz="4800" dirty="0" err="1"/>
              <a:t>biyolohikal</a:t>
            </a:r>
            <a:r>
              <a:rPr lang="en-PH" sz="4800" dirty="0"/>
              <a:t> at </a:t>
            </a:r>
            <a:r>
              <a:rPr lang="en-PH" sz="4800" dirty="0" err="1"/>
              <a:t>panlipunang</a:t>
            </a:r>
            <a:r>
              <a:rPr lang="en-PH" sz="4800" dirty="0"/>
              <a:t> </a:t>
            </a:r>
            <a:r>
              <a:rPr lang="en-PH" sz="4800" dirty="0" err="1"/>
              <a:t>agham</a:t>
            </a:r>
            <a:r>
              <a:rPr lang="en-PH" sz="4800" dirty="0"/>
              <a:t> </a:t>
            </a:r>
            <a:r>
              <a:rPr lang="en-PH" sz="4800" dirty="0" err="1"/>
              <a:t>noong</a:t>
            </a:r>
            <a:r>
              <a:rPr lang="en-PH" sz="4800" dirty="0"/>
              <a:t> ika-18 at ika-19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siglo</a:t>
            </a:r>
            <a:r>
              <a:rPr lang="en-PH" sz="4800" dirty="0"/>
              <a:t>, </a:t>
            </a:r>
            <a:r>
              <a:rPr lang="en-PH" sz="4800" dirty="0" err="1"/>
              <a:t>pati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rin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ideya</a:t>
            </a:r>
            <a:r>
              <a:rPr lang="en-PH" sz="4800" dirty="0"/>
              <a:t> ng </a:t>
            </a:r>
            <a:r>
              <a:rPr lang="en-PH" sz="4800" dirty="0" err="1"/>
              <a:t>modernisasyon</a:t>
            </a:r>
            <a:r>
              <a:rPr lang="en-PH" sz="4800" dirty="0"/>
              <a:t> at </a:t>
            </a:r>
            <a:r>
              <a:rPr lang="en-PH" sz="4800" dirty="0" err="1"/>
              <a:t>pag-unlad</a:t>
            </a:r>
            <a:r>
              <a:rPr lang="en-PH" sz="4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4800" dirty="0" err="1"/>
              <a:t>Pinaniniwalaang</a:t>
            </a:r>
            <a:r>
              <a:rPr lang="en-PH" sz="4800" dirty="0"/>
              <a:t> ang </a:t>
            </a:r>
            <a:r>
              <a:rPr lang="en-PH" sz="4800" dirty="0" err="1"/>
              <a:t>pag-unlad</a:t>
            </a:r>
            <a:r>
              <a:rPr lang="en-PH" sz="4800" dirty="0"/>
              <a:t> ng </a:t>
            </a:r>
            <a:r>
              <a:rPr lang="en-PH" sz="4800" dirty="0" err="1"/>
              <a:t>teknolohiya</a:t>
            </a:r>
            <a:r>
              <a:rPr lang="en-PH" sz="4800" dirty="0"/>
              <a:t> ay </a:t>
            </a:r>
            <a:r>
              <a:rPr lang="en-PH" sz="4800" dirty="0" err="1"/>
              <a:t>hindi</a:t>
            </a:r>
            <a:r>
              <a:rPr lang="en-PH" sz="4800" dirty="0"/>
              <a:t> </a:t>
            </a:r>
            <a:r>
              <a:rPr lang="en-PH" sz="4800" dirty="0" err="1"/>
              <a:t>maiiwasan</a:t>
            </a:r>
            <a:r>
              <a:rPr lang="en-PH" sz="4800" dirty="0"/>
              <a:t> at </a:t>
            </a:r>
            <a:r>
              <a:rPr lang="en-PH" sz="4800" dirty="0" err="1"/>
              <a:t>ito</a:t>
            </a:r>
            <a:r>
              <a:rPr lang="en-PH" sz="4800" dirty="0"/>
              <a:t> ang </a:t>
            </a:r>
            <a:r>
              <a:rPr lang="en-PH" sz="4800" dirty="0" err="1"/>
              <a:t>pangunahing</a:t>
            </a:r>
            <a:r>
              <a:rPr lang="en-PH" sz="4800" dirty="0"/>
              <a:t> </a:t>
            </a:r>
            <a:r>
              <a:rPr lang="en-PH" sz="4800" dirty="0" err="1"/>
              <a:t>tagapagdikta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pagbabago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lipunan</a:t>
            </a:r>
            <a:r>
              <a:rPr lang="en-PH" sz="4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PH" sz="4800" dirty="0"/>
              <a:t>Ayon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pananaw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ito</a:t>
            </a:r>
            <a:r>
              <a:rPr lang="en-PH" sz="4800" dirty="0"/>
              <a:t>, ang </a:t>
            </a:r>
            <a:r>
              <a:rPr lang="en-PH" sz="4800" dirty="0" err="1"/>
              <a:t>teknolohiya</a:t>
            </a:r>
            <a:r>
              <a:rPr lang="en-PH" sz="4800" dirty="0"/>
              <a:t> </a:t>
            </a:r>
            <a:r>
              <a:rPr lang="en-PH" sz="4800" dirty="0" err="1"/>
              <a:t>mismo</a:t>
            </a:r>
            <a:r>
              <a:rPr lang="en-PH" sz="4800" dirty="0"/>
              <a:t> ang </a:t>
            </a:r>
            <a:r>
              <a:rPr lang="en-PH" sz="4800" dirty="0" err="1"/>
              <a:t>bumubuo</a:t>
            </a:r>
            <a:r>
              <a:rPr lang="en-PH" sz="4800" dirty="0"/>
              <a:t> at </a:t>
            </a:r>
            <a:r>
              <a:rPr lang="en-PH" sz="4800" dirty="0" err="1"/>
              <a:t>humuhubog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ating</a:t>
            </a:r>
            <a:r>
              <a:rPr lang="en-PH" sz="4800" dirty="0"/>
              <a:t> </a:t>
            </a:r>
            <a:r>
              <a:rPr lang="en-PH" sz="4800" dirty="0" err="1"/>
              <a:t>kultura</a:t>
            </a:r>
            <a:r>
              <a:rPr lang="en-PH" sz="4800" dirty="0"/>
              <a:t>, </a:t>
            </a:r>
            <a:r>
              <a:rPr lang="en-PH" sz="4800" dirty="0" err="1"/>
              <a:t>institusyon</a:t>
            </a:r>
            <a:r>
              <a:rPr lang="en-PH" sz="4800" dirty="0"/>
              <a:t>, at pang-</a:t>
            </a:r>
            <a:r>
              <a:rPr lang="en-PH" sz="4800" dirty="0" err="1"/>
              <a:t>araw</a:t>
            </a:r>
            <a:r>
              <a:rPr lang="en-PH" sz="4800" dirty="0"/>
              <a:t>-</a:t>
            </a:r>
            <a:r>
              <a:rPr lang="en-PH" sz="4800" dirty="0" err="1"/>
              <a:t>araw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buhay</a:t>
            </a:r>
            <a:endParaRPr lang="en-PH" sz="4800" dirty="0"/>
          </a:p>
        </p:txBody>
      </p:sp>
      <p:sp>
        <p:nvSpPr>
          <p:cNvPr id="28" name="TextBox 28"/>
          <p:cNvSpPr txBox="1"/>
          <p:nvPr/>
        </p:nvSpPr>
        <p:spPr>
          <a:xfrm>
            <a:off x="2611067" y="647077"/>
            <a:ext cx="13065868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PH" sz="3600" b="1" dirty="0" err="1"/>
              <a:t>Iba</a:t>
            </a:r>
            <a:r>
              <a:rPr lang="en-PH" sz="3600" b="1" dirty="0"/>
              <a:t> Pang </a:t>
            </a:r>
            <a:r>
              <a:rPr lang="en-PH" sz="3600" b="1" dirty="0" err="1"/>
              <a:t>Teorya</a:t>
            </a:r>
            <a:r>
              <a:rPr lang="en-PH" sz="3600" b="1" dirty="0"/>
              <a:t> </a:t>
            </a:r>
            <a:r>
              <a:rPr lang="en-PH" sz="3600" b="1" dirty="0" err="1"/>
              <a:t>na</a:t>
            </a:r>
            <a:r>
              <a:rPr lang="en-PH" sz="3600" b="1" dirty="0"/>
              <a:t> may </a:t>
            </a:r>
            <a:r>
              <a:rPr lang="en-PH" sz="3600" b="1" dirty="0" err="1"/>
              <a:t>Kaugnayan</a:t>
            </a:r>
            <a:r>
              <a:rPr lang="en-PH" sz="3600" b="1" dirty="0"/>
              <a:t> </a:t>
            </a:r>
            <a:r>
              <a:rPr lang="en-PH" sz="3600" b="1" dirty="0" err="1"/>
              <a:t>sa</a:t>
            </a:r>
            <a:r>
              <a:rPr lang="en-PH" sz="3600" b="1" dirty="0"/>
              <a:t> </a:t>
            </a:r>
            <a:r>
              <a:rPr lang="en-PH" sz="3600" b="1" dirty="0" err="1"/>
              <a:t>Teknolohiya</a:t>
            </a:r>
            <a:endParaRPr lang="en-PH" sz="3600" b="1" dirty="0"/>
          </a:p>
        </p:txBody>
      </p:sp>
      <p:sp>
        <p:nvSpPr>
          <p:cNvPr id="29" name="Freeform 29"/>
          <p:cNvSpPr/>
          <p:nvPr/>
        </p:nvSpPr>
        <p:spPr>
          <a:xfrm>
            <a:off x="15622486" y="8692436"/>
            <a:ext cx="3273627" cy="2770306"/>
          </a:xfrm>
          <a:custGeom>
            <a:avLst/>
            <a:gdLst/>
            <a:ahLst/>
            <a:cxnLst/>
            <a:rect l="l" t="t" r="r" b="b"/>
            <a:pathLst>
              <a:path w="3273627" h="2770306">
                <a:moveTo>
                  <a:pt x="0" y="0"/>
                </a:moveTo>
                <a:lnTo>
                  <a:pt x="3273626" y="0"/>
                </a:lnTo>
                <a:lnTo>
                  <a:pt x="3273626" y="2770306"/>
                </a:lnTo>
                <a:lnTo>
                  <a:pt x="0" y="277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FCCD45CA-B552-4220-9C38-0C1F1EB4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9959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11954">
            <a:off x="2251339" y="-1104416"/>
            <a:ext cx="14464099" cy="12255037"/>
          </a:xfrm>
          <a:custGeom>
            <a:avLst/>
            <a:gdLst/>
            <a:ahLst/>
            <a:cxnLst/>
            <a:rect l="l" t="t" r="r" b="b"/>
            <a:pathLst>
              <a:path w="14464099" h="12255037">
                <a:moveTo>
                  <a:pt x="0" y="0"/>
                </a:moveTo>
                <a:lnTo>
                  <a:pt x="14464099" y="0"/>
                </a:lnTo>
                <a:lnTo>
                  <a:pt x="14464099" y="12255037"/>
                </a:lnTo>
                <a:lnTo>
                  <a:pt x="0" y="12255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61637" y="1228126"/>
            <a:ext cx="15544909" cy="7830748"/>
          </a:xfrm>
          <a:custGeom>
            <a:avLst/>
            <a:gdLst/>
            <a:ahLst/>
            <a:cxnLst/>
            <a:rect l="l" t="t" r="r" b="b"/>
            <a:pathLst>
              <a:path w="15544909" h="7830748">
                <a:moveTo>
                  <a:pt x="0" y="0"/>
                </a:moveTo>
                <a:lnTo>
                  <a:pt x="15544910" y="0"/>
                </a:lnTo>
                <a:lnTo>
                  <a:pt x="15544910" y="7830748"/>
                </a:lnTo>
                <a:lnTo>
                  <a:pt x="0" y="7830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100600" y="2999246"/>
            <a:ext cx="10209252" cy="4257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588"/>
              </a:lnSpc>
            </a:pPr>
            <a:r>
              <a:rPr lang="en-US" sz="16588" dirty="0">
                <a:solidFill>
                  <a:schemeClr val="accent2">
                    <a:lumMod val="75000"/>
                  </a:schemeClr>
                </a:solidFill>
                <a:latin typeface="Bryndan Write"/>
                <a:ea typeface="Bryndan Write"/>
                <a:cs typeface="Bryndan Write"/>
                <a:sym typeface="Bryndan Write"/>
              </a:rPr>
              <a:t>Maraming Salamat</a:t>
            </a:r>
          </a:p>
        </p:txBody>
      </p:sp>
      <p:sp>
        <p:nvSpPr>
          <p:cNvPr id="5" name="Freeform 5"/>
          <p:cNvSpPr/>
          <p:nvPr/>
        </p:nvSpPr>
        <p:spPr>
          <a:xfrm rot="-1617254">
            <a:off x="15667258" y="7209647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4" y="0"/>
                </a:lnTo>
                <a:lnTo>
                  <a:pt x="4121874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634560">
            <a:off x="-383500" y="113939"/>
            <a:ext cx="4121875" cy="3325644"/>
          </a:xfrm>
          <a:custGeom>
            <a:avLst/>
            <a:gdLst/>
            <a:ahLst/>
            <a:cxnLst/>
            <a:rect l="l" t="t" r="r" b="b"/>
            <a:pathLst>
              <a:path w="4121875" h="3325644">
                <a:moveTo>
                  <a:pt x="0" y="0"/>
                </a:moveTo>
                <a:lnTo>
                  <a:pt x="4121875" y="0"/>
                </a:lnTo>
                <a:lnTo>
                  <a:pt x="4121875" y="3325644"/>
                </a:lnTo>
                <a:lnTo>
                  <a:pt x="0" y="33256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78776" y="3930789"/>
            <a:ext cx="267762" cy="26776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34016" y="8219605"/>
            <a:ext cx="267762" cy="26776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40354" y="8990538"/>
            <a:ext cx="267762" cy="26776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104912" y="9392181"/>
            <a:ext cx="267762" cy="26776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37691" y="760938"/>
            <a:ext cx="267762" cy="26776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128850" y="700077"/>
            <a:ext cx="267762" cy="267762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460433" y="3663027"/>
            <a:ext cx="267762" cy="267762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7C3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 rot="-206157">
            <a:off x="13848600" y="750925"/>
            <a:ext cx="3497861" cy="3908225"/>
          </a:xfrm>
          <a:custGeom>
            <a:avLst/>
            <a:gdLst/>
            <a:ahLst/>
            <a:cxnLst/>
            <a:rect l="l" t="t" r="r" b="b"/>
            <a:pathLst>
              <a:path w="3497861" h="3908225">
                <a:moveTo>
                  <a:pt x="0" y="0"/>
                </a:moveTo>
                <a:lnTo>
                  <a:pt x="3497862" y="0"/>
                </a:lnTo>
                <a:lnTo>
                  <a:pt x="3497862" y="3908225"/>
                </a:lnTo>
                <a:lnTo>
                  <a:pt x="0" y="39082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1329982">
            <a:off x="1051736" y="6784361"/>
            <a:ext cx="2439922" cy="3572796"/>
          </a:xfrm>
          <a:custGeom>
            <a:avLst/>
            <a:gdLst/>
            <a:ahLst/>
            <a:cxnLst/>
            <a:rect l="l" t="t" r="r" b="b"/>
            <a:pathLst>
              <a:path w="2439922" h="3572796">
                <a:moveTo>
                  <a:pt x="0" y="0"/>
                </a:moveTo>
                <a:lnTo>
                  <a:pt x="2439921" y="0"/>
                </a:lnTo>
                <a:lnTo>
                  <a:pt x="2439921" y="3572796"/>
                </a:lnTo>
                <a:lnTo>
                  <a:pt x="0" y="3572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1624</TotalTime>
  <Words>6556</Words>
  <Application>Microsoft Office PowerPoint</Application>
  <PresentationFormat>Custom</PresentationFormat>
  <Paragraphs>419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4" baseType="lpstr">
      <vt:lpstr>Arial</vt:lpstr>
      <vt:lpstr>Times New Roman</vt:lpstr>
      <vt:lpstr>Bryndan Write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HP</cp:lastModifiedBy>
  <cp:revision>45</cp:revision>
  <dcterms:created xsi:type="dcterms:W3CDTF">2006-08-16T00:00:00Z</dcterms:created>
  <dcterms:modified xsi:type="dcterms:W3CDTF">2025-02-19T02:57:41Z</dcterms:modified>
  <dc:identifier>DAGeSCcvvIA</dc:identifier>
</cp:coreProperties>
</file>